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FB3C8"/>
                </a:solidFill>
              </a:rPr>
              <a:t>GSE – MF PORTFOLIO  ·  DATA, REPORTING &amp;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Story Excellence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</a:rPr>
              <a:t>Playbook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B3C8"/>
                </a:solidFill>
              </a:rPr>
              <a:t>How our team writes stories that ship right the first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429000"/>
            <a:ext cx="1024128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290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Story Template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18488" y="3429000"/>
            <a:ext cx="1024128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18488" y="34290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Def. of Ready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34056" y="3429000"/>
            <a:ext cx="1024128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34056" y="34290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Def. of Done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49624" y="3429000"/>
            <a:ext cx="1024128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34290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Quality Gates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65192" y="3429000"/>
            <a:ext cx="1024128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342900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Worked Examples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3C8"/>
                </a:solidFill>
              </a:rPr>
              <a:t>Version 1.0  ·  April 2026  ·  Confidential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1005840"/>
            <a:ext cx="2560320" cy="2468880"/>
          </a:xfrm>
          <a:prstGeom prst="rect">
            <a:avLst/>
          </a:prstGeom>
          <a:solidFill>
            <a:srgbClr val="162E4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005840"/>
            <a:ext cx="25603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0058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OUR NORTH STAR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141732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Every story a developer picks up on Monday can be delivered by Friday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
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with no open questions.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Where our capacity is going — and where we want it to go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39776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3977640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Today — Capacity lost to rework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→  Requirements clarified mid-sprint by the developer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→  Build is complete but doesn't match business intent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→  Late-stage feedback triggers rework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→  Sprint velocity is unpredictable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98448"/>
            <a:ext cx="40690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98448"/>
            <a:ext cx="4069080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9844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 this Playbook — Capacity freed up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✓  Requirements are clear before work starts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✓  Build matches business intent on first delivery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6974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✓  PO review is a confirmation, not a correction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32004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✓  Sprint velocity is reliable and improving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86200"/>
            <a:ext cx="274320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136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7377"/>
                </a:solidFill>
              </a:rPr>
              <a:t>30%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Avg. sprint capacity recovered when stories are well-specified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72968" y="388620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72968" y="3886200"/>
            <a:ext cx="27432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2968" y="39136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5F"/>
                </a:solidFill>
              </a:rPr>
              <a:t>1st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3310128" y="44805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Delivery that matches intent — every story, every sprint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25896" y="3886200"/>
            <a:ext cx="274320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25896" y="3886200"/>
            <a:ext cx="2743200" cy="640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5896" y="39136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6534"/>
                </a:solidFill>
              </a:rPr>
              <a:t>0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163056" y="448056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Open questions when a developer picks up a ready story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THE TWO QUALITY CHECKPOINTS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Two lightweight team check-ins that protect everyone's sprint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50876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Backlog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Story created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37944" y="16002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0" y="1325880"/>
            <a:ext cx="1508760" cy="1051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3716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Refinement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 + Sr. Analyst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9584" y="16002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03320" y="1325880"/>
            <a:ext cx="150876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03320" y="13716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Groomed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Backlog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Story is complete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21224" y="16002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94960" y="1325880"/>
            <a:ext cx="150876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3716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Sprint Planning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Full Team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12864" y="16002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086600" y="1325880"/>
            <a:ext cx="1508760" cy="10515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86600" y="13716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19202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Story is worked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143000" y="2377440"/>
            <a:ext cx="0" cy="45720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2834640"/>
            <a:ext cx="6217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8163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Bring back to refine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26280" y="2377440"/>
            <a:ext cx="0" cy="45720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2834640"/>
            <a:ext cx="126187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28163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Move to next sprint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200400"/>
            <a:ext cx="39776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200400"/>
            <a:ext cx="397764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20040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Checkpoint 1 — Story is complete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54787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Story narrative (As a / I need / So that)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79476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Source data named and accessible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04164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Business rules written out clearly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28853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Output artifact defined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53542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Dependencies flagged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200400"/>
            <a:ext cx="406908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3200400"/>
            <a:ext cx="40690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2004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Checkpoint 2 — Team is aligned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35478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Acceptance criteria binary and testable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37947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Data quality checks specified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4041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Traceability tag populated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428853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Source data confirmed accessible by dev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37760" y="45354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✓  Story pointed by the team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892040"/>
            <a:ext cx="8503920" cy="246888"/>
          </a:xfrm>
          <a:prstGeom prst="rect">
            <a:avLst/>
          </a:prstGeom>
          <a:solidFill>
            <a:srgbClr val="E6F4F4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4892040"/>
            <a:ext cx="54864" cy="2468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892040"/>
            <a:ext cx="1280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Team Agreement: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664208" y="4892040"/>
            <a:ext cx="7040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These checkpoints protect our sprint. Moving a story forward before it is ready costs the whole team more time than the check-in saves.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DEFINITION OF READY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9 things that make a story independently deliverable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84048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Story follows the standard template (all fields populated)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039112"/>
            <a:ext cx="73152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39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234440"/>
            <a:ext cx="384048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23444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132588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Source system / table / feed is named and accessible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2039112"/>
            <a:ext cx="731520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2039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Dev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72200" y="12344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234440"/>
            <a:ext cx="384048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34440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132588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Business rules and GSE/MF definitions are written 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2039112"/>
            <a:ext cx="73152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0391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450592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450592"/>
            <a:ext cx="384048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50592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77240" y="2542032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Acceptance criteria are binary and independently testable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" y="3255264"/>
            <a:ext cx="73152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255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Tester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46120" y="2450592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450592"/>
            <a:ext cx="384048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450592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703320" y="2542032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Data quality checks (nulls, row counts, ref integrity) defined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03320" y="3255264"/>
            <a:ext cx="73152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255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72200" y="2450592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2450592"/>
            <a:ext cx="384048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450592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629400" y="2542032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Traceability tag populated (Source → Layer → Output → Consumer)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29400" y="3255264"/>
            <a:ext cx="73152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255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0040" y="3666744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666744"/>
            <a:ext cx="384048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666744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77240" y="3758184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Dependencies (upstream data, downstream consumers) flagged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" y="4471416"/>
            <a:ext cx="73152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44714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246120" y="3666744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46120" y="3666744"/>
            <a:ext cx="384048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46120" y="3666744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3703320" y="3758184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Story is estimated in story points by the team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703320" y="4471416"/>
            <a:ext cx="731520" cy="21945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03320" y="44714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Team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72200" y="3666744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72200" y="3666744"/>
            <a:ext cx="384048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2200" y="3666744"/>
            <a:ext cx="384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629400" y="3758184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No open blockers or unresolved questions on the story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29400" y="4471416"/>
            <a:ext cx="73152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44714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20040" y="4663440"/>
            <a:ext cx="54864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466344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Spikes: 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188720" y="466344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For exploratory work — state the question + timebox + output format. Bypass the data-quality-checks criterion only.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DEFINITION OF DONE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Every item checked. Dev + Tester + PO each confirm their section.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776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97764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  Technical — Developer confirms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81912"/>
            <a:ext cx="3977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81912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1581912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T1 · Code reviewed and approved (min 1 reviewer)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397764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11680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011680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T2 · Code merged to main / feature branch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441448"/>
            <a:ext cx="3977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41448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441448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T3 · Unit / integration tests written &amp; passing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397764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71216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2871216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T4 · All data quality checks passing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00984"/>
            <a:ext cx="39776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300984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300984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T5 · No regression in existing downstream outputs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30752"/>
            <a:ext cx="3977640" cy="4297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730752"/>
            <a:ext cx="2743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730752"/>
            <a:ext cx="3474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T6 · Deployed to correct environment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234440"/>
            <a:ext cx="406908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234440"/>
            <a:ext cx="40690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234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✦  Business — PO confirms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581912"/>
            <a:ext cx="4069080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581912"/>
            <a:ext cx="2743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1581912"/>
            <a:ext cx="35661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B1 · Output validated by analyst vs source system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098548"/>
            <a:ext cx="4069080" cy="5166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098548"/>
            <a:ext cx="2743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20640" y="2098548"/>
            <a:ext cx="35661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B2 · Business rules documented in data dictionary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615184"/>
            <a:ext cx="4069080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615184"/>
            <a:ext cx="2743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2615184"/>
            <a:ext cx="35661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B3 · Traceability tag updated if lineage changed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131820"/>
            <a:ext cx="4069080" cy="5166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131820"/>
            <a:ext cx="2743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20640" y="3131820"/>
            <a:ext cx="35661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B4 · PO sign-off received (demo or written)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648456"/>
            <a:ext cx="4069080" cy="5166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648456"/>
            <a:ext cx="2743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7377"/>
                </a:solidFill>
              </a:rPr>
              <a:t>☐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20640" y="3648456"/>
            <a:ext cx="356616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B5 · Jira updated + follow-up stories created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818888"/>
            <a:ext cx="8503920" cy="228600"/>
          </a:xfrm>
          <a:prstGeom prst="rect">
            <a:avLst/>
          </a:prstGeom>
          <a:solidFill>
            <a:srgbClr val="E6F4F4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4818888"/>
            <a:ext cx="54864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81888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Shared commitment: 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28800" y="48188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The PO closes the story after B4 is confirmed. Technical complete and business complete are both required.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THE STORY TEMPLATE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All fields give the team exactly what they need — no more back-and-forth.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1371600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441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NARRATIVE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1371600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28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 + Analyst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783080" y="1307592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As a [role]  /  I need [capability]  /  So that [business outcome]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1371600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3441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SOURCE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828800"/>
            <a:ext cx="137160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8288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Analyst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172200" y="1307592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Table / feed / system name, owner, refresh frequency, known issues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67128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167128"/>
            <a:ext cx="1371600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768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RULES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761488"/>
            <a:ext cx="137160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Analyst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783080" y="224028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Transformation logic, GSE/MF definitions (UPB, delinquency), edge cases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167128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167128"/>
            <a:ext cx="1371600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2768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 ARTIFACT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761488"/>
            <a:ext cx="137160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Analyst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72200" y="2240280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Dashboard / table / API / file. Include schema sketch or mockup link.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099816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99816"/>
            <a:ext cx="1371600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2095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ACCEPTANCE CRITERIA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694176"/>
            <a:ext cx="1371600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941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Analyst + PO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783080" y="317296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AC1: [binary testable]  |  AC2: [binary testable]  |  AC3: [binary testable]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099816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099816"/>
            <a:ext cx="1371600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2095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QUALITY CHECKS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3694176"/>
            <a:ext cx="137160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6941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Analyst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72200" y="3172968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Row counts reconcile  |  No nulls in [columns]  |  Ref integrity: [FK]  |  Tolerance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032504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032504"/>
            <a:ext cx="1371600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142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TRACEABILITY TAG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4626864"/>
            <a:ext cx="137160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6268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Analyst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783080" y="4105656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[Source System] → [Transform Layer] → [Output] → [Business Consumer]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4032504"/>
            <a:ext cx="420624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4032504"/>
            <a:ext cx="1371600" cy="8778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41422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DEPENDENCIES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4626864"/>
            <a:ext cx="137160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6268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172200" y="4105656"/>
            <a:ext cx="2606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75569"/>
                </a:solidFill>
              </a:rPr>
              <a:t>Upstream: data readiness, other stories  |  Downstream: consumers, timing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EXAMPLE 1  ·  REPORTING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Delinquency Rate Dashboard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7764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977640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Without the Playbook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63624"/>
            <a:ext cx="3977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6362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Narrative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156362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 a risk analyst I need a delinquency dashboard so that I can track loans.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39112"/>
            <a:ext cx="3977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3911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Source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203911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Loan system.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3977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146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Business Rules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251460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</a:rPr>
              <a:t>Not specified — developer interprets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90088"/>
            <a:ext cx="3977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00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Acceptance Criteria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299008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</a:rPr>
              <a:t>Dashboard shows correct delinquency data.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465576"/>
            <a:ext cx="3977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6557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Outcome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346557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</a:rPr>
              <a:t>3 clarification cycles. Demo rejected. Rework.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572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Result: team time spent on rework, not new value.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406908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234440"/>
            <a:ext cx="406908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3444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 the Playbook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563624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56362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Narrative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156362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 a Senior Risk Analyst / I need a delinquency dashboard filtered by property type and vintage / So that I can produce the weekly risk committee pack without manual pulls.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039112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0391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Source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203911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dw.loan_performance_monthly · EDW · Nightly 02:00 EST · NULL vintage = Pre-2015 bucket.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514600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146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Business Rule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60720" y="25146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Delinquency = loans 30+ DPD / total active. Exclude Paid Off and REO. Property types: MF, SR, HC.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990088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99008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AC1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60720" y="299008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MF delinquency rate for March 2026 matches EDW query within 0.01%.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465576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46557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Outcome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0" y="34655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Delivered in sprint. PO confirmed at demo. Zero rework.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4572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</a:rPr>
              <a:t>Traceability: EDW → Power BI Semantic Layer → Dashboard → Risk Committee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EXAMPLE 2  ·  PIPELINE 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UPB Reconciliation Feed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7764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3977640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Without the Playbook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563624"/>
            <a:ext cx="3977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63624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Narrative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1563624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 a data engineer I need to build the UPB reconciliation so that numbers match.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39112"/>
            <a:ext cx="3977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39112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Source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25880" y="203911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Loan system.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3977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1460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Rules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51460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</a:rPr>
              <a:t>Not defined — tolerance unclear, scope unclear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990088"/>
            <a:ext cx="3977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990088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AC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25880" y="299008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</a:rPr>
              <a:t>UPB numbers are correct.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465576"/>
            <a:ext cx="397764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65576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Outcome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25880" y="3465576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7706"/>
                </a:solidFill>
              </a:rPr>
              <a:t>Dev built wrong tolerance. Finance team caught it at month-end.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572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Result: month-end risk from a story that looked done.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406908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234440"/>
            <a:ext cx="406908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34440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 the Playbook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1563624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56362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Narrative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1563624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 a Finance Controller / I need daily automated recon between LOS and EDW UPB / So that discrepancies &gt;$50K are surfaced within 24 hours.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039112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03911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Source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0" y="2039112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los_db.loan_balances (intraday) + dw.loan_master (nightly). Keyed on loan_id.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514600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1460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Rules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2514600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Tolerance: $0 per loan, $50K aggregate per segment. Exclude Paid Off and Charged Off.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990088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99008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AC1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69280" y="2990088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DAG completes 5 consecutive UAT days with zero false positives.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465576"/>
            <a:ext cx="4069080" cy="475488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46557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Outcome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3465576"/>
            <a:ext cx="3017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6534"/>
                </a:solidFill>
              </a:rPr>
              <a:t>Delivered on time. Finance team had zero month-end surprises.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4572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7377"/>
                </a:solidFill>
              </a:rPr>
              <a:t>Traceability: LOS + EDW → Airflow Recon Job → recon.upb_daily_exceptions → Finance Close Team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EXAMPLE 3  ·  ANALYTICS SPIKE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</a:rPr>
              <a:t>Prepayment Speed Investigation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Spike Rule: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34440" y="123444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Spikes are time-boxed investigations. Use a simplified template — the output is a findings document, not a production artifact.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39776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3977640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3736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Without the Playbook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Investigate why prepayment speeds are changing.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No timebox. No defined question. No output format. Story stays open for 3 weeks.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406908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737360"/>
            <a:ext cx="4069080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3736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 the Playbook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048256"/>
            <a:ext cx="40690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048256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Question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23560" y="2048256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Has 3-month CPR for MF Affordable loans increased since Q3 2025? Which vintage cohorts are driving it?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487168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487168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Timebox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23560" y="2487168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 business days — by sprint day 3.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0690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26080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Source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23560" y="2926080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dw.loan_performance_monthly — read only. Fields: prepayment_flag, reporting_date, origination_year.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364992"/>
            <a:ext cx="4069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364992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23560" y="3364992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Jupyter notebook with: 1-para summary, CPR trend chart, and recommendation (action / no action / escalate).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803904"/>
            <a:ext cx="406908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803904"/>
            <a:ext cx="777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AC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23560" y="3803904"/>
            <a:ext cx="3063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Notebook runs end-to-end. CPR covers 12+ months. Recommendation present. 5-min slot at sprint review.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108960"/>
            <a:ext cx="3977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108960"/>
            <a:ext cx="397764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10896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 follow-on stories upfront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47472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CPR increase confirmed → Prepayment monitoring dashboard story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96849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Data quality issues found → Data remediation story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46227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No issue found → Document findings, close sprint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TEAM COMMITMENTS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How we each show up to make this work for the whole team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420624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34440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Owner commits to: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Brings stories to refinement with the narrative and dependencies complete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Works with analysts to resolve open questions before sprint planning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328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Confirms business done at demo — this is where PO value shows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4206240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234440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Analyst commits to: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Writes business rules and acceptance criteria before refinement — not after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0756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Validates output against source system and owns the data dictionary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5328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Tags traceability so the team can trace any output back to its source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5468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54680"/>
            <a:ext cx="4206240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154680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Developer commits to: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387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Raises ambiguity at checkpoint 2, not mid-sprint — that is the right time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9959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Asks for business rule clarity rather than making assumptions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453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Marks stories 'In Review' so the PO can confirm business done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15468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54680"/>
            <a:ext cx="420624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154680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Tester commits to: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5387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Tests against acceptance criteria — clear AC makes testing faster and sharper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9959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Validates data quality checks as part of every story sign-off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453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75569"/>
                </a:solidFill>
              </a:rPr>
              <a:t>→  Raises data issues as bugs so the team can track and fix them properly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818888"/>
            <a:ext cx="8503920" cy="274320"/>
          </a:xfrm>
          <a:prstGeom prst="rect">
            <a:avLst/>
          </a:prstGeom>
          <a:solidFill>
            <a:srgbClr val="E6F4F4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818888"/>
            <a:ext cx="54864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188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We all benefit when stories are ready. 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51760" y="481888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Raising a quality concern at checkpoint 2 is the team doing its job — not creating friction.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QUICK REFERENCE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2D4E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160520" cy="31089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Checkpoint 1 — Refinement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Story narrative present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Source data named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Business rules written out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Output artifact defined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Dependencies flagged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822960"/>
            <a:ext cx="41605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2D4E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822960"/>
            <a:ext cx="4160520" cy="31089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82296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Checkpoint 2 — Sprint Planning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28032" y="11704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Acceptance criteria binary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14813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Data quality checks specified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28032" y="17922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Traceability tag complete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21031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Source data accessible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8032" y="24140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Story pointed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1605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2D4E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4160520" cy="31089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92608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Done — Technical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735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Code reviewed + merged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5844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Unit/integration tests passing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95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Data quality checks passing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No downstream regression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5171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Deployed to correct env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90872" y="2926080"/>
            <a:ext cx="4160520" cy="1965960"/>
          </a:xfrm>
          <a:prstGeom prst="rect">
            <a:avLst/>
          </a:prstGeom>
          <a:solidFill>
            <a:srgbClr val="1A3050"/>
          </a:solidFill>
          <a:ln w="12700">
            <a:solidFill>
              <a:srgbClr val="2D4E7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2926080"/>
            <a:ext cx="4160520" cy="3108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292608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Done — Business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28032" y="32735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Output validated vs source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28032" y="35844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Business rules in data dict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28032" y="38953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Traceability tag updated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42062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PO sign-off received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28032" y="45171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✓  Jira updated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800600"/>
            <a:ext cx="8503920" cy="2926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80060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Our North Star: 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600200" y="4800600"/>
            <a:ext cx="708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Every story a developer picks up on Monday can be delivered by Friday — with no open questions.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GSE-MF Portfolio Story Excellence Playbook</dc:title>
  <dc:subject>PptxGenJS Presentation</dc:subject>
  <dc:creator>PptxGenJS</dc:creator>
  <cp:lastModifiedBy>PptxGenJS</cp:lastModifiedBy>
  <cp:revision>1</cp:revision>
  <dcterms:created xsi:type="dcterms:W3CDTF">2026-04-09T16:19:47Z</dcterms:created>
  <dcterms:modified xsi:type="dcterms:W3CDTF">2026-04-09T16:19:47Z</dcterms:modified>
</cp:coreProperties>
</file>