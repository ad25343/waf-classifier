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6576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FB3C8"/>
                </a:solidFill>
              </a:rPr>
              <a:t>GSE – MF PORTFOLIO  ·  DATA, REPORTING &amp; ANALYTICS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54864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600" b="1" dirty="0">
                <a:solidFill>
                  <a:srgbClr val="FFFFFF"/>
                </a:solidFill>
              </a:rPr>
              <a:t>Story Excellence</a:t>
            </a:r>
            <a:endParaRPr lang="en-US" sz="4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600" b="1" dirty="0">
                <a:solidFill>
                  <a:srgbClr val="FFFFFF"/>
                </a:solidFill>
              </a:rPr>
              <a:t>Playbook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48640" y="288036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7FB3C8"/>
                </a:solidFill>
              </a:rPr>
              <a:t>How our team writes stories that ship right the first time.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3429000"/>
            <a:ext cx="1024128" cy="29260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3429000"/>
            <a:ext cx="1024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Story Template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618488" y="3429000"/>
            <a:ext cx="1024128" cy="29260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618488" y="3429000"/>
            <a:ext cx="1024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Def. of Ready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734056" y="3429000"/>
            <a:ext cx="1024128" cy="29260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34056" y="3429000"/>
            <a:ext cx="1024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Def. of Done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849624" y="3429000"/>
            <a:ext cx="1024128" cy="29260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849624" y="3429000"/>
            <a:ext cx="1024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Quality Gates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965192" y="3429000"/>
            <a:ext cx="1024128" cy="29260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65192" y="3429000"/>
            <a:ext cx="1024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Worked Examples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548640" y="47091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FB3C8"/>
                </a:solidFill>
              </a:rPr>
              <a:t>Version 1.0  ·  April 2026  ·  Confidential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309360" y="1005840"/>
            <a:ext cx="2560320" cy="2468880"/>
          </a:xfrm>
          <a:prstGeom prst="rect">
            <a:avLst/>
          </a:prstGeom>
          <a:solidFill>
            <a:srgbClr val="162E4A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09360" y="1005840"/>
            <a:ext cx="2560320" cy="329184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0" y="100584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OUR NORTH STAR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400800" y="1417320"/>
            <a:ext cx="23317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CBD5E1"/>
                </a:solidFill>
              </a:rPr>
              <a:t>Every story a developer picks up on Monday can be delivered by Friday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CBD5E1"/>
                </a:solidFill>
              </a:rPr>
              <a:t>
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CBD5E1"/>
                </a:solidFill>
              </a:rPr>
              <a:t>with no open questions.</a:t>
            </a:r>
            <a:endParaRPr lang="en-US" sz="1100" dirty="0"/>
          </a:p>
        </p:txBody>
      </p:sp>
      <p:sp>
        <p:nvSpPr>
          <p:cNvPr id="21" name="TextBox 20"/>
          <p:cNvSpPr txBox="1"/>
          <p:nvPr/>
        </p:nvSpPr>
        <p:spPr>
          <a:xfrm>
            <a:off x="365760" y="13716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C26A1F"/>
                </a:solidFill>
              </a:rPr>
              <a:t>⚠  Historical reference — superseded by Story Excellence Playbook v2 (docs/playbook/story-excellence-v2.docx). MF-specific criteria now live in the MF Servicing domain extension.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</a:rPr>
              <a:t>THE OPPORTUNITY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5F"/>
                </a:solidFill>
              </a:rPr>
              <a:t>Where our capacity is going — and where we want it to go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1298448"/>
            <a:ext cx="3977640" cy="24688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298448"/>
            <a:ext cx="3977640" cy="310896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298448"/>
            <a:ext cx="3794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Today — Capacity lost to rework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691640"/>
            <a:ext cx="3703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75569"/>
                </a:solidFill>
              </a:rPr>
              <a:t>→  Requirements clarified mid-sprint by the developer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57200" y="2194560"/>
            <a:ext cx="3703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75569"/>
                </a:solidFill>
              </a:rPr>
              <a:t>→  Build is complete but doesn't match business intent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7200" y="2697480"/>
            <a:ext cx="3703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75569"/>
                </a:solidFill>
              </a:rPr>
              <a:t>→  Late-stage feedback triggers rework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57200" y="3200400"/>
            <a:ext cx="3703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75569"/>
                </a:solidFill>
              </a:rPr>
              <a:t>→  Sprint velocity is unpredictable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54880" y="1298448"/>
            <a:ext cx="4069080" cy="24688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54880" y="1298448"/>
            <a:ext cx="4069080" cy="31089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46320" y="1298448"/>
            <a:ext cx="3886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With this Playbook — Capacity freed up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92040" y="1691640"/>
            <a:ext cx="3794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75569"/>
                </a:solidFill>
              </a:rPr>
              <a:t>✓  Requirements are clear before work starts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892040" y="2194560"/>
            <a:ext cx="3794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75569"/>
                </a:solidFill>
              </a:rPr>
              <a:t>✓  Build matches business intent on first delivery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892040" y="2697480"/>
            <a:ext cx="3794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75569"/>
                </a:solidFill>
              </a:rPr>
              <a:t>✓  PO review is a confirmation, not a correction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892040" y="3200400"/>
            <a:ext cx="3794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75569"/>
                </a:solidFill>
              </a:rPr>
              <a:t>✓  Sprint velocity is reliable and improving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20040" y="3886200"/>
            <a:ext cx="2743200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20040" y="3886200"/>
            <a:ext cx="2743200" cy="6400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" y="3913632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D7377"/>
                </a:solidFill>
              </a:rPr>
              <a:t>30%</a:t>
            </a:r>
            <a:endParaRPr lang="en-US" sz="4000" dirty="0"/>
          </a:p>
        </p:txBody>
      </p:sp>
      <p:sp>
        <p:nvSpPr>
          <p:cNvPr id="22" name="Text 20"/>
          <p:cNvSpPr/>
          <p:nvPr/>
        </p:nvSpPr>
        <p:spPr>
          <a:xfrm>
            <a:off x="457200" y="4480560"/>
            <a:ext cx="24688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Avg. sprint capacity recovered when stories are well-specified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172968" y="3886200"/>
            <a:ext cx="2743200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172968" y="3886200"/>
            <a:ext cx="2743200" cy="6400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172968" y="3913632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3A5F"/>
                </a:solidFill>
              </a:rPr>
              <a:t>1st</a:t>
            </a:r>
            <a:endParaRPr lang="en-US" sz="4000" dirty="0"/>
          </a:p>
        </p:txBody>
      </p:sp>
      <p:sp>
        <p:nvSpPr>
          <p:cNvPr id="26" name="Text 24"/>
          <p:cNvSpPr/>
          <p:nvPr/>
        </p:nvSpPr>
        <p:spPr>
          <a:xfrm>
            <a:off x="3310128" y="4480560"/>
            <a:ext cx="24688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Delivery that matches intent — every story, every sprint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025896" y="3886200"/>
            <a:ext cx="2743200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025896" y="3886200"/>
            <a:ext cx="2743200" cy="64008"/>
          </a:xfrm>
          <a:prstGeom prst="rect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25896" y="3913632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66534"/>
                </a:solidFill>
              </a:rPr>
              <a:t>0</a:t>
            </a:r>
            <a:endParaRPr lang="en-US" sz="4000" dirty="0"/>
          </a:p>
        </p:txBody>
      </p:sp>
      <p:sp>
        <p:nvSpPr>
          <p:cNvPr id="30" name="Text 28"/>
          <p:cNvSpPr/>
          <p:nvPr/>
        </p:nvSpPr>
        <p:spPr>
          <a:xfrm>
            <a:off x="6163056" y="4480560"/>
            <a:ext cx="24688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Open questions when a developer picks up a ready story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</a:rPr>
              <a:t>THE TWO QUALITY CHECKPOINTS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34155"/>
                </a:solidFill>
              </a:rPr>
              <a:t>Two lightweight team check-ins that protect everyone's sprint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20040" y="1325880"/>
            <a:ext cx="1508760" cy="105156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20040" y="1371600"/>
            <a:ext cx="1508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34155"/>
                </a:solidFill>
              </a:rPr>
              <a:t>Backlog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1920240"/>
            <a:ext cx="1508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Story created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837944" y="1600200"/>
            <a:ext cx="164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</a:rPr>
              <a:t>▶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011680" y="1325880"/>
            <a:ext cx="1508760" cy="105156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011680" y="1371600"/>
            <a:ext cx="1508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CHECK 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011680" y="1920240"/>
            <a:ext cx="1508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Refinement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PO + Sr. Analyst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529584" y="1600200"/>
            <a:ext cx="164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</a:rPr>
              <a:t>▶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703320" y="1325880"/>
            <a:ext cx="1508760" cy="105156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703320" y="1371600"/>
            <a:ext cx="1508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34155"/>
                </a:solidFill>
              </a:rPr>
              <a:t>Groomed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334155"/>
                </a:solidFill>
              </a:rPr>
              <a:t>Backlog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703320" y="1920240"/>
            <a:ext cx="1508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Story is complete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221224" y="1600200"/>
            <a:ext cx="164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</a:rPr>
              <a:t>▶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394960" y="1325880"/>
            <a:ext cx="1508760" cy="10515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394960" y="1371600"/>
            <a:ext cx="1508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CHECK 2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394960" y="1920240"/>
            <a:ext cx="1508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Sprint Planning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Full Team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912864" y="1600200"/>
            <a:ext cx="164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</a:rPr>
              <a:t>▶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086600" y="1325880"/>
            <a:ext cx="1508760" cy="1051560"/>
          </a:xfrm>
          <a:prstGeom prst="rect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086600" y="1371600"/>
            <a:ext cx="1508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Active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Sprint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086600" y="1920240"/>
            <a:ext cx="1508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Story is worked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1143000" y="2377440"/>
            <a:ext cx="0" cy="457200"/>
          </a:xfrm>
          <a:prstGeom prst="line">
            <a:avLst/>
          </a:prstGeom>
          <a:noFill/>
          <a:ln w="19050">
            <a:solidFill>
              <a:srgbClr val="D9770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48640" y="2834640"/>
            <a:ext cx="621792" cy="0"/>
          </a:xfrm>
          <a:prstGeom prst="line">
            <a:avLst/>
          </a:prstGeom>
          <a:noFill/>
          <a:ln w="19050">
            <a:solidFill>
              <a:srgbClr val="D9770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74320" y="281635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97706"/>
                </a:solidFill>
              </a:rPr>
              <a:t>Bring back to refine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526280" y="2377440"/>
            <a:ext cx="0" cy="457200"/>
          </a:xfrm>
          <a:prstGeom prst="line">
            <a:avLst/>
          </a:prstGeom>
          <a:noFill/>
          <a:ln w="19050">
            <a:solidFill>
              <a:srgbClr val="D9770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91840" y="2834640"/>
            <a:ext cx="1261872" cy="0"/>
          </a:xfrm>
          <a:prstGeom prst="line">
            <a:avLst/>
          </a:prstGeom>
          <a:noFill/>
          <a:ln w="19050">
            <a:solidFill>
              <a:srgbClr val="D9770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017520" y="281635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97706"/>
                </a:solidFill>
              </a:rPr>
              <a:t>Move to next sprint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320040" y="3200400"/>
            <a:ext cx="3977640" cy="173736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320040" y="3200400"/>
            <a:ext cx="3977640" cy="29260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1480" y="3200400"/>
            <a:ext cx="3794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Checkpoint 1 — Story is complete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57200" y="3547872"/>
            <a:ext cx="3703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✓  Story narrative (As a / I need / So that)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57200" y="3794760"/>
            <a:ext cx="3703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✓  Source data named and accessible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4041648"/>
            <a:ext cx="3703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✓  Business rules written out clearly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57200" y="4288536"/>
            <a:ext cx="3703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✓  Output artifact defined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57200" y="4535424"/>
            <a:ext cx="3703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✓  Dependencies flagged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754880" y="3200400"/>
            <a:ext cx="4069080" cy="173736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4754880" y="3200400"/>
            <a:ext cx="4069080" cy="29260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46320" y="3200400"/>
            <a:ext cx="3886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Checkpoint 2 — Team is aligned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937760" y="3547872"/>
            <a:ext cx="3749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✓  Acceptance criteria binary and testable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937760" y="3794760"/>
            <a:ext cx="3749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✓  Data quality checks specified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4937760" y="4041648"/>
            <a:ext cx="3749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✓  Traceability tag populated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937760" y="4288536"/>
            <a:ext cx="3749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✓  Source data confirmed accessible by dev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937760" y="4535424"/>
            <a:ext cx="3749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✓  Story pointed by the team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20040" y="4892040"/>
            <a:ext cx="8503920" cy="246888"/>
          </a:xfrm>
          <a:prstGeom prst="rect">
            <a:avLst/>
          </a:prstGeom>
          <a:solidFill>
            <a:srgbClr val="E6F4F4"/>
          </a:solidFill>
          <a:ln w="6350">
            <a:solidFill>
              <a:srgbClr val="0D7377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20040" y="4892040"/>
            <a:ext cx="54864" cy="24688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7200" y="4892040"/>
            <a:ext cx="12801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7377"/>
                </a:solidFill>
              </a:rPr>
              <a:t>Team Agreement: 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1664208" y="4892040"/>
            <a:ext cx="7040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These checkpoints protect our sprint. Moving a story forward before it is ready costs the whole team more time than the check-in saves.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</a:rPr>
              <a:t>DEFINITION OF READY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</a:rPr>
              <a:t>9 things that make a story independently deliverable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20040" y="1234440"/>
            <a:ext cx="274320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234440"/>
            <a:ext cx="384048" cy="109728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1234440"/>
            <a:ext cx="3840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77240" y="1325880"/>
            <a:ext cx="21945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75569"/>
                </a:solidFill>
              </a:rPr>
              <a:t>Story follows the standard template (all fields populated)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77240" y="2039112"/>
            <a:ext cx="731520" cy="219456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039112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PO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3246120" y="1234440"/>
            <a:ext cx="274320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46120" y="1234440"/>
            <a:ext cx="384048" cy="109728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46120" y="1234440"/>
            <a:ext cx="3840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703320" y="1325880"/>
            <a:ext cx="21945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75569"/>
                </a:solidFill>
              </a:rPr>
              <a:t>Source system / table / feed is named and accessible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703320" y="2039112"/>
            <a:ext cx="731520" cy="21945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03320" y="2039112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Dev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6172200" y="1234440"/>
            <a:ext cx="274320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172200" y="1234440"/>
            <a:ext cx="384048" cy="109728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72200" y="1234440"/>
            <a:ext cx="3840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629400" y="1325880"/>
            <a:ext cx="21945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75569"/>
                </a:solidFill>
              </a:rPr>
              <a:t>Business rules and GSE/MF definitions are written out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629400" y="2039112"/>
            <a:ext cx="731520" cy="219456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29400" y="2039112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Analyst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20040" y="2450592"/>
            <a:ext cx="274320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20040" y="2450592"/>
            <a:ext cx="384048" cy="109728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0040" y="2450592"/>
            <a:ext cx="3840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777240" y="2542032"/>
            <a:ext cx="21945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75569"/>
                </a:solidFill>
              </a:rPr>
              <a:t>Acceptance criteria are binary and independently testable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77240" y="3255264"/>
            <a:ext cx="731520" cy="21945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7240" y="3255264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Tester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3246120" y="2450592"/>
            <a:ext cx="274320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246120" y="2450592"/>
            <a:ext cx="384048" cy="109728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46120" y="2450592"/>
            <a:ext cx="3840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5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3703320" y="2542032"/>
            <a:ext cx="21945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75569"/>
                </a:solidFill>
              </a:rPr>
              <a:t>Data quality checks (nulls, row counts, ref integrity) defined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703320" y="3255264"/>
            <a:ext cx="731520" cy="219456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703320" y="3255264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Analyst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6172200" y="2450592"/>
            <a:ext cx="274320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172200" y="2450592"/>
            <a:ext cx="384048" cy="109728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172200" y="2450592"/>
            <a:ext cx="3840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6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6629400" y="2542032"/>
            <a:ext cx="21945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75569"/>
                </a:solidFill>
              </a:rPr>
              <a:t>Traceability tag populated (Source → Layer → Output → Consumer)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629400" y="3255264"/>
            <a:ext cx="731520" cy="219456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629400" y="3255264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Analyst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20040" y="3666744"/>
            <a:ext cx="274320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320040" y="3666744"/>
            <a:ext cx="384048" cy="109728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20040" y="3666744"/>
            <a:ext cx="3840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7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777240" y="3758184"/>
            <a:ext cx="21945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75569"/>
                </a:solidFill>
              </a:rPr>
              <a:t>Dependencies (upstream data, downstream consumers) flagged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77240" y="4471416"/>
            <a:ext cx="731520" cy="219456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77240" y="4471416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PO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3246120" y="3666744"/>
            <a:ext cx="274320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3246120" y="3666744"/>
            <a:ext cx="384048" cy="109728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246120" y="3666744"/>
            <a:ext cx="3840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8</a:t>
            </a:r>
            <a:endParaRPr lang="en-US" sz="1800" dirty="0"/>
          </a:p>
        </p:txBody>
      </p:sp>
      <p:sp>
        <p:nvSpPr>
          <p:cNvPr id="50" name="Text 48"/>
          <p:cNvSpPr/>
          <p:nvPr/>
        </p:nvSpPr>
        <p:spPr>
          <a:xfrm>
            <a:off x="3703320" y="3758184"/>
            <a:ext cx="21945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75569"/>
                </a:solidFill>
              </a:rPr>
              <a:t>Story is estimated in story points by the team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3703320" y="4471416"/>
            <a:ext cx="731520" cy="219456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703320" y="4471416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Team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6172200" y="3666744"/>
            <a:ext cx="274320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6172200" y="3666744"/>
            <a:ext cx="384048" cy="109728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172200" y="3666744"/>
            <a:ext cx="3840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9</a:t>
            </a:r>
            <a:endParaRPr lang="en-US" sz="1800" dirty="0"/>
          </a:p>
        </p:txBody>
      </p:sp>
      <p:sp>
        <p:nvSpPr>
          <p:cNvPr id="56" name="Text 54"/>
          <p:cNvSpPr/>
          <p:nvPr/>
        </p:nvSpPr>
        <p:spPr>
          <a:xfrm>
            <a:off x="6629400" y="3758184"/>
            <a:ext cx="21945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75569"/>
                </a:solidFill>
              </a:rPr>
              <a:t>No open blockers or unresolved questions on the story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6629400" y="4471416"/>
            <a:ext cx="731520" cy="219456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629400" y="4471416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PO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320040" y="4663440"/>
            <a:ext cx="8503920" cy="347472"/>
          </a:xfrm>
          <a:prstGeom prst="rect">
            <a:avLst/>
          </a:prstGeom>
          <a:solidFill>
            <a:srgbClr val="FEF3C7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320040" y="4663440"/>
            <a:ext cx="54864" cy="34747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57200" y="4663440"/>
            <a:ext cx="822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7706"/>
                </a:solidFill>
              </a:rPr>
              <a:t>Spikes: 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1188720" y="4663440"/>
            <a:ext cx="7406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For exploratory work — state the question + timebox + output format. Bypass the data-quality-checks criterion only.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</a:rPr>
              <a:t>DEFINITION OF DONE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</a:rPr>
              <a:t>Every item checked. Dev + Tester + PO each confirm their section.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20040" y="1234440"/>
            <a:ext cx="3977640" cy="35204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234440"/>
            <a:ext cx="3977640" cy="347472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234440"/>
            <a:ext cx="3794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⚙  Technical — Developer confirms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0040" y="1581912"/>
            <a:ext cx="397764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1581912"/>
            <a:ext cx="2743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D7377"/>
                </a:solidFill>
              </a:rPr>
              <a:t>☐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5800" y="1581912"/>
            <a:ext cx="34747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T1 · Code reviewed and approved (min 1 reviewer)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0040" y="2011680"/>
            <a:ext cx="3977640" cy="429768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2011680"/>
            <a:ext cx="2743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D7377"/>
                </a:solidFill>
              </a:rPr>
              <a:t>☐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85800" y="2011680"/>
            <a:ext cx="34747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T2 · Code merged to main / feature branch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20040" y="2441448"/>
            <a:ext cx="397764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2441448"/>
            <a:ext cx="2743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D7377"/>
                </a:solidFill>
              </a:rPr>
              <a:t>☐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85800" y="2441448"/>
            <a:ext cx="34747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T3 · Unit / integration tests written &amp; passing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20040" y="2871216"/>
            <a:ext cx="3977640" cy="429768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1480" y="2871216"/>
            <a:ext cx="2743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D7377"/>
                </a:solidFill>
              </a:rPr>
              <a:t>☐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85800" y="2871216"/>
            <a:ext cx="34747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T4 · All data quality checks passing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20040" y="3300984"/>
            <a:ext cx="397764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1480" y="3300984"/>
            <a:ext cx="2743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D7377"/>
                </a:solidFill>
              </a:rPr>
              <a:t>☐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85800" y="3300984"/>
            <a:ext cx="34747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T5 · No regression in existing downstream outputs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20040" y="3730752"/>
            <a:ext cx="3977640" cy="429768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11480" y="3730752"/>
            <a:ext cx="2743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D7377"/>
                </a:solidFill>
              </a:rPr>
              <a:t>☐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85800" y="3730752"/>
            <a:ext cx="34747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T6 · Deployed to correct environment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754880" y="1234440"/>
            <a:ext cx="4069080" cy="35204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754880" y="1234440"/>
            <a:ext cx="4069080" cy="34747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46320" y="1234440"/>
            <a:ext cx="3886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✦  Business — PO confirms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754880" y="1581912"/>
            <a:ext cx="4069080" cy="51663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46320" y="1581912"/>
            <a:ext cx="274320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D7377"/>
                </a:solidFill>
              </a:rPr>
              <a:t>☐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120640" y="1581912"/>
            <a:ext cx="3566160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B1 · Output validated by analyst vs source system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754880" y="2098548"/>
            <a:ext cx="4069080" cy="516636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46320" y="2098548"/>
            <a:ext cx="274320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D7377"/>
                </a:solidFill>
              </a:rPr>
              <a:t>☐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120640" y="2098548"/>
            <a:ext cx="3566160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B2 · Business rules documented in data dictionary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754880" y="2615184"/>
            <a:ext cx="4069080" cy="51663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46320" y="2615184"/>
            <a:ext cx="274320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D7377"/>
                </a:solidFill>
              </a:rPr>
              <a:t>☐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5120640" y="2615184"/>
            <a:ext cx="3566160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B3 · Traceability tag updated if lineage changed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754880" y="3131820"/>
            <a:ext cx="4069080" cy="516636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46320" y="3131820"/>
            <a:ext cx="274320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D7377"/>
                </a:solidFill>
              </a:rPr>
              <a:t>☐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5120640" y="3131820"/>
            <a:ext cx="3566160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B4 · PO sign-off received (demo or written)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754880" y="3648456"/>
            <a:ext cx="4069080" cy="51663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46320" y="3648456"/>
            <a:ext cx="274320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D7377"/>
                </a:solidFill>
              </a:rPr>
              <a:t>☐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5120640" y="3648456"/>
            <a:ext cx="3566160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B5 · Jira updated + follow-up stories created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320040" y="4818888"/>
            <a:ext cx="8503920" cy="228600"/>
          </a:xfrm>
          <a:prstGeom prst="rect">
            <a:avLst/>
          </a:prstGeom>
          <a:solidFill>
            <a:srgbClr val="E6F4F4"/>
          </a:solidFill>
          <a:ln w="6350">
            <a:solidFill>
              <a:srgbClr val="0D73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20040" y="4818888"/>
            <a:ext cx="54864" cy="2286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57200" y="4818888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7377"/>
                </a:solidFill>
              </a:rPr>
              <a:t>Shared commitment: 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1828800" y="4818888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The PO closes the story after B4 is confirmed. Technical complete and business complete are both required.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</a:rPr>
              <a:t>THE STORY TEMPLATE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All fields give the team exactly what they need — no more back-and-forth.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20040" y="1234440"/>
            <a:ext cx="4206240" cy="87782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234440"/>
            <a:ext cx="1371600" cy="87782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1344168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NARRATIVE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0040" y="1828800"/>
            <a:ext cx="1371600" cy="21945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1828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</a:rPr>
              <a:t>PO + Analyst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1783080" y="1307592"/>
            <a:ext cx="26060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475569"/>
                </a:solidFill>
              </a:rPr>
              <a:t>As a [role]  /  I need [capability]  /  So that [business outcome]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709160" y="1234440"/>
            <a:ext cx="4206240" cy="87782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09160" y="1234440"/>
            <a:ext cx="1371600" cy="87782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09160" y="1344168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SOURCE DATA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828800"/>
            <a:ext cx="1371600" cy="219456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09160" y="1828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</a:rPr>
              <a:t>Analyst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172200" y="1307592"/>
            <a:ext cx="26060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475569"/>
                </a:solidFill>
              </a:rPr>
              <a:t>Table / feed / system name, owner, refresh frequency, known issues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20040" y="2167128"/>
            <a:ext cx="4206240" cy="87782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2167128"/>
            <a:ext cx="1371600" cy="87782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0040" y="2276856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BUSINESS RULES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20040" y="2761488"/>
            <a:ext cx="1371600" cy="219456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" y="276148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</a:rPr>
              <a:t>Analyst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783080" y="2240280"/>
            <a:ext cx="26060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475569"/>
                </a:solidFill>
              </a:rPr>
              <a:t>Transformation logic, GSE/MF definitions (UPB, delinquency), edge cases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709160" y="2167128"/>
            <a:ext cx="4206240" cy="87782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709160" y="2167128"/>
            <a:ext cx="1371600" cy="87782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09160" y="2276856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OUTPUT ARTIFACT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709160" y="2761488"/>
            <a:ext cx="1371600" cy="219456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09160" y="276148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</a:rPr>
              <a:t>Analyst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6172200" y="2240280"/>
            <a:ext cx="26060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475569"/>
                </a:solidFill>
              </a:rPr>
              <a:t>Dashboard / table / API / file. Include schema sketch or mockup link.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20040" y="3099816"/>
            <a:ext cx="4206240" cy="87782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20040" y="3099816"/>
            <a:ext cx="1371600" cy="87782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0040" y="3209544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ACCEPTANCE CRITERIA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20040" y="3694176"/>
            <a:ext cx="1371600" cy="21945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0040" y="369417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</a:rPr>
              <a:t>Analyst + PO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1783080" y="3172968"/>
            <a:ext cx="26060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475569"/>
                </a:solidFill>
              </a:rPr>
              <a:t>AC1: [binary testable]  |  AC2: [binary testable]  |  AC3: [binary testable]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709160" y="3099816"/>
            <a:ext cx="4206240" cy="87782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709160" y="3099816"/>
            <a:ext cx="1371600" cy="87782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709160" y="3209544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DATA QUALITY CHECKS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709160" y="3694176"/>
            <a:ext cx="1371600" cy="219456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09160" y="369417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</a:rPr>
              <a:t>Analyst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6172200" y="3172968"/>
            <a:ext cx="26060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475569"/>
                </a:solidFill>
              </a:rPr>
              <a:t>Row counts reconcile  |  No nulls in [columns]  |  Ref integrity: [FK]  |  Tolerance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320040" y="4032504"/>
            <a:ext cx="4206240" cy="87782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320040" y="4032504"/>
            <a:ext cx="1371600" cy="87782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20040" y="4142232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TRACEABILITY TAG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20040" y="4626864"/>
            <a:ext cx="1371600" cy="219456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20040" y="46268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</a:rPr>
              <a:t>Analyst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1783080" y="4105656"/>
            <a:ext cx="26060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475569"/>
                </a:solidFill>
              </a:rPr>
              <a:t>[Source System] → [Transform Layer] → [Output] → [Business Consumer]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709160" y="4032504"/>
            <a:ext cx="4206240" cy="87782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4709160" y="4032504"/>
            <a:ext cx="1371600" cy="87782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09160" y="4142232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DEPENDENCIES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709160" y="4626864"/>
            <a:ext cx="1371600" cy="219456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709160" y="46268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</a:rPr>
              <a:t>PO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6172200" y="4105656"/>
            <a:ext cx="26060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475569"/>
                </a:solidFill>
              </a:rPr>
              <a:t>Upstream: data readiness, other stories  |  Downstream: consumers, timing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</a:rPr>
              <a:t>EXAMPLE 1  ·  REPORTING STORY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5F"/>
                </a:solidFill>
              </a:rPr>
              <a:t>Delinquency Rate Dashboard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1234440"/>
            <a:ext cx="3977640" cy="363931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234440"/>
            <a:ext cx="3977640" cy="329184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234440"/>
            <a:ext cx="3794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Without the Playbook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0040" y="1563624"/>
            <a:ext cx="3977640" cy="47548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1563624"/>
            <a:ext cx="1005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</a:rPr>
              <a:t>Narrative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417320" y="1563624"/>
            <a:ext cx="2697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As a risk analyst I need a delinquency dashboard so that I can track loans.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20040" y="2039112"/>
            <a:ext cx="39776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2039112"/>
            <a:ext cx="1005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</a:rPr>
              <a:t>Source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417320" y="2039112"/>
            <a:ext cx="2697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Loan system.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20040" y="2514600"/>
            <a:ext cx="3977640" cy="47548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2514600"/>
            <a:ext cx="1005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</a:rPr>
              <a:t>Business Rules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417320" y="2514600"/>
            <a:ext cx="2697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D97706"/>
                </a:solidFill>
              </a:rPr>
              <a:t>Not specified — developer interprets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20040" y="2990088"/>
            <a:ext cx="39776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1480" y="2990088"/>
            <a:ext cx="1005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</a:rPr>
              <a:t>Acceptance Criteria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417320" y="2990088"/>
            <a:ext cx="2697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D97706"/>
                </a:solidFill>
              </a:rPr>
              <a:t>Dashboard shows correct delinquency data.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20040" y="3465576"/>
            <a:ext cx="3977640" cy="47548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1480" y="3465576"/>
            <a:ext cx="1005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</a:rPr>
              <a:t>Outcome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417320" y="3465576"/>
            <a:ext cx="2697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D97706"/>
                </a:solidFill>
              </a:rPr>
              <a:t>3 clarification cycles. Demo rejected. Rework.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11480" y="4572000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</a:rPr>
              <a:t>Result: team time spent on rework, not new value.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754880" y="1234440"/>
            <a:ext cx="4069080" cy="363931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754880" y="1234440"/>
            <a:ext cx="4069080" cy="329184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46320" y="1234440"/>
            <a:ext cx="3886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With the Playbook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754880" y="1563624"/>
            <a:ext cx="4069080" cy="475488"/>
          </a:xfrm>
          <a:prstGeom prst="rect">
            <a:avLst/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46320" y="1563624"/>
            <a:ext cx="9144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7377"/>
                </a:solidFill>
              </a:rPr>
              <a:t>Narrative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760720" y="1563624"/>
            <a:ext cx="2926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As a Senior Risk Analyst / I need a delinquency dashboard filtered by property type and vintage / So that I can produce the weekly risk committee pack without manual pulls.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754880" y="2039112"/>
            <a:ext cx="40690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46320" y="2039112"/>
            <a:ext cx="9144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7377"/>
                </a:solidFill>
              </a:rPr>
              <a:t>Source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760720" y="2039112"/>
            <a:ext cx="2926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dw.loan_performance_monthly · EDW · Nightly 02:00 EST · NULL vintage = Pre-2015 bucket.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754880" y="2514600"/>
            <a:ext cx="4069080" cy="475488"/>
          </a:xfrm>
          <a:prstGeom prst="rect">
            <a:avLst/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46320" y="2514600"/>
            <a:ext cx="9144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7377"/>
                </a:solidFill>
              </a:rPr>
              <a:t>Business Rule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5760720" y="2514600"/>
            <a:ext cx="2926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Delinquency = loans 30+ DPD / total active. Exclude Paid Off and REO. Property types: MF, SR, HC.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754880" y="2990088"/>
            <a:ext cx="40690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46320" y="2990088"/>
            <a:ext cx="9144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7377"/>
                </a:solidFill>
              </a:rPr>
              <a:t>AC1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760720" y="2990088"/>
            <a:ext cx="2926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MF delinquency rate for March 2026 matches EDW query within 0.01%.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4754880" y="3465576"/>
            <a:ext cx="4069080" cy="475488"/>
          </a:xfrm>
          <a:prstGeom prst="rect">
            <a:avLst/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46320" y="3465576"/>
            <a:ext cx="9144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7377"/>
                </a:solidFill>
              </a:rPr>
              <a:t>Outcome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760720" y="3465576"/>
            <a:ext cx="2926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6534"/>
                </a:solidFill>
              </a:rPr>
              <a:t>Delivered in sprint. PO confirmed at demo. Zero rework.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4846320" y="457200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0D7377"/>
                </a:solidFill>
              </a:rPr>
              <a:t>Traceability: EDW → Power BI Semantic Layer → Dashboard → Risk Committee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</a:rPr>
              <a:t>EXAMPLE 2  ·  PIPELINE STORY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5F"/>
                </a:solidFill>
              </a:rPr>
              <a:t>UPB Reconciliation Feed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1234440"/>
            <a:ext cx="3977640" cy="363931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234440"/>
            <a:ext cx="3977640" cy="329184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234440"/>
            <a:ext cx="3794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Without the Playbook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0040" y="1563624"/>
            <a:ext cx="3977640" cy="47548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1563624"/>
            <a:ext cx="9144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</a:rPr>
              <a:t>Narrative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325880" y="1563624"/>
            <a:ext cx="2788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As a data engineer I need to build the UPB reconciliation so that numbers match.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20040" y="2039112"/>
            <a:ext cx="39776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2039112"/>
            <a:ext cx="9144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</a:rPr>
              <a:t>Source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325880" y="2039112"/>
            <a:ext cx="2788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Loan system.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20040" y="2514600"/>
            <a:ext cx="3977640" cy="47548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2514600"/>
            <a:ext cx="9144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</a:rPr>
              <a:t>Rules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25880" y="2514600"/>
            <a:ext cx="2788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D97706"/>
                </a:solidFill>
              </a:rPr>
              <a:t>Not defined — tolerance unclear, scope unclear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20040" y="2990088"/>
            <a:ext cx="39776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1480" y="2990088"/>
            <a:ext cx="9144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</a:rPr>
              <a:t>AC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325880" y="2990088"/>
            <a:ext cx="2788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D97706"/>
                </a:solidFill>
              </a:rPr>
              <a:t>UPB numbers are correct.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20040" y="3465576"/>
            <a:ext cx="3977640" cy="47548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1480" y="3465576"/>
            <a:ext cx="9144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</a:rPr>
              <a:t>Outcome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325880" y="3465576"/>
            <a:ext cx="2788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D97706"/>
                </a:solidFill>
              </a:rPr>
              <a:t>Dev built wrong tolerance. Finance team caught it at month-end.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11480" y="4572000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</a:rPr>
              <a:t>Result: month-end risk from a story that looked done.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754880" y="1234440"/>
            <a:ext cx="4069080" cy="363931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754880" y="1234440"/>
            <a:ext cx="4069080" cy="329184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46320" y="1234440"/>
            <a:ext cx="3886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With the Playbook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754880" y="1563624"/>
            <a:ext cx="4069080" cy="475488"/>
          </a:xfrm>
          <a:prstGeom prst="rect">
            <a:avLst/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46320" y="1563624"/>
            <a:ext cx="8229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7377"/>
                </a:solidFill>
              </a:rPr>
              <a:t>Narrative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669280" y="1563624"/>
            <a:ext cx="30175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As a Finance Controller / I need daily automated recon between LOS and EDW UPB / So that discrepancies &gt;$50K are surfaced within 24 hours.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754880" y="2039112"/>
            <a:ext cx="40690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46320" y="2039112"/>
            <a:ext cx="8229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7377"/>
                </a:solidFill>
              </a:rPr>
              <a:t>Source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669280" y="2039112"/>
            <a:ext cx="30175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los_db.loan_balances (intraday) + dw.loan_master (nightly). Keyed on loan_id.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754880" y="2514600"/>
            <a:ext cx="4069080" cy="475488"/>
          </a:xfrm>
          <a:prstGeom prst="rect">
            <a:avLst/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46320" y="2514600"/>
            <a:ext cx="8229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7377"/>
                </a:solidFill>
              </a:rPr>
              <a:t>Rules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5669280" y="2514600"/>
            <a:ext cx="30175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Tolerance: $0 per loan, $50K aggregate per segment. Exclude Paid Off and Charged Off.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754880" y="2990088"/>
            <a:ext cx="40690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46320" y="2990088"/>
            <a:ext cx="8229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7377"/>
                </a:solidFill>
              </a:rPr>
              <a:t>AC1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669280" y="2990088"/>
            <a:ext cx="30175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DAG completes 5 consecutive UAT days with zero false positives.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4754880" y="3465576"/>
            <a:ext cx="4069080" cy="475488"/>
          </a:xfrm>
          <a:prstGeom prst="rect">
            <a:avLst/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46320" y="3465576"/>
            <a:ext cx="8229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7377"/>
                </a:solidFill>
              </a:rPr>
              <a:t>Outcome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669280" y="3465576"/>
            <a:ext cx="30175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6534"/>
                </a:solidFill>
              </a:rPr>
              <a:t>Delivered on time. Finance team had zero month-end surprises.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4846320" y="457200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0D7377"/>
                </a:solidFill>
              </a:rPr>
              <a:t>Traceability: LOS + EDW → Airflow Recon Job → recon.upb_daily_exceptions → Finance Close Team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</a:rPr>
              <a:t>EXAMPLE 3  ·  ANALYTICS SPIKE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5F"/>
                </a:solidFill>
              </a:rPr>
              <a:t>Prepayment Speed Investigation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1234440"/>
            <a:ext cx="8503920" cy="384048"/>
          </a:xfrm>
          <a:prstGeom prst="rect">
            <a:avLst/>
          </a:prstGeom>
          <a:solidFill>
            <a:srgbClr val="FEF3C7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234440"/>
            <a:ext cx="54864" cy="3840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234440"/>
            <a:ext cx="868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7706"/>
                </a:solidFill>
              </a:rPr>
              <a:t>Spike Rule: 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234440" y="1234440"/>
            <a:ext cx="7452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Spikes are time-boxed investigations. Use a simplified template — the output is a findings document, not a production artifact.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0040" y="1737360"/>
            <a:ext cx="397764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" y="1737360"/>
            <a:ext cx="3977640" cy="310896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1737360"/>
            <a:ext cx="3794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Without the Playbook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2103120"/>
            <a:ext cx="3749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75569"/>
                </a:solidFill>
              </a:rPr>
              <a:t>Investigate why prepayment speeds are changing.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475569"/>
                </a:solidFill>
              </a:rPr>
              <a:t>No timebox. No defined question. No output format. Story stays open for 3 weeks.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54880" y="1737360"/>
            <a:ext cx="4069080" cy="32461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754880" y="1737360"/>
            <a:ext cx="4069080" cy="31089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46320" y="1737360"/>
            <a:ext cx="3886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With the Playbook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754880" y="2048256"/>
            <a:ext cx="4069080" cy="438912"/>
          </a:xfrm>
          <a:prstGeom prst="rect">
            <a:avLst/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46320" y="2048256"/>
            <a:ext cx="7772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7377"/>
                </a:solidFill>
              </a:rPr>
              <a:t>Question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623560" y="2048256"/>
            <a:ext cx="30632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Has 3-month CPR for MF Affordable loans increased since Q3 2025? Which vintage cohorts are driving it?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754880" y="2487168"/>
            <a:ext cx="40690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46320" y="2487168"/>
            <a:ext cx="7772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7377"/>
                </a:solidFill>
              </a:rPr>
              <a:t>Timebox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623560" y="2487168"/>
            <a:ext cx="30632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3 business days — by sprint day 3.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754880" y="2926080"/>
            <a:ext cx="4069080" cy="438912"/>
          </a:xfrm>
          <a:prstGeom prst="rect">
            <a:avLst/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46320" y="2926080"/>
            <a:ext cx="7772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7377"/>
                </a:solidFill>
              </a:rPr>
              <a:t>Source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623560" y="2926080"/>
            <a:ext cx="30632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dw.loan_performance_monthly — read only. Fields: prepayment_flag, reporting_date, origination_year.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754880" y="3364992"/>
            <a:ext cx="40690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46320" y="3364992"/>
            <a:ext cx="7772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7377"/>
                </a:solidFill>
              </a:rPr>
              <a:t>Output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623560" y="3364992"/>
            <a:ext cx="30632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Jupyter notebook with: 1-para summary, CPR trend chart, and recommendation (action / no action / escalate).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754880" y="3803904"/>
            <a:ext cx="4069080" cy="438912"/>
          </a:xfrm>
          <a:prstGeom prst="rect">
            <a:avLst/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46320" y="3803904"/>
            <a:ext cx="7772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7377"/>
                </a:solidFill>
              </a:rPr>
              <a:t>AC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623560" y="3803904"/>
            <a:ext cx="30632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</a:rPr>
              <a:t>Notebook runs end-to-end. CPR covers 12+ months. Recommendation present. 5-min slot at sprint review.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320040" y="3108960"/>
            <a:ext cx="3977640" cy="19202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320040" y="3108960"/>
            <a:ext cx="3977640" cy="29260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11480" y="3108960"/>
            <a:ext cx="3794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Plan follow-on stories upfront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57200" y="3474720"/>
            <a:ext cx="3657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75569"/>
                </a:solidFill>
              </a:rPr>
              <a:t>→  CPR increase confirmed → Prepayment monitoring dashboard story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3968496"/>
            <a:ext cx="3657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75569"/>
                </a:solidFill>
              </a:rPr>
              <a:t>→  Data quality issues found → Data remediation story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57200" y="4462272"/>
            <a:ext cx="3657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75569"/>
                </a:solidFill>
              </a:rPr>
              <a:t>→  No issue found → Document findings, close sprint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</a:rPr>
              <a:t>TEAM COMMITMENTS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</a:rPr>
              <a:t>How we each show up to make this work for the whole team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20040" y="1234440"/>
            <a:ext cx="420624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234440"/>
            <a:ext cx="4206240" cy="32918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1234440"/>
            <a:ext cx="39867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Product Owner commits to: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61848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75569"/>
                </a:solidFill>
              </a:rPr>
              <a:t>→  Brings stories to refinement with the narrative and dependencies complete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207568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75569"/>
                </a:solidFill>
              </a:rPr>
              <a:t>→  Works with analysts to resolve open questions before sprint planning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253288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75569"/>
                </a:solidFill>
              </a:rPr>
              <a:t>→  Confirms business done at demo — this is where PO value shows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09160" y="1234440"/>
            <a:ext cx="420624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09160" y="1234440"/>
            <a:ext cx="4206240" cy="32918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18888" y="1234440"/>
            <a:ext cx="39867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Analyst commits to: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46320" y="161848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75569"/>
                </a:solidFill>
              </a:rPr>
              <a:t>→  Writes business rules and acceptance criteria before refinement — not after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46320" y="207568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75569"/>
                </a:solidFill>
              </a:rPr>
              <a:t>→  Validates output against source system and owns the data dictionary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846320" y="253288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75569"/>
                </a:solidFill>
              </a:rPr>
              <a:t>→  Tags traceability so the team can trace any output back to its source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20040" y="3154680"/>
            <a:ext cx="420624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3154680"/>
            <a:ext cx="4206240" cy="32918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29768" y="3154680"/>
            <a:ext cx="39867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Developer commits to: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353872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75569"/>
                </a:solidFill>
              </a:rPr>
              <a:t>→  Raises ambiguity at checkpoint 2, not mid-sprint — that is the right time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" y="399592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75569"/>
                </a:solidFill>
              </a:rPr>
              <a:t>→  Asks for business rule clarity rather than making assumptions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445312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75569"/>
                </a:solidFill>
              </a:rPr>
              <a:t>→  Marks stories 'In Review' so the PO can confirm business done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709160" y="3154680"/>
            <a:ext cx="420624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709160" y="3154680"/>
            <a:ext cx="4206240" cy="32918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18888" y="3154680"/>
            <a:ext cx="39867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Tester commits to: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846320" y="353872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75569"/>
                </a:solidFill>
              </a:rPr>
              <a:t>→  Tests against acceptance criteria — clear AC makes testing faster and sharper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46320" y="399592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75569"/>
                </a:solidFill>
              </a:rPr>
              <a:t>→  Validates data quality checks as part of every story sign-off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846320" y="445312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75569"/>
                </a:solidFill>
              </a:rPr>
              <a:t>→  Raises data issues as bugs so the team can track and fix them properly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20040" y="4818888"/>
            <a:ext cx="8503920" cy="274320"/>
          </a:xfrm>
          <a:prstGeom prst="rect">
            <a:avLst/>
          </a:prstGeom>
          <a:solidFill>
            <a:srgbClr val="E6F4F4"/>
          </a:solidFill>
          <a:ln w="6350">
            <a:solidFill>
              <a:srgbClr val="0D737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0040" y="4818888"/>
            <a:ext cx="54864" cy="27432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481888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7377"/>
                </a:solidFill>
              </a:rPr>
              <a:t>We all benefit when stories are ready. 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651760" y="4818888"/>
            <a:ext cx="6035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Raising a quality concern at checkpoint 2 is the team doing its job — not creating friction.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</a:rPr>
              <a:t>QUICK REFERENCE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822960"/>
            <a:ext cx="4160520" cy="1965960"/>
          </a:xfrm>
          <a:prstGeom prst="rect">
            <a:avLst/>
          </a:prstGeom>
          <a:solidFill>
            <a:srgbClr val="1A3050"/>
          </a:solidFill>
          <a:ln w="12700">
            <a:solidFill>
              <a:srgbClr val="2D4E7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822960"/>
            <a:ext cx="4160520" cy="31089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822960"/>
            <a:ext cx="3977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Checkpoint 1 — Refinement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170432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</a:rPr>
              <a:t>✓  Story narrative present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81328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</a:rPr>
              <a:t>✓  Source data named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1792224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</a:rPr>
              <a:t>✓  Business rules written out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2103120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</a:rPr>
              <a:t>✓  Output artifact defined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2414016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</a:rPr>
              <a:t>✓  Dependencies flagged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90872" y="822960"/>
            <a:ext cx="4160520" cy="1965960"/>
          </a:xfrm>
          <a:prstGeom prst="rect">
            <a:avLst/>
          </a:prstGeom>
          <a:solidFill>
            <a:srgbClr val="1A3050"/>
          </a:solidFill>
          <a:ln w="12700">
            <a:solidFill>
              <a:srgbClr val="2D4E7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90872" y="822960"/>
            <a:ext cx="4160520" cy="310896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82312" y="822960"/>
            <a:ext cx="3977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Checkpoint 2 — Sprint Planning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28032" y="1170432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</a:rPr>
              <a:t>✓  Acceptance criteria binary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828032" y="1481328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</a:rPr>
              <a:t>✓  Data quality checks specified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828032" y="1792224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</a:rPr>
              <a:t>✓  Traceability tag complete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28032" y="2103120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</a:rPr>
              <a:t>✓  Source data accessible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828032" y="2414016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</a:rPr>
              <a:t>✓  Story pointed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20040" y="2926080"/>
            <a:ext cx="4160520" cy="1965960"/>
          </a:xfrm>
          <a:prstGeom prst="rect">
            <a:avLst/>
          </a:prstGeom>
          <a:solidFill>
            <a:srgbClr val="1A3050"/>
          </a:solidFill>
          <a:ln w="12700">
            <a:solidFill>
              <a:srgbClr val="2D4E7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20040" y="2926080"/>
            <a:ext cx="4160520" cy="310896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2926080"/>
            <a:ext cx="3977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Done — Technical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3273552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</a:rPr>
              <a:t>✓  Code reviewed + merged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3584448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</a:rPr>
              <a:t>✓  Unit/integration tests passing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3895344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</a:rPr>
              <a:t>✓  Data quality checks passing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57200" y="4206240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</a:rPr>
              <a:t>✓  No downstream regression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7200" y="4517136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</a:rPr>
              <a:t>✓  Deployed to correct env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690872" y="2926080"/>
            <a:ext cx="4160520" cy="1965960"/>
          </a:xfrm>
          <a:prstGeom prst="rect">
            <a:avLst/>
          </a:prstGeom>
          <a:solidFill>
            <a:srgbClr val="1A3050"/>
          </a:solidFill>
          <a:ln w="12700">
            <a:solidFill>
              <a:srgbClr val="2D4E7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690872" y="2926080"/>
            <a:ext cx="4160520" cy="310896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82312" y="2926080"/>
            <a:ext cx="3977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Done — Business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828032" y="3273552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</a:rPr>
              <a:t>✓  Output validated vs source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828032" y="3584448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</a:rPr>
              <a:t>✓  Business rules in data dict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28032" y="3895344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</a:rPr>
              <a:t>✓  Traceability tag updated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28032" y="4206240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</a:rPr>
              <a:t>✓  PO sign-off received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828032" y="4517136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</a:rPr>
              <a:t>✓  Jira updated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20040" y="4800600"/>
            <a:ext cx="8503920" cy="29260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1480" y="4800600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Our North Star: 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600200" y="4800600"/>
            <a:ext cx="7086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Every story a developer picks up on Monday can be delivered by Friday — with no open questions.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GSE-MF Portfolio Story Excellence Playbook</dc:title>
  <dc:subject>PptxGenJS Presentation</dc:subject>
  <dc:creator>PptxGenJS</dc:creator>
  <cp:lastModifiedBy>PptxGenJS</cp:lastModifiedBy>
  <cp:revision>1</cp:revision>
  <dcterms:created xsi:type="dcterms:W3CDTF">2026-04-09T16:19:47Z</dcterms:created>
  <dcterms:modified xsi:type="dcterms:W3CDTF">2026-04-09T16:19:47Z</dcterms:modified>
</cp:coreProperties>
</file>