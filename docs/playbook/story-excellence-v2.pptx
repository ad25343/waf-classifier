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· 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Excellence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C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→ Feature → Story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language for Single Family, Multifamily, and Capital Markets — across the full lending lifecycle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824228" cy="457200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97680"/>
            <a:ext cx="18242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Family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0068" y="4297680"/>
            <a:ext cx="1613916" cy="45720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2830068" y="4297680"/>
            <a:ext cx="1613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Multifamily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429768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6B46C1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4297680"/>
            <a:ext cx="203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44284" y="429768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1B5E7A"/>
          </a:solidFill>
          <a:ln/>
        </p:spPr>
      </p:sp>
      <p:sp>
        <p:nvSpPr>
          <p:cNvPr id="14" name="Text 12"/>
          <p:cNvSpPr/>
          <p:nvPr/>
        </p:nvSpPr>
        <p:spPr>
          <a:xfrm>
            <a:off x="6844284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→ Servicing → Securitization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Engineering · Analytics · QA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 — refined every quarter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NORTH STAR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playbook the whole portfolio can rally around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00584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teammate, on any squad, in any line of business, can pick up a backlog item and immediately see what good looks like.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3611880" cy="164592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54680"/>
            <a:ext cx="594360" cy="59436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at every level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Epic, Feature, and Story each have their own template, Definition of Ready, and Definition of Done. No more guessing what's expected.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74320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743200"/>
            <a:ext cx="3611880" cy="16459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3154680"/>
            <a:ext cx="594360" cy="5943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Lifecycle-wide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434340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playbook from loan acquisition through underwriting, servicing, securitization, and investor reporting — end to end.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74320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743200"/>
            <a:ext cx="3611880" cy="16459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1" name="Shape 19"/>
          <p:cNvSpPr/>
          <p:nvPr/>
        </p:nvSpPr>
        <p:spPr>
          <a:xfrm>
            <a:off x="8458200" y="3154680"/>
            <a:ext cx="594360" cy="594360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5820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Cross-LoB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58200" y="434340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Family, Multifamily, and Capital Markets all use the same shape — only the business rules and lifecycle stages differ.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about more rules — it's about removing friction so the team can move faster, together.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LEVELS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Epic, Feature, Story — same shape, different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11680" cy="6400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1417320"/>
            <a:ext cx="3017520" cy="64008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3017520" cy="64008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95360" y="1417320"/>
            <a:ext cx="3017520" cy="6400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20116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57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05740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outcome we are willing to fund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deliverable capability inside an epic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05740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Sprint-sized unit of valuable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97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69748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4 quarters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69748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sprints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95360" y="269748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 sprint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20116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337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333756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 + Product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333756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95360" y="333756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(PO, Devs, Analyst, QA)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97764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977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397764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 board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397764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business validation in prod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95360" y="397764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QA at sprint demo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617720"/>
            <a:ext cx="201168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617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60320" y="461772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4617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measured against baseline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577840" y="461772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4617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live, validated, documented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95360" y="4617720"/>
            <a:ext cx="30175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32520" y="4617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met, deployed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builds on the one above it. A story is only as clear as the feature it serves; a feature is only as valuable as the epic it advances.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playbook applies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0704" cy="91440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55064" y="1554480"/>
            <a:ext cx="1060704" cy="9144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00784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554480"/>
            <a:ext cx="1060704" cy="91440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9" name="Text 7"/>
          <p:cNvSpPr/>
          <p:nvPr/>
        </p:nvSpPr>
        <p:spPr>
          <a:xfrm>
            <a:off x="2807208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67912" y="1554480"/>
            <a:ext cx="1060704" cy="9144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913632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74336" y="1554480"/>
            <a:ext cx="1060704" cy="91440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0056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1060704" cy="9144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Mgmt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87184" y="1554480"/>
            <a:ext cx="1060704" cy="91440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7" name="Text 15"/>
          <p:cNvSpPr/>
          <p:nvPr/>
        </p:nvSpPr>
        <p:spPr>
          <a:xfrm>
            <a:off x="7232904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Pooling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93608" y="1554480"/>
            <a:ext cx="1060704" cy="9144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00032" y="1554480"/>
            <a:ext cx="1060704" cy="91440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21" name="Text 19"/>
          <p:cNvSpPr/>
          <p:nvPr/>
        </p:nvSpPr>
        <p:spPr>
          <a:xfrm>
            <a:off x="9445752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Markets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506456" y="1554480"/>
            <a:ext cx="1060704" cy="9144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52176" y="1554480"/>
            <a:ext cx="969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activity by line of business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743200"/>
            <a:ext cx="1554480" cy="50292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Family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54096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54096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05072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5072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07024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07024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08976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59952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59952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10928" y="2743200"/>
            <a:ext cx="914400" cy="502920"/>
          </a:xfrm>
          <a:prstGeom prst="rect">
            <a:avLst/>
          </a:prstGeom>
          <a:solidFill>
            <a:srgbClr val="8FB5B5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10928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661904" y="2743200"/>
            <a:ext cx="91440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61904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3319272"/>
            <a:ext cx="1554480" cy="5029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3192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Multifamily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103120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54096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54096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05072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05072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56048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56048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07024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07024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0" y="3319272"/>
            <a:ext cx="914400" cy="502920"/>
          </a:xfrm>
          <a:prstGeom prst="rect">
            <a:avLst/>
          </a:prstGeom>
          <a:solidFill>
            <a:srgbClr val="E0BC78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808976" y="3319272"/>
            <a:ext cx="914400" cy="502920"/>
          </a:xfrm>
          <a:prstGeom prst="rect">
            <a:avLst/>
          </a:prstGeom>
          <a:solidFill>
            <a:srgbClr val="E0BC78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8976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759952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59952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710928" y="3319272"/>
            <a:ext cx="914400" cy="502920"/>
          </a:xfrm>
          <a:prstGeom prst="rect">
            <a:avLst/>
          </a:prstGeom>
          <a:solidFill>
            <a:srgbClr val="E0BC78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10928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661904" y="3319272"/>
            <a:ext cx="914400" cy="502920"/>
          </a:xfrm>
          <a:prstGeom prst="rect">
            <a:avLst/>
          </a:prstGeom>
          <a:solidFill>
            <a:srgbClr val="B7791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61904" y="33192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48640" y="3895344"/>
            <a:ext cx="1554480" cy="5029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38953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103120" y="3895344"/>
            <a:ext cx="914400" cy="502920"/>
          </a:xfrm>
          <a:prstGeom prst="rect">
            <a:avLst/>
          </a:prstGeom>
          <a:solidFill>
            <a:srgbClr val="EAEEF3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03120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054096" y="3895344"/>
            <a:ext cx="914400" cy="502920"/>
          </a:xfrm>
          <a:prstGeom prst="rect">
            <a:avLst/>
          </a:prstGeom>
          <a:solidFill>
            <a:srgbClr val="EAEEF3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54096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005072" y="3895344"/>
            <a:ext cx="914400" cy="502920"/>
          </a:xfrm>
          <a:prstGeom prst="rect">
            <a:avLst/>
          </a:prstGeom>
          <a:solidFill>
            <a:srgbClr val="B49DD8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05072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956048" y="3895344"/>
            <a:ext cx="914400" cy="502920"/>
          </a:xfrm>
          <a:prstGeom prst="rect">
            <a:avLst/>
          </a:prstGeom>
          <a:solidFill>
            <a:srgbClr val="EAEEF3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56048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907024" y="3895344"/>
            <a:ext cx="914400" cy="502920"/>
          </a:xfrm>
          <a:prstGeom prst="rect">
            <a:avLst/>
          </a:prstGeom>
          <a:solidFill>
            <a:srgbClr val="B49DD8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07024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858000" y="3895344"/>
            <a:ext cx="914400" cy="502920"/>
          </a:xfrm>
          <a:prstGeom prst="rect">
            <a:avLst/>
          </a:prstGeom>
          <a:solidFill>
            <a:srgbClr val="EAEEF3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0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808976" y="3895344"/>
            <a:ext cx="9144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08976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759952" y="3895344"/>
            <a:ext cx="9144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59952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9710928" y="3895344"/>
            <a:ext cx="9144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710928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0661904" y="3895344"/>
            <a:ext cx="914400" cy="502920"/>
          </a:xfrm>
          <a:prstGeom prst="rect">
            <a:avLst/>
          </a:prstGeom>
          <a:solidFill>
            <a:srgbClr val="6B46C1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661904" y="38953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48640" y="4572000"/>
            <a:ext cx="274320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2" name="Text 90"/>
          <p:cNvSpPr/>
          <p:nvPr/>
        </p:nvSpPr>
        <p:spPr>
          <a:xfrm>
            <a:off x="868680" y="4572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High activity / focus area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114800" y="4572000"/>
            <a:ext cx="274320" cy="228600"/>
          </a:xfrm>
          <a:prstGeom prst="rect">
            <a:avLst/>
          </a:prstGeom>
          <a:solidFill>
            <a:srgbClr val="B49DD8"/>
          </a:solidFill>
          <a:ln/>
        </p:spPr>
      </p:sp>
      <p:sp>
        <p:nvSpPr>
          <p:cNvPr id="94" name="Text 92"/>
          <p:cNvSpPr/>
          <p:nvPr/>
        </p:nvSpPr>
        <p:spPr>
          <a:xfrm>
            <a:off x="44348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Moderate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858000" y="4572000"/>
            <a:ext cx="274320" cy="2286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96" name="Text 94"/>
          <p:cNvSpPr/>
          <p:nvPr/>
        </p:nvSpPr>
        <p:spPr>
          <a:xfrm>
            <a:off x="71780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Light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8640" y="5120640"/>
            <a:ext cx="109728" cy="11887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99" name="Text 97"/>
          <p:cNvSpPr/>
          <p:nvPr/>
        </p:nvSpPr>
        <p:spPr>
          <a:xfrm>
            <a:off x="86868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highest-value work crosses two or more lifecycle stages and at least one LoB boundary. A common epic-feature-story shape lets a story written in Servicing flow naturally into Investor Reporting without translation overhead — and lets a CapMkts feature reuse SF and MF data products without re-specifying them.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PRACTICES WE LEAN 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reinventing — we're applying what's already proven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611880" cy="6400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Disciplined Agile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Business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leading indicators, MVP outcome, NFRs — not a 30-page PRD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6037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8897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believe [outcome] will result from [change], evidenced by [metric].”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8176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WSJF Prioritization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4622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Shortest Job First — cost of delay ÷ job size — keeps the portfolio honest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67487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PI Cadence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90347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Big-room planning every quarter; epics get reviewed, re-cut, or retired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37160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371600"/>
            <a:ext cx="3611880" cy="64008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371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1691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Atlassian · Pact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1031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Hypothesis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33172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[doing X] for [persona] we will achieve [measurable outcome] by [date].”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96037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Marketable Feature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18897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version that delivers real value — ship it, learn, iterate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8176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Acceptance Criteria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04622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— testable by construction, BDD-friendly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467487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/ Toggles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903470"/>
            <a:ext cx="31546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deploy from release — safe rollouts, easy rollbacks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137160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371600"/>
            <a:ext cx="3611880" cy="64008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1371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1691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Cohn · Connextra · Scrum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66760" y="21031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23317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· Negotiable · Valuable · Estimable · Small · Testable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6760" y="27889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C's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6676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Conversation · Confirmation — story is a placeholder for a conversation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34747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/ I want / So that”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66760" y="37033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Connextra format — keeps the user and the why in view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6760" y="4160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66760" y="4389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story delivers thin end-to-end value — never a horizontal layer alone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66760" y="48463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· Fibonacci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66760" y="5074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sizing by the squad — not effort hours assigned by leads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practice on this page is documented in SAFe, Scrum, or Mike Cohn's user-story canon — easy to onboard new team members and easy to defend in a portfolio review.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moments to align — before work begins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11880" cy="9601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Quarterly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 · Head of Product · Finance ·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agree 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measurable?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agreed?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and lifecycle stages clear?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risks named?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17320"/>
            <a:ext cx="3611880" cy="9601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508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Refinement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Bi-weekly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788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3017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· Tech Lead · Senior Analyst · QA Lead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6118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agree 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8862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stated in business language?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named?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written?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drafted?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4173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417320"/>
            <a:ext cx="3611880" cy="9601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5087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1783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Three-Amigos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Weekly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2788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3017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One Dev · One QA · Analyst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6118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agree 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8862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accessible?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unambiguous?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binary and testable?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tag set?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checkpoint is missed, the item simply waits for the next one — no drama, no blame. Refinement is the gift the team gives itself.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TEMPLATE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epic captures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41732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Outcome-led, not feature-led: "Same-Day Lender Commitments" not "AUS API Modernization"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Outcome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947672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9476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change — what is true after, that wasn't true before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780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Business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478024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· MF · CapMkts (any combination)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08376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0837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008376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0083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10 lifecycle stages the epic touches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3872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3538728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538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accountable executive who funds and owns the outcome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417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26680" y="1417320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metrics with current baseline and target — agreed with finance and risk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947672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9476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Envelope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26680" y="1947672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9476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quarters of effort and number of squads expected to contribute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478024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4780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Milestones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26680" y="2478024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Quarter-level checkpoints that we will measure against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008376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00837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Dependencies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26680" y="3008376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30083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epics, programs, or vendors that must coordinate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3538728"/>
            <a:ext cx="155448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53872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26680" y="3538728"/>
            <a:ext cx="39319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3538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risks named upfront — surfaced, not hidden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572000"/>
            <a:ext cx="1106424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572000"/>
            <a:ext cx="109728" cy="169164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the template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4983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epic gets a Confluence page using this exact shape — all fields filled, even if the entry is "None" or "TBD with date."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examples for SF, MF, and CapMkts are linked from the page so anyone authoring an epic can start from a working version.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field genuinely doesn't apply, we say so explicitly — empty fields slow refinement; explicit "N/A — because…" speeds it up.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· READINESS &amp;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an epic enter — and exit — the portfolio?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532120" cy="64008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outcome stated as a measurable change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 named and engaged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business and lifecycle stages identified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agreed with finance and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34340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297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envelope confirmed at portfolio review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46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8006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decomposition into features begun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34924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49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303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risks surfaced with named owners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417320"/>
            <a:ext cx="5532120" cy="6400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417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46520" y="233172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2860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metric measured against baseline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283464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834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2788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delivered or descoped with rationale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333756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 confirms value realized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384048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37947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complete; learnings captured in playbook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46520" y="434340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4297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Run-state ownership transferred to operating team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lands across the portfolio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FAMILY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Lender Commitments for Conforming Loans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conforming SF loans receive a lender commitment same-day, up from 35%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→ Underwriting → Commitments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52120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SVP, SF Acquisitions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5321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7607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same-day commits · Lender NPS · Manual review volume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417320"/>
            <a:ext cx="3611880" cy="5029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MULTIFAMILY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057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MF Servicing Visibility Across Sub-Servicers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246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MF loan performance refreshed within 24h of sub-servicer activity for 100% of the portfolio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→ Risk Reporting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9834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52120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MF Asset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55321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57607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SLA · Sub-servicer onboarding time · Exception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417320"/>
            <a:ext cx="3611880" cy="5029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66760" y="2057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Settlement for Specified MBS Pools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3017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3246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T+0 settlement on 50% of specified pool trades, currently 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4160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4389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Securitization → Investor Reporting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66760" y="49834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52120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Securitization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55321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66760" y="57607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T+0 settlement · Settlement fail rate · Dealer satisfaction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TEMPLATE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feature captures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417320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Capability-led: "Real-Time AUS Decision API"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993392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9933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"This feature enables [persona] to [do X] so that [outcome]"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946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Epic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569464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56946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— features without an epic are flagged for portfolio 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455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Persona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3145536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1455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ops · Asset manager · Trader · Investor · Internal analyst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216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3721608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7216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 feature-level ACs that prove the capability is real, not just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417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1417320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4173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list of constituent stories — proves the feature is decomposable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993392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9933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Dependencies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1993392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19933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squads, vendors, downstream consumers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569464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56946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2569464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256946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audit, compliance, observability requirements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145536"/>
            <a:ext cx="17830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1455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3145536"/>
            <a:ext cx="37033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31455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feature explicitly does not do — prevents scope creep mid-flight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029200"/>
            <a:ext cx="109728" cy="128016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is the bridge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describe outcomes. Stories describe sprint-sized work. Features translate between the two — they are the level at which we make capability promises to the business and architectural commitments to engineering.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READINESS &amp;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feature enter — and exit — a release?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532120" cy="64008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articulated in business language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parent epic with a clear contribution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/ user named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 acceptance criteria written and agreed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into a story map (titles + sequence)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029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dependencies surfaced and confirmed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2356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23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5778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identified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417320"/>
            <a:ext cx="5532120" cy="6400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417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46520" y="233172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2860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 stories closed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28346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executed across the full path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342900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3383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Non-functionals validated (perf, security, compliance)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397764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3931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validation signed off by product owner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46520" y="452628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4480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environment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46520" y="507492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5029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runbook, and lineage updated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LoB, all linked to their parent epic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FAMILY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Same-Day Lender Commitments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AUS Decision API for Lender Integration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systems can submit a borrower file and receive an automated underwriting decision in under 200ms p95 — including credit tier, DTI flag, and condition list.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ACs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decision payload &lt; 200ms p95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1,000 concurrent lender connections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matches the published rule set 100%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17320"/>
            <a:ext cx="3611880" cy="5029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MULTIFAMILY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Unified MF Servicing Visibility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860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Sub-Servicer Daily Activity File Ingestion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1546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sub-servicers deliver daily activity in one schema, ingested into the MF data platform with 99.9% completeness within 4 hours of receipt.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ACs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98348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accepts all 7 active sub-servicers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file-level completeness with auto-retry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visible end-to-end in catalog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417320"/>
            <a:ext cx="3611880" cy="5029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T+0 Settlement for Specified Pools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2860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Pool Allocation &amp; WAC Calculation Engine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31546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3383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can allocate eligible loans to a specified pool, compute weighted-average coupon, and lock the pool composition before market close on T+0.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4754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ACs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4983480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completes &lt; 5 min for pools up to 5,000 loans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 matches manual reconciliation within 0.005%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every allocation decision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TEMPLATE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story captures (with a spike variant)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6949440" cy="5486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10312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1031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Outcome-led, written by the analyst or 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/ I need / So that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60604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606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capability, business outcome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/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10896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feeds, tables, APIs the story touches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361188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611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GSE definitions used (e.g. UPB, delinquency, WAC)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411480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114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Binary, testable — "&lt;2% variance vs source" not "looks right"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61772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Checklist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461772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4617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list — same for every story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512064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120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512064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data quality, perf — what runs and where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623560"/>
            <a:ext cx="201168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Tag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5623560"/>
            <a:ext cx="4572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5623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· Feature · Lifecycle stage · LoB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1417320"/>
            <a:ext cx="3931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1417320"/>
            <a:ext cx="3931920" cy="54864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41" name="Text 39"/>
          <p:cNvSpPr/>
          <p:nvPr/>
        </p:nvSpPr>
        <p:spPr>
          <a:xfrm>
            <a:off x="7909560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VARIANT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095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095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specific question the spike will answer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0956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days — hard stop, even if work is unfinished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0956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Output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0956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Memo, notebook, or decision doc — not code in production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0956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Informed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909560" y="4709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downstream choice this enables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09560" y="5212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/ Lifecycle Tag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909560" y="5486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findings are reusable across the portfolio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· READINESS &amp;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a story enter a sprint — and when can we close 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532120" cy="64008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fully populated (no empty fields)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are binary and testable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confirmed accessible by the squad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unambiguous and signed off by analyst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 parent feature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029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Three-amigos review complete (PO + Dev + QA)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23560"/>
            <a:ext cx="292608" cy="292608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23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5778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— pointed by the squad, not assigned a number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417320"/>
            <a:ext cx="5532120" cy="6400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4173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46520" y="233172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2860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acceptance criteria met and demonstrated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288036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28346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 and merged; unit tests passing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342900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3383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passing where applicable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397764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977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39319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checks passing (perf, security, audit)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46520" y="452628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4480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 accepts in sprint demo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46520" y="507492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5029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lineage, and runbook updated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46520" y="5623560"/>
            <a:ext cx="292608" cy="29260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6446520" y="5623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858000" y="55778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the target environment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stories from each LoB plus a spike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532120" cy="3657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· ORIGINATION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AUS decision with credit tier and DTI flag in &lt;200ms p95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Lender Operations user, I need an AUS decision returned synchronously so that I can issue a same-day commitment.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AC: p95 latency &lt; 200ms · Credit tier returned in all 4 buckets · DTI flag returned where DTI &gt; 43%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17320"/>
            <a:ext cx="5532120" cy="3657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4173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· SERVICING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Wells Fargo MF daily remittance file with 99.9% completeness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MF Asset Manager, I need WF daily remittance reflected in the platform so that delinquency reporting is accurate within 24h.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AC: File parsed end-to-end · 99.9% record-level completeness · Mismatches routed to exception queue with alert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86200"/>
            <a:ext cx="5532120" cy="36576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CAPMKTS · SECURITIZATION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weighted-average coupon for same-day pool with mixed coupons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Securitization Operations user, I need WAC computed in real time on a draft pool so that I can validate before locking.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71500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AC: WAC computed for pools up to 5,000 loans in &lt;30 sec · Matches manual recon within 0.005% · Audit log per calc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388620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886200"/>
            <a:ext cx="5532120" cy="36576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8862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· CROSS-LOB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434340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prepayment speed anomaly in Q1 2026 SF 30Y 5.5% pools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98348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Why did CPR diverge 18% from model on a specific cohort? Required output: memo + notebook with hypotheses tested.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571500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AC: Timebox: 1 sprint · Decision informed: whether to re-tune model or treat as transient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all the way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Settlement for Specified MBS Pools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40680" cy="82296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Pool Allocation &amp; WAC 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68980" y="219456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172200" y="2468880"/>
            <a:ext cx="5440680" cy="82296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14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Investor Reporting Pipeline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92540" y="219456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080760" y="219456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8980" y="2468880"/>
            <a:ext cx="56235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3520440"/>
            <a:ext cx="5440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0440"/>
            <a:ext cx="109728" cy="5029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368503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WAC for mixed-coupon pool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440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60520"/>
            <a:ext cx="109728" cy="5029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UPB validation at allocation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5440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00600"/>
            <a:ext cx="109728" cy="5029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" y="49651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instruction generation 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520440"/>
            <a:ext cx="5440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520440"/>
            <a:ext cx="109728" cy="5029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566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368503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trade tape ingestion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4160520"/>
            <a:ext cx="54406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4160520"/>
            <a:ext cx="109728" cy="5029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206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43251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investor remittance email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tags its parent feature and epic. Anyone reading a story can trace the strategic intent in two clicks.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COMMITMENTS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brings to the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" cy="8686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27632"/>
            <a:ext cx="548640" cy="54864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150876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outcome, funds the epic, and reviews progress at the portfolio level. Stays out of sprint mechanics.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23160"/>
            <a:ext cx="109728" cy="86868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587752"/>
            <a:ext cx="548640" cy="548640"/>
          </a:xfrm>
          <a:prstGeom prst="ellipse">
            <a:avLst/>
          </a:prstGeom>
          <a:solidFill>
            <a:srgbClr val="1B5E7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87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4688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features end-to-end. Ensures stories meet DoR before sprint planning. Runs three-amigos. Accepts in demo.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83280"/>
            <a:ext cx="109728" cy="86868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547872"/>
            <a:ext cx="548640" cy="54864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34290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business-rule clarity and source-system accessibility. Writes acceptance criteria with the PO. Validates outputs.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43400"/>
            <a:ext cx="109728" cy="8686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507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43891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architectural integrity across stories within a feature. Surfaces cross-feature dependencies early.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303520"/>
            <a:ext cx="109728" cy="86868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5468112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468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5394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(Devs + QA)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0560" y="53492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Collectively owns Definition of Done. Accepts ready stories with confidence; respectfully returns un-ready ones for refinement.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6355080"/>
            <a:ext cx="11064240" cy="0"/>
          </a:xfrm>
          <a:prstGeom prst="rect">
            <a:avLst/>
          </a:prstGeom>
          <a:noFill/>
          <a:ln w="25400">
            <a:solidFill>
              <a:srgbClr val="C996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 Story Excellence Playbook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this above your monitor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measurable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named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 + lifecycle clear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agreed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confirmed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surfaced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delivered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confirms value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complete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Run-state transferred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17320"/>
            <a:ext cx="3611880" cy="50292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317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epic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named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agreed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 drafted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surfaced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977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25196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closed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Non-functionals met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signed off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updated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417320"/>
            <a:ext cx="3611880" cy="50292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3317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complete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binary + testable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accessible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unambiguous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feature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Three-amigos done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3977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425196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met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 pass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accepted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updated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64240" cy="0"/>
          </a:xfrm>
          <a:prstGeom prst="rect">
            <a:avLst/>
          </a:prstGeom>
          <a:noFill/>
          <a:ln w="25400">
            <a:solidFill>
              <a:srgbClr val="C996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6400800"/>
            <a:ext cx="11064240" cy="0"/>
          </a:xfrm>
          <a:prstGeom prst="rect">
            <a:avLst/>
          </a:prstGeom>
          <a:noFill/>
          <a:ln w="12700">
            <a:solidFill>
              <a:srgbClr val="C996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6355080"/>
            <a:ext cx="11064240" cy="0"/>
          </a:xfrm>
          <a:prstGeom prst="rect">
            <a:avLst/>
          </a:prstGeom>
          <a:solidFill>
            <a:srgbClr val="C99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7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ready stories make happy sprints — and ready epics make happy quarters.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GSE Story Excellence Playbook</dc:title>
  <dc:subject>PptxGenJS Presentation</dc:subject>
  <dc:creator>PptxGenJS</dc:creator>
  <cp:lastModifiedBy>PptxGenJS</cp:lastModifiedBy>
  <cp:revision>1</cp:revision>
  <dcterms:created xsi:type="dcterms:W3CDTF">2026-05-05T21:29:31Z</dcterms:created>
  <dcterms:modified xsi:type="dcterms:W3CDTF">2026-05-05T21:29:31Z</dcterms:modified>
</cp:coreProperties>
</file>