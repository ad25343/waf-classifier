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7315200" cy="274320"/>
          </a:xfrm>
          <a:prstGeom prst="rect">
            <a:avLst/>
          </a:prstGeom>
          <a:noFill/>
        </p:spPr>
        <p:txBody>
          <a:bodyPr wrap="square">
            <a:spAutoFit/>
          </a:bodyPr>
          <a:lstStyle/>
          <a:p>
            <a:pPr algn="l"/>
            <a:r>
              <a:rPr sz="1000" b="1" i="0">
                <a:solidFill>
                  <a:srgbClr val="5B52E8"/>
                </a:solidFill>
              </a:rPr>
              <a:t>WAF CLASSIFIER</a:t>
            </a:r>
          </a:p>
        </p:txBody>
      </p:sp>
      <p:sp>
        <p:nvSpPr>
          <p:cNvPr id="5" name="TextBox 4"/>
          <p:cNvSpPr txBox="1"/>
          <p:nvPr/>
        </p:nvSpPr>
        <p:spPr>
          <a:xfrm>
            <a:off x="502920" y="603504"/>
            <a:ext cx="11430000" cy="914400"/>
          </a:xfrm>
          <a:prstGeom prst="rect">
            <a:avLst/>
          </a:prstGeom>
          <a:noFill/>
        </p:spPr>
        <p:txBody>
          <a:bodyPr wrap="square">
            <a:spAutoFit/>
          </a:bodyPr>
          <a:lstStyle/>
          <a:p>
            <a:pPr algn="l"/>
            <a:r>
              <a:rPr sz="4000" b="1" i="0">
                <a:solidFill>
                  <a:srgbClr val="0F111A"/>
                </a:solidFill>
              </a:rPr>
              <a:t>Are we working on the right things?</a:t>
            </a:r>
          </a:p>
        </p:txBody>
      </p:sp>
      <p:sp>
        <p:nvSpPr>
          <p:cNvPr id="6" name="TextBox 5"/>
          <p:cNvSpPr txBox="1"/>
          <p:nvPr/>
        </p:nvSpPr>
        <p:spPr>
          <a:xfrm>
            <a:off x="502920" y="1627632"/>
            <a:ext cx="10972800" cy="877824"/>
          </a:xfrm>
          <a:prstGeom prst="rect">
            <a:avLst/>
          </a:prstGeom>
          <a:noFill/>
        </p:spPr>
        <p:txBody>
          <a:bodyPr wrap="square">
            <a:spAutoFit/>
          </a:bodyPr>
          <a:lstStyle/>
          <a:p>
            <a:pPr algn="l"/>
            <a:r>
              <a:rPr sz="1400" b="0" i="0">
                <a:solidFill>
                  <a:srgbClr val="6B7396"/>
                </a:solidFill>
              </a:rPr>
              <a:t>We deliver thousands of stories every quarter. Leadership needs to know — with confidence — where engineering spend is going, whether it's aligned to what matters, and whether we're shrinking the maintenance burden or growing it.</a:t>
            </a:r>
          </a:p>
        </p:txBody>
      </p:sp>
      <p:sp>
        <p:nvSpPr>
          <p:cNvPr id="7" name="Rectangle 6"/>
          <p:cNvSpPr/>
          <p:nvPr/>
        </p:nvSpPr>
        <p:spPr>
          <a:xfrm>
            <a:off x="502920" y="2697480"/>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852928"/>
            <a:ext cx="7315200" cy="274320"/>
          </a:xfrm>
          <a:prstGeom prst="rect">
            <a:avLst/>
          </a:prstGeom>
          <a:noFill/>
        </p:spPr>
        <p:txBody>
          <a:bodyPr wrap="square">
            <a:spAutoFit/>
          </a:bodyPr>
          <a:lstStyle/>
          <a:p>
            <a:pPr algn="l"/>
            <a:r>
              <a:rPr sz="900" b="1" i="0">
                <a:solidFill>
                  <a:srgbClr val="5B52E8"/>
                </a:solidFill>
              </a:rPr>
              <a:t>THE QUESTIONS LEADERSHIP NEEDS ANSWERED</a:t>
            </a:r>
          </a:p>
        </p:txBody>
      </p:sp>
      <p:sp>
        <p:nvSpPr>
          <p:cNvPr id="9" name="Rounded Rectangle 8"/>
          <p:cNvSpPr/>
          <p:nvPr/>
        </p:nvSpPr>
        <p:spPr>
          <a:xfrm>
            <a:off x="502920"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291840"/>
            <a:ext cx="365760" cy="365760"/>
          </a:xfrm>
          <a:prstGeom prst="rect">
            <a:avLst/>
          </a:prstGeom>
          <a:noFill/>
        </p:spPr>
        <p:txBody>
          <a:bodyPr wrap="square">
            <a:spAutoFit/>
          </a:bodyPr>
          <a:lstStyle/>
          <a:p>
            <a:pPr algn="l"/>
            <a:r>
              <a:rPr sz="1600" b="0" i="0">
                <a:solidFill>
                  <a:srgbClr val="1E223A"/>
                </a:solidFill>
              </a:rPr>
              <a:t>🎯</a:t>
            </a:r>
          </a:p>
        </p:txBody>
      </p:sp>
      <p:sp>
        <p:nvSpPr>
          <p:cNvPr id="12" name="TextBox 11"/>
          <p:cNvSpPr txBox="1"/>
          <p:nvPr/>
        </p:nvSpPr>
        <p:spPr>
          <a:xfrm>
            <a:off x="1069848" y="3328416"/>
            <a:ext cx="2889504" cy="310896"/>
          </a:xfrm>
          <a:prstGeom prst="rect">
            <a:avLst/>
          </a:prstGeom>
          <a:noFill/>
        </p:spPr>
        <p:txBody>
          <a:bodyPr wrap="square">
            <a:spAutoFit/>
          </a:bodyPr>
          <a:lstStyle/>
          <a:p>
            <a:pPr algn="l"/>
            <a:r>
              <a:rPr sz="1300" b="1" i="0">
                <a:solidFill>
                  <a:srgbClr val="0F111A"/>
                </a:solidFill>
              </a:rPr>
              <a:t>Are we aligned?</a:t>
            </a:r>
          </a:p>
        </p:txBody>
      </p:sp>
      <p:sp>
        <p:nvSpPr>
          <p:cNvPr id="13" name="TextBox 12"/>
          <p:cNvSpPr txBox="1"/>
          <p:nvPr/>
        </p:nvSpPr>
        <p:spPr>
          <a:xfrm>
            <a:off x="667512" y="3767328"/>
            <a:ext cx="3236976" cy="713232"/>
          </a:xfrm>
          <a:prstGeom prst="rect">
            <a:avLst/>
          </a:prstGeom>
          <a:noFill/>
        </p:spPr>
        <p:txBody>
          <a:bodyPr wrap="square">
            <a:spAutoFit/>
          </a:bodyPr>
          <a:lstStyle/>
          <a:p>
            <a:pPr algn="l"/>
            <a:r>
              <a:rPr sz="1050" b="0" i="0">
                <a:solidFill>
                  <a:srgbClr val="6B7396"/>
                </a:solidFill>
              </a:rPr>
              <a:t>Is every story tied to a strategic priority — or are we drifting?</a:t>
            </a:r>
          </a:p>
        </p:txBody>
      </p:sp>
      <p:sp>
        <p:nvSpPr>
          <p:cNvPr id="14" name="Rounded Rectangle 13"/>
          <p:cNvSpPr/>
          <p:nvPr/>
        </p:nvSpPr>
        <p:spPr>
          <a:xfrm>
            <a:off x="4261104"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61104"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3291840"/>
            <a:ext cx="365760" cy="365760"/>
          </a:xfrm>
          <a:prstGeom prst="rect">
            <a:avLst/>
          </a:prstGeom>
          <a:noFill/>
        </p:spPr>
        <p:txBody>
          <a:bodyPr wrap="square">
            <a:spAutoFit/>
          </a:bodyPr>
          <a:lstStyle/>
          <a:p>
            <a:pPr algn="l"/>
            <a:r>
              <a:rPr sz="1600" b="0" i="0">
                <a:solidFill>
                  <a:srgbClr val="1E223A"/>
                </a:solidFill>
              </a:rPr>
              <a:t>⚖️</a:t>
            </a:r>
          </a:p>
        </p:txBody>
      </p:sp>
      <p:sp>
        <p:nvSpPr>
          <p:cNvPr id="17" name="TextBox 16"/>
          <p:cNvSpPr txBox="1"/>
          <p:nvPr/>
        </p:nvSpPr>
        <p:spPr>
          <a:xfrm>
            <a:off x="4828032" y="3328416"/>
            <a:ext cx="2889504" cy="310896"/>
          </a:xfrm>
          <a:prstGeom prst="rect">
            <a:avLst/>
          </a:prstGeom>
          <a:noFill/>
        </p:spPr>
        <p:txBody>
          <a:bodyPr wrap="square">
            <a:spAutoFit/>
          </a:bodyPr>
          <a:lstStyle/>
          <a:p>
            <a:pPr algn="l"/>
            <a:r>
              <a:rPr sz="1300" b="1" i="0">
                <a:solidFill>
                  <a:srgbClr val="0F111A"/>
                </a:solidFill>
              </a:rPr>
              <a:t>What's our Run vs. Change split?</a:t>
            </a:r>
          </a:p>
        </p:txBody>
      </p:sp>
      <p:sp>
        <p:nvSpPr>
          <p:cNvPr id="18" name="TextBox 17"/>
          <p:cNvSpPr txBox="1"/>
          <p:nvPr/>
        </p:nvSpPr>
        <p:spPr>
          <a:xfrm>
            <a:off x="4425696" y="3767328"/>
            <a:ext cx="3236976" cy="713232"/>
          </a:xfrm>
          <a:prstGeom prst="rect">
            <a:avLst/>
          </a:prstGeom>
          <a:noFill/>
        </p:spPr>
        <p:txBody>
          <a:bodyPr wrap="square">
            <a:spAutoFit/>
          </a:bodyPr>
          <a:lstStyle/>
          <a:p>
            <a:pPr algn="l"/>
            <a:r>
              <a:rPr sz="1050" b="0" i="0">
                <a:solidFill>
                  <a:srgbClr val="6B7396"/>
                </a:solidFill>
              </a:rPr>
              <a:t>How much capacity is going to keep-the-lights-on vs. value-generating work?</a:t>
            </a:r>
          </a:p>
        </p:txBody>
      </p:sp>
      <p:sp>
        <p:nvSpPr>
          <p:cNvPr id="19" name="Rounded Rectangle 18"/>
          <p:cNvSpPr/>
          <p:nvPr/>
        </p:nvSpPr>
        <p:spPr>
          <a:xfrm>
            <a:off x="8019288"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3291840"/>
            <a:ext cx="365760" cy="365760"/>
          </a:xfrm>
          <a:prstGeom prst="rect">
            <a:avLst/>
          </a:prstGeom>
          <a:noFill/>
        </p:spPr>
        <p:txBody>
          <a:bodyPr wrap="square">
            <a:spAutoFit/>
          </a:bodyPr>
          <a:lstStyle/>
          <a:p>
            <a:pPr algn="l"/>
            <a:r>
              <a:rPr sz="1600" b="0" i="0">
                <a:solidFill>
                  <a:srgbClr val="1E223A"/>
                </a:solidFill>
              </a:rPr>
              <a:t>📊</a:t>
            </a:r>
          </a:p>
        </p:txBody>
      </p:sp>
      <p:sp>
        <p:nvSpPr>
          <p:cNvPr id="22" name="TextBox 21"/>
          <p:cNvSpPr txBox="1"/>
          <p:nvPr/>
        </p:nvSpPr>
        <p:spPr>
          <a:xfrm>
            <a:off x="8586216" y="3328416"/>
            <a:ext cx="2889504" cy="310896"/>
          </a:xfrm>
          <a:prstGeom prst="rect">
            <a:avLst/>
          </a:prstGeom>
          <a:noFill/>
        </p:spPr>
        <p:txBody>
          <a:bodyPr wrap="square">
            <a:spAutoFit/>
          </a:bodyPr>
          <a:lstStyle/>
          <a:p>
            <a:pPr algn="l"/>
            <a:r>
              <a:rPr sz="1300" b="1" i="0">
                <a:solidFill>
                  <a:srgbClr val="0F111A"/>
                </a:solidFill>
              </a:rPr>
              <a:t>Can we trust the numbers?</a:t>
            </a:r>
          </a:p>
        </p:txBody>
      </p:sp>
      <p:sp>
        <p:nvSpPr>
          <p:cNvPr id="23" name="TextBox 22"/>
          <p:cNvSpPr txBox="1"/>
          <p:nvPr/>
        </p:nvSpPr>
        <p:spPr>
          <a:xfrm>
            <a:off x="8183880" y="3767328"/>
            <a:ext cx="3236976" cy="713232"/>
          </a:xfrm>
          <a:prstGeom prst="rect">
            <a:avLst/>
          </a:prstGeom>
          <a:noFill/>
        </p:spPr>
        <p:txBody>
          <a:bodyPr wrap="square">
            <a:spAutoFit/>
          </a:bodyPr>
          <a:lstStyle/>
          <a:p>
            <a:pPr algn="l"/>
            <a:r>
              <a:rPr sz="1050" b="0" i="0">
                <a:solidFill>
                  <a:srgbClr val="6B7396"/>
                </a:solidFill>
              </a:rPr>
              <a:t>Is the WAF data accurate, auditable, and consistent across every team?</a:t>
            </a:r>
          </a:p>
        </p:txBody>
      </p:sp>
      <p:sp>
        <p:nvSpPr>
          <p:cNvPr id="24" name="Rectangle 23"/>
          <p:cNvSpPr/>
          <p:nvPr/>
        </p:nvSpPr>
        <p:spPr>
          <a:xfrm>
            <a:off x="502920" y="4736592"/>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64608"/>
            <a:ext cx="7315200" cy="274320"/>
          </a:xfrm>
          <a:prstGeom prst="rect">
            <a:avLst/>
          </a:prstGeom>
          <a:noFill/>
        </p:spPr>
        <p:txBody>
          <a:bodyPr wrap="square">
            <a:spAutoFit/>
          </a:bodyPr>
          <a:lstStyle/>
          <a:p>
            <a:pPr algn="l"/>
            <a:r>
              <a:rPr sz="900" b="1" i="0">
                <a:solidFill>
                  <a:srgbClr val="5B52E8"/>
                </a:solidFill>
              </a:rPr>
              <a:t>WAF CLASSIFIER  —  AN AI-POWERED PLATFORM</a:t>
            </a:r>
          </a:p>
        </p:txBody>
      </p:sp>
      <p:sp>
        <p:nvSpPr>
          <p:cNvPr id="26" name="TextBox 25"/>
          <p:cNvSpPr txBox="1"/>
          <p:nvPr/>
        </p:nvSpPr>
        <p:spPr>
          <a:xfrm>
            <a:off x="502920" y="5138928"/>
            <a:ext cx="10972800" cy="365760"/>
          </a:xfrm>
          <a:prstGeom prst="rect">
            <a:avLst/>
          </a:prstGeom>
          <a:noFill/>
        </p:spPr>
        <p:txBody>
          <a:bodyPr wrap="square">
            <a:spAutoFit/>
          </a:bodyPr>
          <a:lstStyle/>
          <a:p>
            <a:pPr algn="l"/>
            <a:r>
              <a:rPr sz="1600" b="1" i="0">
                <a:solidFill>
                  <a:srgbClr val="0F111A"/>
                </a:solidFill>
              </a:rPr>
              <a:t>Classifies, verifies, and analyses every story against the Work Allocation Framework</a:t>
            </a:r>
          </a:p>
        </p:txBody>
      </p:sp>
      <p:sp>
        <p:nvSpPr>
          <p:cNvPr id="27" name="Rounded Rectangle 26"/>
          <p:cNvSpPr/>
          <p:nvPr/>
        </p:nvSpPr>
        <p:spPr>
          <a:xfrm>
            <a:off x="502920"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705856"/>
            <a:ext cx="3273552" cy="274320"/>
          </a:xfrm>
          <a:prstGeom prst="rect">
            <a:avLst/>
          </a:prstGeom>
          <a:noFill/>
        </p:spPr>
        <p:txBody>
          <a:bodyPr wrap="square">
            <a:spAutoFit/>
          </a:bodyPr>
          <a:lstStyle/>
          <a:p>
            <a:pPr algn="l"/>
            <a:r>
              <a:rPr sz="1050" b="1" i="0">
                <a:solidFill>
                  <a:srgbClr val="5B52E8"/>
                </a:solidFill>
              </a:rPr>
              <a:t>Consistent classification at scale</a:t>
            </a:r>
          </a:p>
        </p:txBody>
      </p:sp>
      <p:sp>
        <p:nvSpPr>
          <p:cNvPr id="29" name="TextBox 28"/>
          <p:cNvSpPr txBox="1"/>
          <p:nvPr/>
        </p:nvSpPr>
        <p:spPr>
          <a:xfrm>
            <a:off x="649224" y="5980176"/>
            <a:ext cx="3273552" cy="493776"/>
          </a:xfrm>
          <a:prstGeom prst="rect">
            <a:avLst/>
          </a:prstGeom>
          <a:noFill/>
        </p:spPr>
        <p:txBody>
          <a:bodyPr wrap="square">
            <a:spAutoFit/>
          </a:bodyPr>
          <a:lstStyle/>
          <a:p>
            <a:pPr algn="l"/>
            <a:r>
              <a:rPr sz="950" b="0" i="0">
                <a:solidFill>
                  <a:srgbClr val="1E223A"/>
                </a:solidFill>
              </a:rPr>
              <a:t>AI-assisted tagging eliminates manual variance. Every story is classified the same way, every time.</a:t>
            </a:r>
          </a:p>
        </p:txBody>
      </p:sp>
      <p:sp>
        <p:nvSpPr>
          <p:cNvPr id="30" name="Rounded Rectangle 29"/>
          <p:cNvSpPr/>
          <p:nvPr/>
        </p:nvSpPr>
        <p:spPr>
          <a:xfrm>
            <a:off x="4261104"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7408" y="5705856"/>
            <a:ext cx="3273552" cy="274320"/>
          </a:xfrm>
          <a:prstGeom prst="rect">
            <a:avLst/>
          </a:prstGeom>
          <a:noFill/>
        </p:spPr>
        <p:txBody>
          <a:bodyPr wrap="square">
            <a:spAutoFit/>
          </a:bodyPr>
          <a:lstStyle/>
          <a:p>
            <a:pPr algn="l"/>
            <a:r>
              <a:rPr sz="1050" b="1" i="0">
                <a:solidFill>
                  <a:srgbClr val="5B52E8"/>
                </a:solidFill>
              </a:rPr>
              <a:t>Run vs. Change visibility</a:t>
            </a:r>
          </a:p>
        </p:txBody>
      </p:sp>
      <p:sp>
        <p:nvSpPr>
          <p:cNvPr id="32" name="TextBox 31"/>
          <p:cNvSpPr txBox="1"/>
          <p:nvPr/>
        </p:nvSpPr>
        <p:spPr>
          <a:xfrm>
            <a:off x="4407408" y="5980176"/>
            <a:ext cx="3273552" cy="493776"/>
          </a:xfrm>
          <a:prstGeom prst="rect">
            <a:avLst/>
          </a:prstGeom>
          <a:noFill/>
        </p:spPr>
        <p:txBody>
          <a:bodyPr wrap="square">
            <a:spAutoFit/>
          </a:bodyPr>
          <a:lstStyle/>
          <a:p>
            <a:pPr algn="l"/>
            <a:r>
              <a:rPr sz="950" b="0" i="0">
                <a:solidFill>
                  <a:srgbClr val="1E223A"/>
                </a:solidFill>
              </a:rPr>
              <a:t>Track maintenance burden vs. value-generating work across every team, epic, and Team of Teams.</a:t>
            </a:r>
          </a:p>
        </p:txBody>
      </p:sp>
      <p:sp>
        <p:nvSpPr>
          <p:cNvPr id="33" name="Rounded Rectangle 32"/>
          <p:cNvSpPr/>
          <p:nvPr/>
        </p:nvSpPr>
        <p:spPr>
          <a:xfrm>
            <a:off x="8019288"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5592" y="5705856"/>
            <a:ext cx="3273552" cy="274320"/>
          </a:xfrm>
          <a:prstGeom prst="rect">
            <a:avLst/>
          </a:prstGeom>
          <a:noFill/>
        </p:spPr>
        <p:txBody>
          <a:bodyPr wrap="square">
            <a:spAutoFit/>
          </a:bodyPr>
          <a:lstStyle/>
          <a:p>
            <a:pPr algn="l"/>
            <a:r>
              <a:rPr sz="1050" b="1" i="0">
                <a:solidFill>
                  <a:srgbClr val="5B52E8"/>
                </a:solidFill>
              </a:rPr>
              <a:t>Auditable, trusted data</a:t>
            </a:r>
          </a:p>
        </p:txBody>
      </p:sp>
      <p:sp>
        <p:nvSpPr>
          <p:cNvPr id="35" name="TextBox 34"/>
          <p:cNvSpPr txBox="1"/>
          <p:nvPr/>
        </p:nvSpPr>
        <p:spPr>
          <a:xfrm>
            <a:off x="8165592" y="5980176"/>
            <a:ext cx="3273552" cy="493776"/>
          </a:xfrm>
          <a:prstGeom prst="rect">
            <a:avLst/>
          </a:prstGeom>
          <a:noFill/>
        </p:spPr>
        <p:txBody>
          <a:bodyPr wrap="square">
            <a:spAutoFit/>
          </a:bodyPr>
          <a:lstStyle/>
          <a:p>
            <a:pPr algn="l"/>
            <a:r>
              <a:rPr sz="950" b="0" i="0">
                <a:solidFill>
                  <a:srgbClr val="1E223A"/>
                </a:solidFill>
              </a:rPr>
              <a:t>Every classification is logged with reasoning, confidence, and the WAF version that produced it.</a:t>
            </a:r>
          </a:p>
        </p:txBody>
      </p:sp>
      <p:sp>
        <p:nvSpPr>
          <p:cNvPr id="36" name="Rectangle 35"/>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6819900"/>
            <a:ext cx="937611"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39" name="TextBox 38"/>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THE PROBLEM</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Misclassification sends human capital to the wrong priorities.</a:t>
            </a:r>
          </a:p>
        </p:txBody>
      </p:sp>
      <p:sp>
        <p:nvSpPr>
          <p:cNvPr id="6" name="TextBox 5"/>
          <p:cNvSpPr txBox="1"/>
          <p:nvPr/>
        </p:nvSpPr>
        <p:spPr>
          <a:xfrm>
            <a:off x="502920" y="969264"/>
            <a:ext cx="10789920" cy="457200"/>
          </a:xfrm>
          <a:prstGeom prst="rect">
            <a:avLst/>
          </a:prstGeom>
          <a:noFill/>
        </p:spPr>
        <p:txBody>
          <a:bodyPr wrap="square">
            <a:spAutoFit/>
          </a:bodyPr>
          <a:lstStyle/>
          <a:p>
            <a:pPr algn="l"/>
            <a:r>
              <a:rPr sz="1300" b="0" i="0">
                <a:solidFill>
                  <a:srgbClr val="6B7396"/>
                </a:solidFill>
              </a:rPr>
              <a:t>And we don't see the drift until quarter-end — when the PI is already over. Misalignment must surface in-PI, while leadership can still redirect effort.</a:t>
            </a:r>
          </a:p>
        </p:txBody>
      </p:sp>
      <p:sp>
        <p:nvSpPr>
          <p:cNvPr id="7" name="Rectangle 6"/>
          <p:cNvSpPr/>
          <p:nvPr/>
        </p:nvSpPr>
        <p:spPr>
          <a:xfrm>
            <a:off x="502920" y="138988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99616"/>
            <a:ext cx="11155680" cy="694944"/>
          </a:xfrm>
          <a:prstGeom prst="roundRect">
            <a:avLst>
              <a:gd name="adj" fmla="val 4000"/>
            </a:avLst>
          </a:prstGeom>
          <a:solidFill>
            <a:srgbClr val="FFF4F4"/>
          </a:solidFill>
          <a:ln w="9525">
            <a:solidFill>
              <a:srgbClr val="F8C4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91056"/>
            <a:ext cx="10789920" cy="475488"/>
          </a:xfrm>
          <a:prstGeom prst="rect">
            <a:avLst/>
          </a:prstGeom>
          <a:noFill/>
        </p:spPr>
        <p:txBody>
          <a:bodyPr wrap="square">
            <a:spAutoFit/>
          </a:bodyPr>
          <a:lstStyle/>
          <a:p>
            <a:pPr algn="ctr"/>
            <a:r>
              <a:rPr sz="1250" b="0" i="1">
                <a:solidFill>
                  <a:srgbClr val="DC2626"/>
                </a:solidFill>
              </a:rPr>
              <a:t>❝  Every misclassified story is engineering capacity flowing to the wrong priority — and today, we don't catch it until it's too late to fix.  ❞</a:t>
            </a:r>
          </a:p>
        </p:txBody>
      </p:sp>
      <p:sp>
        <p:nvSpPr>
          <p:cNvPr id="10" name="Rounded Rectangle 9"/>
          <p:cNvSpPr/>
          <p:nvPr/>
        </p:nvSpPr>
        <p:spPr>
          <a:xfrm>
            <a:off x="502920"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432304"/>
            <a:ext cx="329184" cy="329184"/>
          </a:xfrm>
          <a:prstGeom prst="rect">
            <a:avLst/>
          </a:prstGeom>
          <a:noFill/>
        </p:spPr>
        <p:txBody>
          <a:bodyPr wrap="square">
            <a:spAutoFit/>
          </a:bodyPr>
          <a:lstStyle/>
          <a:p>
            <a:pPr algn="l"/>
            <a:r>
              <a:rPr sz="1400" b="0" i="0">
                <a:solidFill>
                  <a:srgbClr val="1E223A"/>
                </a:solidFill>
              </a:rPr>
              <a:t>📉</a:t>
            </a:r>
          </a:p>
        </p:txBody>
      </p:sp>
      <p:sp>
        <p:nvSpPr>
          <p:cNvPr id="13" name="TextBox 12"/>
          <p:cNvSpPr txBox="1"/>
          <p:nvPr/>
        </p:nvSpPr>
        <p:spPr>
          <a:xfrm>
            <a:off x="1005840" y="2450592"/>
            <a:ext cx="2971800" cy="274320"/>
          </a:xfrm>
          <a:prstGeom prst="rect">
            <a:avLst/>
          </a:prstGeom>
          <a:noFill/>
        </p:spPr>
        <p:txBody>
          <a:bodyPr wrap="square">
            <a:spAutoFit/>
          </a:bodyPr>
          <a:lstStyle/>
          <a:p>
            <a:pPr algn="l"/>
            <a:r>
              <a:rPr sz="1100" b="1" i="0">
                <a:solidFill>
                  <a:srgbClr val="0F111A"/>
                </a:solidFill>
              </a:rPr>
              <a:t>Misclassification at the source</a:t>
            </a:r>
          </a:p>
        </p:txBody>
      </p:sp>
      <p:sp>
        <p:nvSpPr>
          <p:cNvPr id="14" name="TextBox 13"/>
          <p:cNvSpPr txBox="1"/>
          <p:nvPr/>
        </p:nvSpPr>
        <p:spPr>
          <a:xfrm>
            <a:off x="630936" y="2798064"/>
            <a:ext cx="3328416" cy="841248"/>
          </a:xfrm>
          <a:prstGeom prst="rect">
            <a:avLst/>
          </a:prstGeom>
          <a:noFill/>
        </p:spPr>
        <p:txBody>
          <a:bodyPr wrap="square">
            <a:spAutoFit/>
          </a:bodyPr>
          <a:lstStyle/>
          <a:p>
            <a:pPr algn="l"/>
            <a:r>
              <a:rPr sz="950" b="0" i="0">
                <a:solidFill>
                  <a:srgbClr val="6B7396"/>
                </a:solidFill>
              </a:rPr>
              <a:t>Hundreds of teams tag stories independently. Without a shared baseline, the same kind of work lands in different WAF buckets across teams — distorting the picture from day one.</a:t>
            </a:r>
          </a:p>
        </p:txBody>
      </p:sp>
      <p:sp>
        <p:nvSpPr>
          <p:cNvPr id="15" name="Rounded Rectangle 14"/>
          <p:cNvSpPr/>
          <p:nvPr/>
        </p:nvSpPr>
        <p:spPr>
          <a:xfrm>
            <a:off x="4233672"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33672"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432304"/>
            <a:ext cx="329184" cy="329184"/>
          </a:xfrm>
          <a:prstGeom prst="rect">
            <a:avLst/>
          </a:prstGeom>
          <a:noFill/>
        </p:spPr>
        <p:txBody>
          <a:bodyPr wrap="square">
            <a:spAutoFit/>
          </a:bodyPr>
          <a:lstStyle/>
          <a:p>
            <a:pPr algn="l"/>
            <a:r>
              <a:rPr sz="1400" b="0" i="0">
                <a:solidFill>
                  <a:srgbClr val="1E223A"/>
                </a:solidFill>
              </a:rPr>
              <a:t>⚖️</a:t>
            </a:r>
          </a:p>
        </p:txBody>
      </p:sp>
      <p:sp>
        <p:nvSpPr>
          <p:cNvPr id="18" name="TextBox 17"/>
          <p:cNvSpPr txBox="1"/>
          <p:nvPr/>
        </p:nvSpPr>
        <p:spPr>
          <a:xfrm>
            <a:off x="4736592" y="2450592"/>
            <a:ext cx="2971800" cy="274320"/>
          </a:xfrm>
          <a:prstGeom prst="rect">
            <a:avLst/>
          </a:prstGeom>
          <a:noFill/>
        </p:spPr>
        <p:txBody>
          <a:bodyPr wrap="square">
            <a:spAutoFit/>
          </a:bodyPr>
          <a:lstStyle/>
          <a:p>
            <a:pPr algn="l"/>
            <a:r>
              <a:rPr sz="1100" b="1" i="0">
                <a:solidFill>
                  <a:srgbClr val="0F111A"/>
                </a:solidFill>
              </a:rPr>
              <a:t>Capital flows to the wrong priorities</a:t>
            </a:r>
          </a:p>
        </p:txBody>
      </p:sp>
      <p:sp>
        <p:nvSpPr>
          <p:cNvPr id="19" name="TextBox 18"/>
          <p:cNvSpPr txBox="1"/>
          <p:nvPr/>
        </p:nvSpPr>
        <p:spPr>
          <a:xfrm>
            <a:off x="4361688" y="2798064"/>
            <a:ext cx="3328416" cy="841248"/>
          </a:xfrm>
          <a:prstGeom prst="rect">
            <a:avLst/>
          </a:prstGeom>
          <a:noFill/>
        </p:spPr>
        <p:txBody>
          <a:bodyPr wrap="square">
            <a:spAutoFit/>
          </a:bodyPr>
          <a:lstStyle/>
          <a:p>
            <a:pPr algn="l"/>
            <a:r>
              <a:rPr sz="950" b="0" i="0">
                <a:solidFill>
                  <a:srgbClr val="6B7396"/>
                </a:solidFill>
              </a:rPr>
              <a:t>When tags are wrong, effort meant for strategic colours shows up as Run — or vice versa. Real allocation drifts from intent without anyone noticing.</a:t>
            </a:r>
          </a:p>
        </p:txBody>
      </p:sp>
      <p:sp>
        <p:nvSpPr>
          <p:cNvPr id="20" name="Rounded Rectangle 19"/>
          <p:cNvSpPr/>
          <p:nvPr/>
        </p:nvSpPr>
        <p:spPr>
          <a:xfrm>
            <a:off x="7964424"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432304"/>
            <a:ext cx="329184" cy="329184"/>
          </a:xfrm>
          <a:prstGeom prst="rect">
            <a:avLst/>
          </a:prstGeom>
          <a:noFill/>
        </p:spPr>
        <p:txBody>
          <a:bodyPr wrap="square">
            <a:spAutoFit/>
          </a:bodyPr>
          <a:lstStyle/>
          <a:p>
            <a:pPr algn="l"/>
            <a:r>
              <a:rPr sz="1400" b="0" i="0">
                <a:solidFill>
                  <a:srgbClr val="1E223A"/>
                </a:solidFill>
              </a:rPr>
              <a:t>⏱</a:t>
            </a:r>
          </a:p>
        </p:txBody>
      </p:sp>
      <p:sp>
        <p:nvSpPr>
          <p:cNvPr id="23" name="TextBox 22"/>
          <p:cNvSpPr txBox="1"/>
          <p:nvPr/>
        </p:nvSpPr>
        <p:spPr>
          <a:xfrm>
            <a:off x="8467344" y="2450592"/>
            <a:ext cx="2971800" cy="274320"/>
          </a:xfrm>
          <a:prstGeom prst="rect">
            <a:avLst/>
          </a:prstGeom>
          <a:noFill/>
        </p:spPr>
        <p:txBody>
          <a:bodyPr wrap="square">
            <a:spAutoFit/>
          </a:bodyPr>
          <a:lstStyle/>
          <a:p>
            <a:pPr algn="l"/>
            <a:r>
              <a:rPr sz="1100" b="1" i="0">
                <a:solidFill>
                  <a:srgbClr val="0F111A"/>
                </a:solidFill>
              </a:rPr>
              <a:t>Drift is invisible until quarter-end</a:t>
            </a:r>
          </a:p>
        </p:txBody>
      </p:sp>
      <p:sp>
        <p:nvSpPr>
          <p:cNvPr id="24" name="TextBox 23"/>
          <p:cNvSpPr txBox="1"/>
          <p:nvPr/>
        </p:nvSpPr>
        <p:spPr>
          <a:xfrm>
            <a:off x="8092440" y="2798064"/>
            <a:ext cx="3328416" cy="841248"/>
          </a:xfrm>
          <a:prstGeom prst="rect">
            <a:avLst/>
          </a:prstGeom>
          <a:noFill/>
        </p:spPr>
        <p:txBody>
          <a:bodyPr wrap="square">
            <a:spAutoFit/>
          </a:bodyPr>
          <a:lstStyle/>
          <a:p>
            <a:pPr algn="l"/>
            <a:r>
              <a:rPr sz="950" b="0" i="0">
                <a:solidFill>
                  <a:srgbClr val="6B7396"/>
                </a:solidFill>
              </a:rPr>
              <a:t>By the time portfolio reports surface the misalignment, the PI is over. Leadership ends up reacting to last quarter's problem, not this one.</a:t>
            </a:r>
          </a:p>
        </p:txBody>
      </p:sp>
      <p:sp>
        <p:nvSpPr>
          <p:cNvPr id="25" name="Rounded Rectangle 24"/>
          <p:cNvSpPr/>
          <p:nvPr/>
        </p:nvSpPr>
        <p:spPr>
          <a:xfrm>
            <a:off x="502920"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 y="3986784"/>
            <a:ext cx="329184" cy="329184"/>
          </a:xfrm>
          <a:prstGeom prst="rect">
            <a:avLst/>
          </a:prstGeom>
          <a:noFill/>
        </p:spPr>
        <p:txBody>
          <a:bodyPr wrap="square">
            <a:spAutoFit/>
          </a:bodyPr>
          <a:lstStyle/>
          <a:p>
            <a:pPr algn="l"/>
            <a:r>
              <a:rPr sz="1400" b="0" i="0">
                <a:solidFill>
                  <a:srgbClr val="1E223A"/>
                </a:solidFill>
              </a:rPr>
              <a:t>🎯</a:t>
            </a:r>
          </a:p>
        </p:txBody>
      </p:sp>
      <p:sp>
        <p:nvSpPr>
          <p:cNvPr id="28" name="TextBox 27"/>
          <p:cNvSpPr txBox="1"/>
          <p:nvPr/>
        </p:nvSpPr>
        <p:spPr>
          <a:xfrm>
            <a:off x="1005840" y="4005072"/>
            <a:ext cx="2971800" cy="274320"/>
          </a:xfrm>
          <a:prstGeom prst="rect">
            <a:avLst/>
          </a:prstGeom>
          <a:noFill/>
        </p:spPr>
        <p:txBody>
          <a:bodyPr wrap="square">
            <a:spAutoFit/>
          </a:bodyPr>
          <a:lstStyle/>
          <a:p>
            <a:pPr algn="l"/>
            <a:r>
              <a:rPr sz="1100" b="1" i="0">
                <a:solidFill>
                  <a:srgbClr val="0F111A"/>
                </a:solidFill>
              </a:rPr>
              <a:t>No in-PI course-correction lever</a:t>
            </a:r>
          </a:p>
        </p:txBody>
      </p:sp>
      <p:sp>
        <p:nvSpPr>
          <p:cNvPr id="29" name="TextBox 28"/>
          <p:cNvSpPr txBox="1"/>
          <p:nvPr/>
        </p:nvSpPr>
        <p:spPr>
          <a:xfrm>
            <a:off x="630936" y="4352544"/>
            <a:ext cx="3328416" cy="841248"/>
          </a:xfrm>
          <a:prstGeom prst="rect">
            <a:avLst/>
          </a:prstGeom>
          <a:noFill/>
        </p:spPr>
        <p:txBody>
          <a:bodyPr wrap="square">
            <a:spAutoFit/>
          </a:bodyPr>
          <a:lstStyle/>
          <a:p>
            <a:pPr algn="l"/>
            <a:r>
              <a:rPr sz="950" b="0" i="0">
                <a:solidFill>
                  <a:srgbClr val="6B7396"/>
                </a:solidFill>
              </a:rPr>
              <a:t>Even when drift is suspected, there's no fast way to surface mismatched stories — no mechanism to redirect effort while the PI is still live.</a:t>
            </a:r>
          </a:p>
        </p:txBody>
      </p:sp>
      <p:sp>
        <p:nvSpPr>
          <p:cNvPr id="30" name="Rounded Rectangle 29"/>
          <p:cNvSpPr/>
          <p:nvPr/>
        </p:nvSpPr>
        <p:spPr>
          <a:xfrm>
            <a:off x="4233672"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33672"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61688" y="3986784"/>
            <a:ext cx="329184" cy="329184"/>
          </a:xfrm>
          <a:prstGeom prst="rect">
            <a:avLst/>
          </a:prstGeom>
          <a:noFill/>
        </p:spPr>
        <p:txBody>
          <a:bodyPr wrap="square">
            <a:spAutoFit/>
          </a:bodyPr>
          <a:lstStyle/>
          <a:p>
            <a:pPr algn="l"/>
            <a:r>
              <a:rPr sz="1400" b="0" i="0">
                <a:solidFill>
                  <a:srgbClr val="1E223A"/>
                </a:solidFill>
              </a:rPr>
              <a:t>🔍</a:t>
            </a:r>
          </a:p>
        </p:txBody>
      </p:sp>
      <p:sp>
        <p:nvSpPr>
          <p:cNvPr id="33" name="TextBox 32"/>
          <p:cNvSpPr txBox="1"/>
          <p:nvPr/>
        </p:nvSpPr>
        <p:spPr>
          <a:xfrm>
            <a:off x="4736592" y="4005072"/>
            <a:ext cx="2971800" cy="274320"/>
          </a:xfrm>
          <a:prstGeom prst="rect">
            <a:avLst/>
          </a:prstGeom>
          <a:noFill/>
        </p:spPr>
        <p:txBody>
          <a:bodyPr wrap="square">
            <a:spAutoFit/>
          </a:bodyPr>
          <a:lstStyle/>
          <a:p>
            <a:pPr algn="l"/>
            <a:r>
              <a:rPr sz="1100" b="1" i="0">
                <a:solidFill>
                  <a:srgbClr val="0F111A"/>
                </a:solidFill>
              </a:rPr>
              <a:t>No audit trail when tags are challenged</a:t>
            </a:r>
          </a:p>
        </p:txBody>
      </p:sp>
      <p:sp>
        <p:nvSpPr>
          <p:cNvPr id="34" name="TextBox 33"/>
          <p:cNvSpPr txBox="1"/>
          <p:nvPr/>
        </p:nvSpPr>
        <p:spPr>
          <a:xfrm>
            <a:off x="4361688" y="4352544"/>
            <a:ext cx="3328416" cy="841248"/>
          </a:xfrm>
          <a:prstGeom prst="rect">
            <a:avLst/>
          </a:prstGeom>
          <a:noFill/>
        </p:spPr>
        <p:txBody>
          <a:bodyPr wrap="square">
            <a:spAutoFit/>
          </a:bodyPr>
          <a:lstStyle/>
          <a:p>
            <a:pPr algn="l"/>
            <a:r>
              <a:rPr sz="950" b="0" i="0">
                <a:solidFill>
                  <a:srgbClr val="6B7396"/>
                </a:solidFill>
              </a:rPr>
              <a:t>When a classification is disputed — 'why is this tagged ORANGE?' — there's no record of who tagged it, the reasoning, or which WAF version was active.</a:t>
            </a:r>
          </a:p>
        </p:txBody>
      </p:sp>
      <p:sp>
        <p:nvSpPr>
          <p:cNvPr id="35" name="Rounded Rectangle 34"/>
          <p:cNvSpPr/>
          <p:nvPr/>
        </p:nvSpPr>
        <p:spPr>
          <a:xfrm>
            <a:off x="7964424"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64424"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92440" y="3986784"/>
            <a:ext cx="329184" cy="329184"/>
          </a:xfrm>
          <a:prstGeom prst="rect">
            <a:avLst/>
          </a:prstGeom>
          <a:noFill/>
        </p:spPr>
        <p:txBody>
          <a:bodyPr wrap="square">
            <a:spAutoFit/>
          </a:bodyPr>
          <a:lstStyle/>
          <a:p>
            <a:pPr algn="l"/>
            <a:r>
              <a:rPr sz="1400" b="0" i="0">
                <a:solidFill>
                  <a:srgbClr val="1E223A"/>
                </a:solidFill>
              </a:rPr>
              <a:t>📊</a:t>
            </a:r>
          </a:p>
        </p:txBody>
      </p:sp>
      <p:sp>
        <p:nvSpPr>
          <p:cNvPr id="38" name="TextBox 37"/>
          <p:cNvSpPr txBox="1"/>
          <p:nvPr/>
        </p:nvSpPr>
        <p:spPr>
          <a:xfrm>
            <a:off x="8467344" y="4005072"/>
            <a:ext cx="2971800" cy="274320"/>
          </a:xfrm>
          <a:prstGeom prst="rect">
            <a:avLst/>
          </a:prstGeom>
          <a:noFill/>
        </p:spPr>
        <p:txBody>
          <a:bodyPr wrap="square">
            <a:spAutoFit/>
          </a:bodyPr>
          <a:lstStyle/>
          <a:p>
            <a:pPr algn="l"/>
            <a:r>
              <a:rPr sz="1100" b="1" i="0">
                <a:solidFill>
                  <a:srgbClr val="0F111A"/>
                </a:solidFill>
              </a:rPr>
              <a:t>Manual review doesn't scale</a:t>
            </a:r>
          </a:p>
        </p:txBody>
      </p:sp>
      <p:sp>
        <p:nvSpPr>
          <p:cNvPr id="39" name="TextBox 38"/>
          <p:cNvSpPr txBox="1"/>
          <p:nvPr/>
        </p:nvSpPr>
        <p:spPr>
          <a:xfrm>
            <a:off x="8092440" y="4352544"/>
            <a:ext cx="3328416" cy="841248"/>
          </a:xfrm>
          <a:prstGeom prst="rect">
            <a:avLst/>
          </a:prstGeom>
          <a:noFill/>
        </p:spPr>
        <p:txBody>
          <a:bodyPr wrap="square">
            <a:spAutoFit/>
          </a:bodyPr>
          <a:lstStyle/>
          <a:p>
            <a:pPr algn="l"/>
            <a:r>
              <a:rPr sz="950" b="0" i="0">
                <a:solidFill>
                  <a:srgbClr val="6B7396"/>
                </a:solidFill>
              </a:rPr>
              <a:t>Thousands of stories per PI, hundreds of teams. Central QA becomes the bottleneck — and gets skipped when deadlines hit.</a:t>
            </a:r>
          </a:p>
        </p:txBody>
      </p:sp>
      <p:sp>
        <p:nvSpPr>
          <p:cNvPr id="40" name="Rectangle 39"/>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819900"/>
            <a:ext cx="1875223"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3" name="TextBox 42"/>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PLATFORM</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8 Modules — One Platform</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Surface area at a glance. Each module is detailed in the appendix.</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11155680" cy="329184"/>
          </a:xfrm>
          <a:prstGeom prst="rect">
            <a:avLst/>
          </a:prstGeom>
          <a:solidFill>
            <a:srgbClr val="F0F2F9"/>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1755648"/>
            <a:ext cx="2286000" cy="219456"/>
          </a:xfrm>
          <a:prstGeom prst="rect">
            <a:avLst/>
          </a:prstGeom>
          <a:noFill/>
        </p:spPr>
        <p:txBody>
          <a:bodyPr wrap="square">
            <a:spAutoFit/>
          </a:bodyPr>
          <a:lstStyle/>
          <a:p>
            <a:pPr algn="l"/>
            <a:r>
              <a:rPr sz="900" b="1" i="0">
                <a:solidFill>
                  <a:srgbClr val="6B7396"/>
                </a:solidFill>
              </a:rPr>
              <a:t>Module</a:t>
            </a:r>
          </a:p>
        </p:txBody>
      </p:sp>
      <p:sp>
        <p:nvSpPr>
          <p:cNvPr id="10" name="TextBox 9"/>
          <p:cNvSpPr txBox="1"/>
          <p:nvPr/>
        </p:nvSpPr>
        <p:spPr>
          <a:xfrm>
            <a:off x="3749039" y="1755648"/>
            <a:ext cx="6400800" cy="219456"/>
          </a:xfrm>
          <a:prstGeom prst="rect">
            <a:avLst/>
          </a:prstGeom>
          <a:noFill/>
        </p:spPr>
        <p:txBody>
          <a:bodyPr wrap="square">
            <a:spAutoFit/>
          </a:bodyPr>
          <a:lstStyle/>
          <a:p>
            <a:pPr algn="l"/>
            <a:r>
              <a:rPr sz="900" b="1" i="0">
                <a:solidFill>
                  <a:srgbClr val="6B7396"/>
                </a:solidFill>
              </a:rPr>
              <a:t>Description</a:t>
            </a:r>
          </a:p>
        </p:txBody>
      </p:sp>
      <p:sp>
        <p:nvSpPr>
          <p:cNvPr id="11" name="TextBox 10"/>
          <p:cNvSpPr txBox="1"/>
          <p:nvPr/>
        </p:nvSpPr>
        <p:spPr>
          <a:xfrm>
            <a:off x="10424160" y="1755648"/>
            <a:ext cx="1097280" cy="219456"/>
          </a:xfrm>
          <a:prstGeom prst="rect">
            <a:avLst/>
          </a:prstGeom>
          <a:noFill/>
        </p:spPr>
        <p:txBody>
          <a:bodyPr wrap="square">
            <a:spAutoFit/>
          </a:bodyPr>
          <a:lstStyle/>
          <a:p>
            <a:pPr algn="r"/>
            <a:r>
              <a:rPr sz="900" b="1" i="0">
                <a:solidFill>
                  <a:srgbClr val="6B7396"/>
                </a:solidFill>
              </a:rPr>
              <a:t>Scope</a:t>
            </a:r>
          </a:p>
        </p:txBody>
      </p:sp>
      <p:sp>
        <p:nvSpPr>
          <p:cNvPr id="12" name="Rectangle 11"/>
          <p:cNvSpPr/>
          <p:nvPr/>
        </p:nvSpPr>
        <p:spPr>
          <a:xfrm>
            <a:off x="502920" y="202996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21408"/>
            <a:ext cx="365760" cy="365760"/>
          </a:xfrm>
          <a:prstGeom prst="rect">
            <a:avLst/>
          </a:prstGeom>
          <a:noFill/>
        </p:spPr>
        <p:txBody>
          <a:bodyPr wrap="square">
            <a:spAutoFit/>
          </a:bodyPr>
          <a:lstStyle/>
          <a:p>
            <a:pPr algn="l"/>
            <a:r>
              <a:rPr sz="1500" b="0" i="0">
                <a:solidFill>
                  <a:srgbClr val="1E223A"/>
                </a:solidFill>
              </a:rPr>
              <a:t>🤖</a:t>
            </a:r>
          </a:p>
        </p:txBody>
      </p:sp>
      <p:sp>
        <p:nvSpPr>
          <p:cNvPr id="14" name="TextBox 13"/>
          <p:cNvSpPr txBox="1"/>
          <p:nvPr/>
        </p:nvSpPr>
        <p:spPr>
          <a:xfrm>
            <a:off x="1115568" y="2148840"/>
            <a:ext cx="2423160" cy="310896"/>
          </a:xfrm>
          <a:prstGeom prst="rect">
            <a:avLst/>
          </a:prstGeom>
          <a:noFill/>
        </p:spPr>
        <p:txBody>
          <a:bodyPr wrap="square">
            <a:spAutoFit/>
          </a:bodyPr>
          <a:lstStyle/>
          <a:p>
            <a:pPr algn="l"/>
            <a:r>
              <a:rPr sz="1150" b="1" i="0">
                <a:solidFill>
                  <a:srgbClr val="0F111A"/>
                </a:solidFill>
              </a:rPr>
              <a:t>Classification</a:t>
            </a:r>
          </a:p>
        </p:txBody>
      </p:sp>
      <p:sp>
        <p:nvSpPr>
          <p:cNvPr id="15" name="TextBox 14"/>
          <p:cNvSpPr txBox="1"/>
          <p:nvPr/>
        </p:nvSpPr>
        <p:spPr>
          <a:xfrm>
            <a:off x="3749039" y="2148840"/>
            <a:ext cx="6492240" cy="310896"/>
          </a:xfrm>
          <a:prstGeom prst="rect">
            <a:avLst/>
          </a:prstGeom>
          <a:noFill/>
        </p:spPr>
        <p:txBody>
          <a:bodyPr wrap="square">
            <a:spAutoFit/>
          </a:bodyPr>
          <a:lstStyle/>
          <a:p>
            <a:pPr algn="l"/>
            <a:r>
              <a:rPr sz="1050" b="0" i="0">
                <a:solidFill>
                  <a:srgbClr val="1E223A"/>
                </a:solidFill>
              </a:rPr>
              <a:t>Single-story chat classification and async bulk file verification using AI</a:t>
            </a:r>
          </a:p>
        </p:txBody>
      </p:sp>
      <p:sp>
        <p:nvSpPr>
          <p:cNvPr id="16" name="TextBox 15"/>
          <p:cNvSpPr txBox="1"/>
          <p:nvPr/>
        </p:nvSpPr>
        <p:spPr>
          <a:xfrm>
            <a:off x="10241280" y="2148840"/>
            <a:ext cx="1234440" cy="310896"/>
          </a:xfrm>
          <a:prstGeom prst="rect">
            <a:avLst/>
          </a:prstGeom>
          <a:noFill/>
        </p:spPr>
        <p:txBody>
          <a:bodyPr wrap="square">
            <a:spAutoFit/>
          </a:bodyPr>
          <a:lstStyle/>
          <a:p>
            <a:pPr algn="r"/>
            <a:r>
              <a:rPr sz="1100" b="1" i="0">
                <a:solidFill>
                  <a:srgbClr val="5B52E8"/>
                </a:solidFill>
              </a:rPr>
              <a:t>7 capabilities</a:t>
            </a:r>
          </a:p>
        </p:txBody>
      </p:sp>
      <p:sp>
        <p:nvSpPr>
          <p:cNvPr id="17" name="Rectangle 16"/>
          <p:cNvSpPr/>
          <p:nvPr/>
        </p:nvSpPr>
        <p:spPr>
          <a:xfrm>
            <a:off x="502920" y="257860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670048"/>
            <a:ext cx="365760" cy="365760"/>
          </a:xfrm>
          <a:prstGeom prst="rect">
            <a:avLst/>
          </a:prstGeom>
          <a:noFill/>
        </p:spPr>
        <p:txBody>
          <a:bodyPr wrap="square">
            <a:spAutoFit/>
          </a:bodyPr>
          <a:lstStyle/>
          <a:p>
            <a:pPr algn="l"/>
            <a:r>
              <a:rPr sz="1500" b="0" i="0">
                <a:solidFill>
                  <a:srgbClr val="1E223A"/>
                </a:solidFill>
              </a:rPr>
              <a:t>📊</a:t>
            </a:r>
          </a:p>
        </p:txBody>
      </p:sp>
      <p:sp>
        <p:nvSpPr>
          <p:cNvPr id="19" name="TextBox 18"/>
          <p:cNvSpPr txBox="1"/>
          <p:nvPr/>
        </p:nvSpPr>
        <p:spPr>
          <a:xfrm>
            <a:off x="1115568" y="2697480"/>
            <a:ext cx="2423160" cy="310896"/>
          </a:xfrm>
          <a:prstGeom prst="rect">
            <a:avLst/>
          </a:prstGeom>
          <a:noFill/>
        </p:spPr>
        <p:txBody>
          <a:bodyPr wrap="square">
            <a:spAutoFit/>
          </a:bodyPr>
          <a:lstStyle/>
          <a:p>
            <a:pPr algn="l"/>
            <a:r>
              <a:rPr sz="1150" b="1" i="0">
                <a:solidFill>
                  <a:srgbClr val="0F111A"/>
                </a:solidFill>
              </a:rPr>
              <a:t>Analytics &amp; History</a:t>
            </a:r>
          </a:p>
        </p:txBody>
      </p:sp>
      <p:sp>
        <p:nvSpPr>
          <p:cNvPr id="20" name="TextBox 19"/>
          <p:cNvSpPr txBox="1"/>
          <p:nvPr/>
        </p:nvSpPr>
        <p:spPr>
          <a:xfrm>
            <a:off x="3749039" y="2697480"/>
            <a:ext cx="6492240" cy="310896"/>
          </a:xfrm>
          <a:prstGeom prst="rect">
            <a:avLst/>
          </a:prstGeom>
          <a:noFill/>
        </p:spPr>
        <p:txBody>
          <a:bodyPr wrap="square">
            <a:spAutoFit/>
          </a:bodyPr>
          <a:lstStyle/>
          <a:p>
            <a:pPr algn="l"/>
            <a:r>
              <a:rPr sz="1050" b="0" i="0">
                <a:solidFill>
                  <a:srgbClr val="1E223A"/>
                </a:solidFill>
              </a:rPr>
              <a:t>Dashboards, full-text search, exports, and AI narratives</a:t>
            </a:r>
          </a:p>
        </p:txBody>
      </p:sp>
      <p:sp>
        <p:nvSpPr>
          <p:cNvPr id="21" name="TextBox 20"/>
          <p:cNvSpPr txBox="1"/>
          <p:nvPr/>
        </p:nvSpPr>
        <p:spPr>
          <a:xfrm>
            <a:off x="10241280" y="2697480"/>
            <a:ext cx="1234440" cy="310896"/>
          </a:xfrm>
          <a:prstGeom prst="rect">
            <a:avLst/>
          </a:prstGeom>
          <a:noFill/>
        </p:spPr>
        <p:txBody>
          <a:bodyPr wrap="square">
            <a:spAutoFit/>
          </a:bodyPr>
          <a:lstStyle/>
          <a:p>
            <a:pPr algn="r"/>
            <a:r>
              <a:rPr sz="1100" b="1" i="0">
                <a:solidFill>
                  <a:srgbClr val="5B52E8"/>
                </a:solidFill>
              </a:rPr>
              <a:t>5 capabilities</a:t>
            </a:r>
          </a:p>
        </p:txBody>
      </p:sp>
      <p:sp>
        <p:nvSpPr>
          <p:cNvPr id="22" name="Rectangle 21"/>
          <p:cNvSpPr/>
          <p:nvPr/>
        </p:nvSpPr>
        <p:spPr>
          <a:xfrm>
            <a:off x="502920" y="312724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218688"/>
            <a:ext cx="365760" cy="365760"/>
          </a:xfrm>
          <a:prstGeom prst="rect">
            <a:avLst/>
          </a:prstGeom>
          <a:noFill/>
        </p:spPr>
        <p:txBody>
          <a:bodyPr wrap="square">
            <a:spAutoFit/>
          </a:bodyPr>
          <a:lstStyle/>
          <a:p>
            <a:pPr algn="l"/>
            <a:r>
              <a:rPr sz="1500" b="0" i="0">
                <a:solidFill>
                  <a:srgbClr val="1E223A"/>
                </a:solidFill>
              </a:rPr>
              <a:t>🔀</a:t>
            </a:r>
          </a:p>
        </p:txBody>
      </p:sp>
      <p:sp>
        <p:nvSpPr>
          <p:cNvPr id="24" name="TextBox 23"/>
          <p:cNvSpPr txBox="1"/>
          <p:nvPr/>
        </p:nvSpPr>
        <p:spPr>
          <a:xfrm>
            <a:off x="1115568" y="3246120"/>
            <a:ext cx="2423160" cy="310896"/>
          </a:xfrm>
          <a:prstGeom prst="rect">
            <a:avLst/>
          </a:prstGeom>
          <a:noFill/>
        </p:spPr>
        <p:txBody>
          <a:bodyPr wrap="square">
            <a:spAutoFit/>
          </a:bodyPr>
          <a:lstStyle/>
          <a:p>
            <a:pPr algn="l"/>
            <a:r>
              <a:rPr sz="1150" b="1" i="0">
                <a:solidFill>
                  <a:srgbClr val="0F111A"/>
                </a:solidFill>
              </a:rPr>
              <a:t>File Merge</a:t>
            </a:r>
          </a:p>
        </p:txBody>
      </p:sp>
      <p:sp>
        <p:nvSpPr>
          <p:cNvPr id="25" name="TextBox 24"/>
          <p:cNvSpPr txBox="1"/>
          <p:nvPr/>
        </p:nvSpPr>
        <p:spPr>
          <a:xfrm>
            <a:off x="3749039" y="3246120"/>
            <a:ext cx="6492240" cy="310896"/>
          </a:xfrm>
          <a:prstGeom prst="rect">
            <a:avLst/>
          </a:prstGeom>
          <a:noFill/>
        </p:spPr>
        <p:txBody>
          <a:bodyPr wrap="square">
            <a:spAutoFit/>
          </a:bodyPr>
          <a:lstStyle/>
          <a:p>
            <a:pPr algn="l"/>
            <a:r>
              <a:rPr sz="1050" b="0" i="0">
                <a:solidFill>
                  <a:srgbClr val="1E223A"/>
                </a:solidFill>
              </a:rPr>
              <a:t>Join separate Epic, Feature, and Story JIRA exports into one clean file</a:t>
            </a:r>
          </a:p>
        </p:txBody>
      </p:sp>
      <p:sp>
        <p:nvSpPr>
          <p:cNvPr id="26" name="TextBox 25"/>
          <p:cNvSpPr txBox="1"/>
          <p:nvPr/>
        </p:nvSpPr>
        <p:spPr>
          <a:xfrm>
            <a:off x="10241280" y="3246120"/>
            <a:ext cx="1234440" cy="310896"/>
          </a:xfrm>
          <a:prstGeom prst="rect">
            <a:avLst/>
          </a:prstGeom>
          <a:noFill/>
        </p:spPr>
        <p:txBody>
          <a:bodyPr wrap="square">
            <a:spAutoFit/>
          </a:bodyPr>
          <a:lstStyle/>
          <a:p>
            <a:pPr algn="r"/>
            <a:r>
              <a:rPr sz="1100" b="1" i="0">
                <a:solidFill>
                  <a:srgbClr val="5B52E8"/>
                </a:solidFill>
              </a:rPr>
              <a:t>3 capabilities</a:t>
            </a:r>
          </a:p>
        </p:txBody>
      </p:sp>
      <p:sp>
        <p:nvSpPr>
          <p:cNvPr id="27" name="Rectangle 26"/>
          <p:cNvSpPr/>
          <p:nvPr/>
        </p:nvSpPr>
        <p:spPr>
          <a:xfrm>
            <a:off x="502920" y="367588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67328"/>
            <a:ext cx="365760" cy="365760"/>
          </a:xfrm>
          <a:prstGeom prst="rect">
            <a:avLst/>
          </a:prstGeom>
          <a:noFill/>
        </p:spPr>
        <p:txBody>
          <a:bodyPr wrap="square">
            <a:spAutoFit/>
          </a:bodyPr>
          <a:lstStyle/>
          <a:p>
            <a:pPr algn="l"/>
            <a:r>
              <a:rPr sz="1500" b="0" i="0">
                <a:solidFill>
                  <a:srgbClr val="1E223A"/>
                </a:solidFill>
              </a:rPr>
              <a:t>👥</a:t>
            </a:r>
          </a:p>
        </p:txBody>
      </p:sp>
      <p:sp>
        <p:nvSpPr>
          <p:cNvPr id="29" name="TextBox 28"/>
          <p:cNvSpPr txBox="1"/>
          <p:nvPr/>
        </p:nvSpPr>
        <p:spPr>
          <a:xfrm>
            <a:off x="1115568" y="3794760"/>
            <a:ext cx="2423160" cy="310896"/>
          </a:xfrm>
          <a:prstGeom prst="rect">
            <a:avLst/>
          </a:prstGeom>
          <a:noFill/>
        </p:spPr>
        <p:txBody>
          <a:bodyPr wrap="square">
            <a:spAutoFit/>
          </a:bodyPr>
          <a:lstStyle/>
          <a:p>
            <a:pPr algn="l"/>
            <a:r>
              <a:rPr sz="1150" b="1" i="0">
                <a:solidFill>
                  <a:srgbClr val="0F111A"/>
                </a:solidFill>
              </a:rPr>
              <a:t>Teams</a:t>
            </a:r>
          </a:p>
        </p:txBody>
      </p:sp>
      <p:sp>
        <p:nvSpPr>
          <p:cNvPr id="30" name="TextBox 29"/>
          <p:cNvSpPr txBox="1"/>
          <p:nvPr/>
        </p:nvSpPr>
        <p:spPr>
          <a:xfrm>
            <a:off x="3749039" y="3794760"/>
            <a:ext cx="6492240" cy="310896"/>
          </a:xfrm>
          <a:prstGeom prst="rect">
            <a:avLst/>
          </a:prstGeom>
          <a:noFill/>
        </p:spPr>
        <p:txBody>
          <a:bodyPr wrap="square">
            <a:spAutoFit/>
          </a:bodyPr>
          <a:lstStyle/>
          <a:p>
            <a:pPr algn="l"/>
            <a:r>
              <a:rPr sz="1050" b="0" i="0">
                <a:solidFill>
                  <a:srgbClr val="1E223A"/>
                </a:solidFill>
              </a:rPr>
              <a:t>Team-level WAF analytics, cross-team epic views, and Team of Teams rollups</a:t>
            </a:r>
          </a:p>
        </p:txBody>
      </p:sp>
      <p:sp>
        <p:nvSpPr>
          <p:cNvPr id="31" name="TextBox 30"/>
          <p:cNvSpPr txBox="1"/>
          <p:nvPr/>
        </p:nvSpPr>
        <p:spPr>
          <a:xfrm>
            <a:off x="10241280" y="3794760"/>
            <a:ext cx="1234440" cy="310896"/>
          </a:xfrm>
          <a:prstGeom prst="rect">
            <a:avLst/>
          </a:prstGeom>
          <a:noFill/>
        </p:spPr>
        <p:txBody>
          <a:bodyPr wrap="square">
            <a:spAutoFit/>
          </a:bodyPr>
          <a:lstStyle/>
          <a:p>
            <a:pPr algn="r"/>
            <a:r>
              <a:rPr sz="1100" b="1" i="0">
                <a:solidFill>
                  <a:srgbClr val="5B52E8"/>
                </a:solidFill>
              </a:rPr>
              <a:t>4 capabilities</a:t>
            </a:r>
          </a:p>
        </p:txBody>
      </p:sp>
      <p:sp>
        <p:nvSpPr>
          <p:cNvPr id="32" name="Rectangle 31"/>
          <p:cNvSpPr/>
          <p:nvPr/>
        </p:nvSpPr>
        <p:spPr>
          <a:xfrm>
            <a:off x="502920" y="422452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315968"/>
            <a:ext cx="365760" cy="365760"/>
          </a:xfrm>
          <a:prstGeom prst="rect">
            <a:avLst/>
          </a:prstGeom>
          <a:noFill/>
        </p:spPr>
        <p:txBody>
          <a:bodyPr wrap="square">
            <a:spAutoFit/>
          </a:bodyPr>
          <a:lstStyle/>
          <a:p>
            <a:pPr algn="l"/>
            <a:r>
              <a:rPr sz="1500" b="0" i="0">
                <a:solidFill>
                  <a:srgbClr val="1E223A"/>
                </a:solidFill>
              </a:rPr>
              <a:t>🏆</a:t>
            </a:r>
          </a:p>
        </p:txBody>
      </p:sp>
      <p:sp>
        <p:nvSpPr>
          <p:cNvPr id="34" name="TextBox 33"/>
          <p:cNvSpPr txBox="1"/>
          <p:nvPr/>
        </p:nvSpPr>
        <p:spPr>
          <a:xfrm>
            <a:off x="1115568" y="4343400"/>
            <a:ext cx="2423160" cy="310896"/>
          </a:xfrm>
          <a:prstGeom prst="rect">
            <a:avLst/>
          </a:prstGeom>
          <a:noFill/>
        </p:spPr>
        <p:txBody>
          <a:bodyPr wrap="square">
            <a:spAutoFit/>
          </a:bodyPr>
          <a:lstStyle/>
          <a:p>
            <a:pPr algn="l"/>
            <a:r>
              <a:rPr sz="1150" b="1" i="0">
                <a:solidFill>
                  <a:srgbClr val="0F111A"/>
                </a:solidFill>
              </a:rPr>
              <a:t>Story Quality</a:t>
            </a:r>
          </a:p>
        </p:txBody>
      </p:sp>
      <p:sp>
        <p:nvSpPr>
          <p:cNvPr id="35" name="TextBox 34"/>
          <p:cNvSpPr txBox="1"/>
          <p:nvPr/>
        </p:nvSpPr>
        <p:spPr>
          <a:xfrm>
            <a:off x="3749039" y="4343400"/>
            <a:ext cx="6492240" cy="310896"/>
          </a:xfrm>
          <a:prstGeom prst="rect">
            <a:avLst/>
          </a:prstGeom>
          <a:noFill/>
        </p:spPr>
        <p:txBody>
          <a:bodyPr wrap="square">
            <a:spAutoFit/>
          </a:bodyPr>
          <a:lstStyle/>
          <a:p>
            <a:pPr algn="l"/>
            <a:r>
              <a:rPr sz="1050" b="0" i="0">
                <a:solidFill>
                  <a:srgbClr val="1E223A"/>
                </a:solidFill>
              </a:rPr>
              <a:t>AI-powered Definition of Ready scoring, chat refinement, and story rewrites</a:t>
            </a:r>
          </a:p>
        </p:txBody>
      </p:sp>
      <p:sp>
        <p:nvSpPr>
          <p:cNvPr id="36" name="TextBox 35"/>
          <p:cNvSpPr txBox="1"/>
          <p:nvPr/>
        </p:nvSpPr>
        <p:spPr>
          <a:xfrm>
            <a:off x="10241280" y="4343400"/>
            <a:ext cx="1234440" cy="310896"/>
          </a:xfrm>
          <a:prstGeom prst="rect">
            <a:avLst/>
          </a:prstGeom>
          <a:noFill/>
        </p:spPr>
        <p:txBody>
          <a:bodyPr wrap="square">
            <a:spAutoFit/>
          </a:bodyPr>
          <a:lstStyle/>
          <a:p>
            <a:pPr algn="r"/>
            <a:r>
              <a:rPr sz="1100" b="1" i="0">
                <a:solidFill>
                  <a:srgbClr val="5B52E8"/>
                </a:solidFill>
              </a:rPr>
              <a:t>5 capabilities</a:t>
            </a:r>
          </a:p>
        </p:txBody>
      </p:sp>
      <p:sp>
        <p:nvSpPr>
          <p:cNvPr id="37" name="Rectangle 36"/>
          <p:cNvSpPr/>
          <p:nvPr/>
        </p:nvSpPr>
        <p:spPr>
          <a:xfrm>
            <a:off x="502920" y="477316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864608"/>
            <a:ext cx="365760" cy="365760"/>
          </a:xfrm>
          <a:prstGeom prst="rect">
            <a:avLst/>
          </a:prstGeom>
          <a:noFill/>
        </p:spPr>
        <p:txBody>
          <a:bodyPr wrap="square">
            <a:spAutoFit/>
          </a:bodyPr>
          <a:lstStyle/>
          <a:p>
            <a:pPr algn="l"/>
            <a:r>
              <a:rPr sz="1500" b="0" i="0">
                <a:solidFill>
                  <a:srgbClr val="1E223A"/>
                </a:solidFill>
              </a:rPr>
              <a:t>🏗</a:t>
            </a:r>
          </a:p>
        </p:txBody>
      </p:sp>
      <p:sp>
        <p:nvSpPr>
          <p:cNvPr id="39" name="TextBox 38"/>
          <p:cNvSpPr txBox="1"/>
          <p:nvPr/>
        </p:nvSpPr>
        <p:spPr>
          <a:xfrm>
            <a:off x="1115568" y="4892040"/>
            <a:ext cx="2423160" cy="310896"/>
          </a:xfrm>
          <a:prstGeom prst="rect">
            <a:avLst/>
          </a:prstGeom>
          <a:noFill/>
        </p:spPr>
        <p:txBody>
          <a:bodyPr wrap="square">
            <a:spAutoFit/>
          </a:bodyPr>
          <a:lstStyle/>
          <a:p>
            <a:pPr algn="l"/>
            <a:r>
              <a:rPr sz="1150" b="1" i="0">
                <a:solidFill>
                  <a:srgbClr val="0F111A"/>
                </a:solidFill>
              </a:rPr>
              <a:t>Epic Lineage</a:t>
            </a:r>
          </a:p>
        </p:txBody>
      </p:sp>
      <p:sp>
        <p:nvSpPr>
          <p:cNvPr id="40" name="TextBox 39"/>
          <p:cNvSpPr txBox="1"/>
          <p:nvPr/>
        </p:nvSpPr>
        <p:spPr>
          <a:xfrm>
            <a:off x="3749039" y="4892040"/>
            <a:ext cx="6492240" cy="310896"/>
          </a:xfrm>
          <a:prstGeom prst="rect">
            <a:avLst/>
          </a:prstGeom>
          <a:noFill/>
        </p:spPr>
        <p:txBody>
          <a:bodyPr wrap="square">
            <a:spAutoFit/>
          </a:bodyPr>
          <a:lstStyle/>
          <a:p>
            <a:pPr algn="l"/>
            <a:r>
              <a:rPr sz="1050" b="0" i="0">
                <a:solidFill>
                  <a:srgbClr val="1E223A"/>
                </a:solidFill>
              </a:rPr>
              <a:t>Epic health scoring, hierarchy trees, and cross-team epic assignment</a:t>
            </a:r>
          </a:p>
        </p:txBody>
      </p:sp>
      <p:sp>
        <p:nvSpPr>
          <p:cNvPr id="41" name="TextBox 40"/>
          <p:cNvSpPr txBox="1"/>
          <p:nvPr/>
        </p:nvSpPr>
        <p:spPr>
          <a:xfrm>
            <a:off x="10241280" y="4892040"/>
            <a:ext cx="1234440" cy="310896"/>
          </a:xfrm>
          <a:prstGeom prst="rect">
            <a:avLst/>
          </a:prstGeom>
          <a:noFill/>
        </p:spPr>
        <p:txBody>
          <a:bodyPr wrap="square">
            <a:spAutoFit/>
          </a:bodyPr>
          <a:lstStyle/>
          <a:p>
            <a:pPr algn="r"/>
            <a:r>
              <a:rPr sz="1100" b="1" i="0">
                <a:solidFill>
                  <a:srgbClr val="5B52E8"/>
                </a:solidFill>
              </a:rPr>
              <a:t>3 capabilities</a:t>
            </a:r>
          </a:p>
        </p:txBody>
      </p:sp>
      <p:sp>
        <p:nvSpPr>
          <p:cNvPr id="42" name="Rectangle 41"/>
          <p:cNvSpPr/>
          <p:nvPr/>
        </p:nvSpPr>
        <p:spPr>
          <a:xfrm>
            <a:off x="502920" y="532180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5413248"/>
            <a:ext cx="365760" cy="365760"/>
          </a:xfrm>
          <a:prstGeom prst="rect">
            <a:avLst/>
          </a:prstGeom>
          <a:noFill/>
        </p:spPr>
        <p:txBody>
          <a:bodyPr wrap="square">
            <a:spAutoFit/>
          </a:bodyPr>
          <a:lstStyle/>
          <a:p>
            <a:pPr algn="l"/>
            <a:r>
              <a:rPr sz="1500" b="0" i="0">
                <a:solidFill>
                  <a:srgbClr val="1E223A"/>
                </a:solidFill>
              </a:rPr>
              <a:t>⚡</a:t>
            </a:r>
          </a:p>
        </p:txBody>
      </p:sp>
      <p:sp>
        <p:nvSpPr>
          <p:cNvPr id="44" name="TextBox 43"/>
          <p:cNvSpPr txBox="1"/>
          <p:nvPr/>
        </p:nvSpPr>
        <p:spPr>
          <a:xfrm>
            <a:off x="1115568" y="5440680"/>
            <a:ext cx="2423160" cy="310896"/>
          </a:xfrm>
          <a:prstGeom prst="rect">
            <a:avLst/>
          </a:prstGeom>
          <a:noFill/>
        </p:spPr>
        <p:txBody>
          <a:bodyPr wrap="square">
            <a:spAutoFit/>
          </a:bodyPr>
          <a:lstStyle/>
          <a:p>
            <a:pPr algn="l"/>
            <a:r>
              <a:rPr sz="1150" b="1" i="0">
                <a:solidFill>
                  <a:srgbClr val="0F111A"/>
                </a:solidFill>
              </a:rPr>
              <a:t>Disputes</a:t>
            </a:r>
          </a:p>
        </p:txBody>
      </p:sp>
      <p:sp>
        <p:nvSpPr>
          <p:cNvPr id="45" name="TextBox 44"/>
          <p:cNvSpPr txBox="1"/>
          <p:nvPr/>
        </p:nvSpPr>
        <p:spPr>
          <a:xfrm>
            <a:off x="3749039" y="5440680"/>
            <a:ext cx="6492240" cy="310896"/>
          </a:xfrm>
          <a:prstGeom prst="rect">
            <a:avLst/>
          </a:prstGeom>
          <a:noFill/>
        </p:spPr>
        <p:txBody>
          <a:bodyPr wrap="square">
            <a:spAutoFit/>
          </a:bodyPr>
          <a:lstStyle/>
          <a:p>
            <a:pPr algn="l"/>
            <a:r>
              <a:rPr sz="1050" b="0" i="0">
                <a:solidFill>
                  <a:srgbClr val="1E223A"/>
                </a:solidFill>
              </a:rPr>
              <a:t>Raise, queue, and resolve disagreements with AI classifications</a:t>
            </a:r>
          </a:p>
        </p:txBody>
      </p:sp>
      <p:sp>
        <p:nvSpPr>
          <p:cNvPr id="46" name="TextBox 45"/>
          <p:cNvSpPr txBox="1"/>
          <p:nvPr/>
        </p:nvSpPr>
        <p:spPr>
          <a:xfrm>
            <a:off x="10241280" y="5440680"/>
            <a:ext cx="1234440" cy="310896"/>
          </a:xfrm>
          <a:prstGeom prst="rect">
            <a:avLst/>
          </a:prstGeom>
          <a:noFill/>
        </p:spPr>
        <p:txBody>
          <a:bodyPr wrap="square">
            <a:spAutoFit/>
          </a:bodyPr>
          <a:lstStyle/>
          <a:p>
            <a:pPr algn="r"/>
            <a:r>
              <a:rPr sz="1100" b="1" i="0">
                <a:solidFill>
                  <a:srgbClr val="5B52E8"/>
                </a:solidFill>
              </a:rPr>
              <a:t>3 capabilities</a:t>
            </a:r>
          </a:p>
        </p:txBody>
      </p:sp>
      <p:sp>
        <p:nvSpPr>
          <p:cNvPr id="47" name="Rectangle 46"/>
          <p:cNvSpPr/>
          <p:nvPr/>
        </p:nvSpPr>
        <p:spPr>
          <a:xfrm>
            <a:off x="502920" y="587044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5961888"/>
            <a:ext cx="365760" cy="365760"/>
          </a:xfrm>
          <a:prstGeom prst="rect">
            <a:avLst/>
          </a:prstGeom>
          <a:noFill/>
        </p:spPr>
        <p:txBody>
          <a:bodyPr wrap="square">
            <a:spAutoFit/>
          </a:bodyPr>
          <a:lstStyle/>
          <a:p>
            <a:pPr algn="l"/>
            <a:r>
              <a:rPr sz="1500" b="0" i="0">
                <a:solidFill>
                  <a:srgbClr val="1E223A"/>
                </a:solidFill>
              </a:rPr>
              <a:t>⚙️</a:t>
            </a:r>
          </a:p>
        </p:txBody>
      </p:sp>
      <p:sp>
        <p:nvSpPr>
          <p:cNvPr id="49" name="TextBox 48"/>
          <p:cNvSpPr txBox="1"/>
          <p:nvPr/>
        </p:nvSpPr>
        <p:spPr>
          <a:xfrm>
            <a:off x="1115568" y="5989320"/>
            <a:ext cx="2423160" cy="310896"/>
          </a:xfrm>
          <a:prstGeom prst="rect">
            <a:avLst/>
          </a:prstGeom>
          <a:noFill/>
        </p:spPr>
        <p:txBody>
          <a:bodyPr wrap="square">
            <a:spAutoFit/>
          </a:bodyPr>
          <a:lstStyle/>
          <a:p>
            <a:pPr algn="l"/>
            <a:r>
              <a:rPr sz="1150" b="1" i="0">
                <a:solidFill>
                  <a:srgbClr val="0F111A"/>
                </a:solidFill>
              </a:rPr>
              <a:t>Settings &amp; Versions</a:t>
            </a:r>
          </a:p>
        </p:txBody>
      </p:sp>
      <p:sp>
        <p:nvSpPr>
          <p:cNvPr id="50" name="TextBox 49"/>
          <p:cNvSpPr txBox="1"/>
          <p:nvPr/>
        </p:nvSpPr>
        <p:spPr>
          <a:xfrm>
            <a:off x="3749039" y="5989320"/>
            <a:ext cx="6492240" cy="310896"/>
          </a:xfrm>
          <a:prstGeom prst="rect">
            <a:avLst/>
          </a:prstGeom>
          <a:noFill/>
        </p:spPr>
        <p:txBody>
          <a:bodyPr wrap="square">
            <a:spAutoFit/>
          </a:bodyPr>
          <a:lstStyle/>
          <a:p>
            <a:pPr algn="l"/>
            <a:r>
              <a:rPr sz="1050" b="0" i="0">
                <a:solidFill>
                  <a:srgbClr val="1E223A"/>
                </a:solidFill>
              </a:rPr>
              <a:t>WAF/GT file management, named versions, baselines, and system config</a:t>
            </a:r>
          </a:p>
        </p:txBody>
      </p:sp>
      <p:sp>
        <p:nvSpPr>
          <p:cNvPr id="51" name="TextBox 50"/>
          <p:cNvSpPr txBox="1"/>
          <p:nvPr/>
        </p:nvSpPr>
        <p:spPr>
          <a:xfrm>
            <a:off x="10241280" y="5989320"/>
            <a:ext cx="1234440" cy="310896"/>
          </a:xfrm>
          <a:prstGeom prst="rect">
            <a:avLst/>
          </a:prstGeom>
          <a:noFill/>
        </p:spPr>
        <p:txBody>
          <a:bodyPr wrap="square">
            <a:spAutoFit/>
          </a:bodyPr>
          <a:lstStyle/>
          <a:p>
            <a:pPr algn="r"/>
            <a:r>
              <a:rPr sz="1100" b="1" i="0">
                <a:solidFill>
                  <a:srgbClr val="5B52E8"/>
                </a:solidFill>
              </a:rPr>
              <a:t>5 capabilities</a:t>
            </a:r>
          </a:p>
        </p:txBody>
      </p:sp>
      <p:sp>
        <p:nvSpPr>
          <p:cNvPr id="52" name="Rectangle 5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819900"/>
            <a:ext cx="2812835"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55" name="TextBox 5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OUTCOMES</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What Leadership Gets — Course-Correct In-PI</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Surface misalignment in days, not quarters — so engineering capacity gets redirected while the PI is still live.</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2651760" cy="508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91056"/>
            <a:ext cx="2651760" cy="457200"/>
          </a:xfrm>
          <a:prstGeom prst="rect">
            <a:avLst/>
          </a:prstGeom>
          <a:noFill/>
        </p:spPr>
        <p:txBody>
          <a:bodyPr wrap="square">
            <a:spAutoFit/>
          </a:bodyPr>
          <a:lstStyle/>
          <a:p>
            <a:pPr algn="ctr"/>
            <a:r>
              <a:rPr sz="2200" b="1" i="0">
                <a:solidFill>
                  <a:srgbClr val="5B52E8"/>
                </a:solidFill>
              </a:rPr>
              <a:t>Aligned</a:t>
            </a:r>
          </a:p>
        </p:txBody>
      </p:sp>
      <p:sp>
        <p:nvSpPr>
          <p:cNvPr id="11" name="TextBox 10"/>
          <p:cNvSpPr txBox="1"/>
          <p:nvPr/>
        </p:nvSpPr>
        <p:spPr>
          <a:xfrm>
            <a:off x="502920" y="2066543"/>
            <a:ext cx="2651760" cy="237744"/>
          </a:xfrm>
          <a:prstGeom prst="rect">
            <a:avLst/>
          </a:prstGeom>
          <a:noFill/>
        </p:spPr>
        <p:txBody>
          <a:bodyPr wrap="square">
            <a:spAutoFit/>
          </a:bodyPr>
          <a:lstStyle/>
          <a:p>
            <a:pPr algn="ctr"/>
            <a:r>
              <a:rPr sz="1050" b="1" i="0">
                <a:solidFill>
                  <a:srgbClr val="0F111A"/>
                </a:solidFill>
              </a:rPr>
              <a:t>Work tied to priorities</a:t>
            </a:r>
          </a:p>
        </p:txBody>
      </p:sp>
      <p:sp>
        <p:nvSpPr>
          <p:cNvPr id="12" name="TextBox 11"/>
          <p:cNvSpPr txBox="1"/>
          <p:nvPr/>
        </p:nvSpPr>
        <p:spPr>
          <a:xfrm>
            <a:off x="502920" y="2322576"/>
            <a:ext cx="2651760" cy="329184"/>
          </a:xfrm>
          <a:prstGeom prst="rect">
            <a:avLst/>
          </a:prstGeom>
          <a:noFill/>
        </p:spPr>
        <p:txBody>
          <a:bodyPr wrap="square">
            <a:spAutoFit/>
          </a:bodyPr>
          <a:lstStyle/>
          <a:p>
            <a:pPr algn="ctr"/>
            <a:r>
              <a:rPr sz="900" b="0" i="0">
                <a:solidFill>
                  <a:srgbClr val="6B7396"/>
                </a:solidFill>
              </a:rPr>
              <a:t>Every story mapped to WAF colour &amp; category</a:t>
            </a:r>
          </a:p>
        </p:txBody>
      </p:sp>
      <p:sp>
        <p:nvSpPr>
          <p:cNvPr id="13" name="Rounded Rectangle 12"/>
          <p:cNvSpPr/>
          <p:nvPr/>
        </p:nvSpPr>
        <p:spPr>
          <a:xfrm>
            <a:off x="3319272"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9272" y="1463040"/>
            <a:ext cx="2651760" cy="50800"/>
          </a:xfrm>
          <a:prstGeom prst="rect">
            <a:avLst/>
          </a:prstGeom>
          <a:solidFill>
            <a:srgbClr val="4A4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591056"/>
            <a:ext cx="2651760" cy="457200"/>
          </a:xfrm>
          <a:prstGeom prst="rect">
            <a:avLst/>
          </a:prstGeom>
          <a:noFill/>
        </p:spPr>
        <p:txBody>
          <a:bodyPr wrap="square">
            <a:spAutoFit/>
          </a:bodyPr>
          <a:lstStyle/>
          <a:p>
            <a:pPr algn="ctr"/>
            <a:r>
              <a:rPr sz="2200" b="1" i="0">
                <a:solidFill>
                  <a:srgbClr val="4A40CC"/>
                </a:solidFill>
              </a:rPr>
              <a:t>Trusted</a:t>
            </a:r>
          </a:p>
        </p:txBody>
      </p:sp>
      <p:sp>
        <p:nvSpPr>
          <p:cNvPr id="16" name="TextBox 15"/>
          <p:cNvSpPr txBox="1"/>
          <p:nvPr/>
        </p:nvSpPr>
        <p:spPr>
          <a:xfrm>
            <a:off x="3319272" y="2066543"/>
            <a:ext cx="2651760" cy="237744"/>
          </a:xfrm>
          <a:prstGeom prst="rect">
            <a:avLst/>
          </a:prstGeom>
          <a:noFill/>
        </p:spPr>
        <p:txBody>
          <a:bodyPr wrap="square">
            <a:spAutoFit/>
          </a:bodyPr>
          <a:lstStyle/>
          <a:p>
            <a:pPr algn="ctr"/>
            <a:r>
              <a:rPr sz="1050" b="1" i="0">
                <a:solidFill>
                  <a:srgbClr val="0F111A"/>
                </a:solidFill>
              </a:rPr>
              <a:t>Auditable AI decisions</a:t>
            </a:r>
          </a:p>
        </p:txBody>
      </p:sp>
      <p:sp>
        <p:nvSpPr>
          <p:cNvPr id="17" name="TextBox 16"/>
          <p:cNvSpPr txBox="1"/>
          <p:nvPr/>
        </p:nvSpPr>
        <p:spPr>
          <a:xfrm>
            <a:off x="3319272" y="2322576"/>
            <a:ext cx="2651760" cy="329184"/>
          </a:xfrm>
          <a:prstGeom prst="rect">
            <a:avLst/>
          </a:prstGeom>
          <a:noFill/>
        </p:spPr>
        <p:txBody>
          <a:bodyPr wrap="square">
            <a:spAutoFit/>
          </a:bodyPr>
          <a:lstStyle/>
          <a:p>
            <a:pPr algn="ctr"/>
            <a:r>
              <a:rPr sz="900" b="0" i="0">
                <a:solidFill>
                  <a:srgbClr val="6B7396"/>
                </a:solidFill>
              </a:rPr>
              <a:t>Reasoning, confidence, version logged</a:t>
            </a:r>
          </a:p>
        </p:txBody>
      </p:sp>
      <p:sp>
        <p:nvSpPr>
          <p:cNvPr id="18" name="Rounded Rectangle 17"/>
          <p:cNvSpPr/>
          <p:nvPr/>
        </p:nvSpPr>
        <p:spPr>
          <a:xfrm>
            <a:off x="6135624"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1463040"/>
            <a:ext cx="2651760" cy="508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591056"/>
            <a:ext cx="2651760" cy="457200"/>
          </a:xfrm>
          <a:prstGeom prst="rect">
            <a:avLst/>
          </a:prstGeom>
          <a:noFill/>
        </p:spPr>
        <p:txBody>
          <a:bodyPr wrap="square">
            <a:spAutoFit/>
          </a:bodyPr>
          <a:lstStyle/>
          <a:p>
            <a:pPr algn="ctr"/>
            <a:r>
              <a:rPr sz="2200" b="1" i="0">
                <a:solidFill>
                  <a:srgbClr val="00A890"/>
                </a:solidFill>
              </a:rPr>
              <a:t>Consistent</a:t>
            </a:r>
          </a:p>
        </p:txBody>
      </p:sp>
      <p:sp>
        <p:nvSpPr>
          <p:cNvPr id="21" name="TextBox 20"/>
          <p:cNvSpPr txBox="1"/>
          <p:nvPr/>
        </p:nvSpPr>
        <p:spPr>
          <a:xfrm>
            <a:off x="6135624" y="2066543"/>
            <a:ext cx="2651760" cy="237744"/>
          </a:xfrm>
          <a:prstGeom prst="rect">
            <a:avLst/>
          </a:prstGeom>
          <a:noFill/>
        </p:spPr>
        <p:txBody>
          <a:bodyPr wrap="square">
            <a:spAutoFit/>
          </a:bodyPr>
          <a:lstStyle/>
          <a:p>
            <a:pPr algn="ctr"/>
            <a:r>
              <a:rPr sz="1050" b="1" i="0">
                <a:solidFill>
                  <a:srgbClr val="0F111A"/>
                </a:solidFill>
              </a:rPr>
              <a:t>One taxonomy, all teams</a:t>
            </a:r>
          </a:p>
        </p:txBody>
      </p:sp>
      <p:sp>
        <p:nvSpPr>
          <p:cNvPr id="22" name="TextBox 21"/>
          <p:cNvSpPr txBox="1"/>
          <p:nvPr/>
        </p:nvSpPr>
        <p:spPr>
          <a:xfrm>
            <a:off x="6135624" y="2322576"/>
            <a:ext cx="2651760" cy="329184"/>
          </a:xfrm>
          <a:prstGeom prst="rect">
            <a:avLst/>
          </a:prstGeom>
          <a:noFill/>
        </p:spPr>
        <p:txBody>
          <a:bodyPr wrap="square">
            <a:spAutoFit/>
          </a:bodyPr>
          <a:lstStyle/>
          <a:p>
            <a:pPr algn="ctr"/>
            <a:r>
              <a:rPr sz="900" b="0" i="0">
                <a:solidFill>
                  <a:srgbClr val="6B7396"/>
                </a:solidFill>
              </a:rPr>
              <a:t>Same rules applied at scale</a:t>
            </a:r>
          </a:p>
        </p:txBody>
      </p:sp>
      <p:sp>
        <p:nvSpPr>
          <p:cNvPr id="23" name="Rounded Rectangle 22"/>
          <p:cNvSpPr/>
          <p:nvPr/>
        </p:nvSpPr>
        <p:spPr>
          <a:xfrm>
            <a:off x="8951976"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1976" y="1463040"/>
            <a:ext cx="2651760" cy="50800"/>
          </a:xfrm>
          <a:prstGeom prst="rect">
            <a:avLst/>
          </a:prstGeom>
          <a:solidFill>
            <a:srgbClr val="D97A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51976" y="1591056"/>
            <a:ext cx="2651760" cy="457200"/>
          </a:xfrm>
          <a:prstGeom prst="rect">
            <a:avLst/>
          </a:prstGeom>
          <a:noFill/>
        </p:spPr>
        <p:txBody>
          <a:bodyPr wrap="square">
            <a:spAutoFit/>
          </a:bodyPr>
          <a:lstStyle/>
          <a:p>
            <a:pPr algn="ctr"/>
            <a:r>
              <a:rPr sz="2200" b="1" i="0">
                <a:solidFill>
                  <a:srgbClr val="D97A06"/>
                </a:solidFill>
              </a:rPr>
              <a:t>Actionable</a:t>
            </a:r>
          </a:p>
        </p:txBody>
      </p:sp>
      <p:sp>
        <p:nvSpPr>
          <p:cNvPr id="26" name="TextBox 25"/>
          <p:cNvSpPr txBox="1"/>
          <p:nvPr/>
        </p:nvSpPr>
        <p:spPr>
          <a:xfrm>
            <a:off x="8951976" y="2066543"/>
            <a:ext cx="2651760" cy="237744"/>
          </a:xfrm>
          <a:prstGeom prst="rect">
            <a:avLst/>
          </a:prstGeom>
          <a:noFill/>
        </p:spPr>
        <p:txBody>
          <a:bodyPr wrap="square">
            <a:spAutoFit/>
          </a:bodyPr>
          <a:lstStyle/>
          <a:p>
            <a:pPr algn="ctr"/>
            <a:r>
              <a:rPr sz="1050" b="1" i="0">
                <a:solidFill>
                  <a:srgbClr val="0F111A"/>
                </a:solidFill>
              </a:rPr>
              <a:t>Mismatches surfaced</a:t>
            </a:r>
          </a:p>
        </p:txBody>
      </p:sp>
      <p:sp>
        <p:nvSpPr>
          <p:cNvPr id="27" name="TextBox 26"/>
          <p:cNvSpPr txBox="1"/>
          <p:nvPr/>
        </p:nvSpPr>
        <p:spPr>
          <a:xfrm>
            <a:off x="8951976" y="2322576"/>
            <a:ext cx="2651760" cy="329184"/>
          </a:xfrm>
          <a:prstGeom prst="rect">
            <a:avLst/>
          </a:prstGeom>
          <a:noFill/>
        </p:spPr>
        <p:txBody>
          <a:bodyPr wrap="square">
            <a:spAutoFit/>
          </a:bodyPr>
          <a:lstStyle/>
          <a:p>
            <a:pPr algn="ctr"/>
            <a:r>
              <a:rPr sz="900" b="0" i="0">
                <a:solidFill>
                  <a:srgbClr val="6B7396"/>
                </a:solidFill>
              </a:rPr>
              <a:t>Disagreements flagged and resolvable</a:t>
            </a:r>
          </a:p>
        </p:txBody>
      </p:sp>
      <p:sp>
        <p:nvSpPr>
          <p:cNvPr id="28" name="TextBox 27"/>
          <p:cNvSpPr txBox="1"/>
          <p:nvPr/>
        </p:nvSpPr>
        <p:spPr>
          <a:xfrm>
            <a:off x="502920" y="2907792"/>
            <a:ext cx="5486400" cy="237744"/>
          </a:xfrm>
          <a:prstGeom prst="rect">
            <a:avLst/>
          </a:prstGeom>
          <a:noFill/>
        </p:spPr>
        <p:txBody>
          <a:bodyPr wrap="square">
            <a:spAutoFit/>
          </a:bodyPr>
          <a:lstStyle/>
          <a:p>
            <a:pPr algn="l"/>
            <a:r>
              <a:rPr sz="900" b="1" i="0">
                <a:solidFill>
                  <a:srgbClr val="5B52E8"/>
                </a:solidFill>
              </a:rPr>
              <a:t>DECISION-GRADE VISIBILITY</a:t>
            </a:r>
          </a:p>
        </p:txBody>
      </p:sp>
      <p:sp>
        <p:nvSpPr>
          <p:cNvPr id="29" name="Rounded Rectangle 28"/>
          <p:cNvSpPr/>
          <p:nvPr/>
        </p:nvSpPr>
        <p:spPr>
          <a:xfrm>
            <a:off x="502920"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 y="3291840"/>
            <a:ext cx="329184" cy="329184"/>
          </a:xfrm>
          <a:prstGeom prst="rect">
            <a:avLst/>
          </a:prstGeom>
          <a:noFill/>
        </p:spPr>
        <p:txBody>
          <a:bodyPr wrap="square">
            <a:spAutoFit/>
          </a:bodyPr>
          <a:lstStyle/>
          <a:p>
            <a:pPr algn="l"/>
            <a:r>
              <a:rPr sz="1400" b="0" i="0">
                <a:solidFill>
                  <a:srgbClr val="1E223A"/>
                </a:solidFill>
              </a:rPr>
              <a:t>📊</a:t>
            </a:r>
          </a:p>
        </p:txBody>
      </p:sp>
      <p:sp>
        <p:nvSpPr>
          <p:cNvPr id="32" name="TextBox 31"/>
          <p:cNvSpPr txBox="1"/>
          <p:nvPr/>
        </p:nvSpPr>
        <p:spPr>
          <a:xfrm>
            <a:off x="1005840" y="3310128"/>
            <a:ext cx="2971800" cy="274320"/>
          </a:xfrm>
          <a:prstGeom prst="rect">
            <a:avLst/>
          </a:prstGeom>
          <a:noFill/>
        </p:spPr>
        <p:txBody>
          <a:bodyPr wrap="square">
            <a:spAutoFit/>
          </a:bodyPr>
          <a:lstStyle/>
          <a:p>
            <a:pPr algn="l"/>
            <a:r>
              <a:rPr sz="1100" b="1" i="0">
                <a:solidFill>
                  <a:srgbClr val="0F111A"/>
                </a:solidFill>
              </a:rPr>
              <a:t>Spend by strategic priority</a:t>
            </a:r>
          </a:p>
        </p:txBody>
      </p:sp>
      <p:sp>
        <p:nvSpPr>
          <p:cNvPr id="33" name="TextBox 32"/>
          <p:cNvSpPr txBox="1"/>
          <p:nvPr/>
        </p:nvSpPr>
        <p:spPr>
          <a:xfrm>
            <a:off x="630936" y="3657600"/>
            <a:ext cx="3328416" cy="841248"/>
          </a:xfrm>
          <a:prstGeom prst="rect">
            <a:avLst/>
          </a:prstGeom>
          <a:noFill/>
        </p:spPr>
        <p:txBody>
          <a:bodyPr wrap="square">
            <a:spAutoFit/>
          </a:bodyPr>
          <a:lstStyle/>
          <a:p>
            <a:pPr algn="l"/>
            <a:r>
              <a:rPr sz="950" b="0" i="0">
                <a:solidFill>
                  <a:srgbClr val="6B7396"/>
                </a:solidFill>
              </a:rPr>
              <a:t>Story count and proportion by WAF category and colour — per upload, per Team of Teams, per epic.</a:t>
            </a:r>
          </a:p>
        </p:txBody>
      </p:sp>
      <p:sp>
        <p:nvSpPr>
          <p:cNvPr id="34" name="Rounded Rectangle 33"/>
          <p:cNvSpPr/>
          <p:nvPr/>
        </p:nvSpPr>
        <p:spPr>
          <a:xfrm>
            <a:off x="4233672"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33672"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3291840"/>
            <a:ext cx="329184" cy="329184"/>
          </a:xfrm>
          <a:prstGeom prst="rect">
            <a:avLst/>
          </a:prstGeom>
          <a:noFill/>
        </p:spPr>
        <p:txBody>
          <a:bodyPr wrap="square">
            <a:spAutoFit/>
          </a:bodyPr>
          <a:lstStyle/>
          <a:p>
            <a:pPr algn="l"/>
            <a:r>
              <a:rPr sz="1400" b="0" i="0">
                <a:solidFill>
                  <a:srgbClr val="1E223A"/>
                </a:solidFill>
              </a:rPr>
              <a:t>⚖️</a:t>
            </a:r>
          </a:p>
        </p:txBody>
      </p:sp>
      <p:sp>
        <p:nvSpPr>
          <p:cNvPr id="37" name="TextBox 36"/>
          <p:cNvSpPr txBox="1"/>
          <p:nvPr/>
        </p:nvSpPr>
        <p:spPr>
          <a:xfrm>
            <a:off x="4736592" y="3310128"/>
            <a:ext cx="2971800" cy="274320"/>
          </a:xfrm>
          <a:prstGeom prst="rect">
            <a:avLst/>
          </a:prstGeom>
          <a:noFill/>
        </p:spPr>
        <p:txBody>
          <a:bodyPr wrap="square">
            <a:spAutoFit/>
          </a:bodyPr>
          <a:lstStyle/>
          <a:p>
            <a:pPr algn="l"/>
            <a:r>
              <a:rPr sz="1100" b="1" i="0">
                <a:solidFill>
                  <a:srgbClr val="0F111A"/>
                </a:solidFill>
              </a:rPr>
              <a:t>Run vs. Change split</a:t>
            </a:r>
          </a:p>
        </p:txBody>
      </p:sp>
      <p:sp>
        <p:nvSpPr>
          <p:cNvPr id="38" name="TextBox 37"/>
          <p:cNvSpPr txBox="1"/>
          <p:nvPr/>
        </p:nvSpPr>
        <p:spPr>
          <a:xfrm>
            <a:off x="4361688" y="3657600"/>
            <a:ext cx="3328416" cy="841248"/>
          </a:xfrm>
          <a:prstGeom prst="rect">
            <a:avLst/>
          </a:prstGeom>
          <a:noFill/>
        </p:spPr>
        <p:txBody>
          <a:bodyPr wrap="square">
            <a:spAutoFit/>
          </a:bodyPr>
          <a:lstStyle/>
          <a:p>
            <a:pPr algn="l"/>
            <a:r>
              <a:rPr sz="950" b="0" i="0">
                <a:solidFill>
                  <a:srgbClr val="6B7396"/>
                </a:solidFill>
              </a:rPr>
              <a:t>How much capacity is keep-the-lights-on vs. value-generating, sliced any way leadership asks.</a:t>
            </a:r>
          </a:p>
        </p:txBody>
      </p:sp>
      <p:sp>
        <p:nvSpPr>
          <p:cNvPr id="39" name="Rounded Rectangle 38"/>
          <p:cNvSpPr/>
          <p:nvPr/>
        </p:nvSpPr>
        <p:spPr>
          <a:xfrm>
            <a:off x="7964424"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64424"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92440" y="3291840"/>
            <a:ext cx="329184" cy="329184"/>
          </a:xfrm>
          <a:prstGeom prst="rect">
            <a:avLst/>
          </a:prstGeom>
          <a:noFill/>
        </p:spPr>
        <p:txBody>
          <a:bodyPr wrap="square">
            <a:spAutoFit/>
          </a:bodyPr>
          <a:lstStyle/>
          <a:p>
            <a:pPr algn="l"/>
            <a:r>
              <a:rPr sz="1400" b="0" i="0">
                <a:solidFill>
                  <a:srgbClr val="1E223A"/>
                </a:solidFill>
              </a:rPr>
              <a:t>🎯</a:t>
            </a:r>
          </a:p>
        </p:txBody>
      </p:sp>
      <p:sp>
        <p:nvSpPr>
          <p:cNvPr id="42" name="TextBox 41"/>
          <p:cNvSpPr txBox="1"/>
          <p:nvPr/>
        </p:nvSpPr>
        <p:spPr>
          <a:xfrm>
            <a:off x="8467344" y="3310128"/>
            <a:ext cx="2971800" cy="274320"/>
          </a:xfrm>
          <a:prstGeom prst="rect">
            <a:avLst/>
          </a:prstGeom>
          <a:noFill/>
        </p:spPr>
        <p:txBody>
          <a:bodyPr wrap="square">
            <a:spAutoFit/>
          </a:bodyPr>
          <a:lstStyle/>
          <a:p>
            <a:pPr algn="l"/>
            <a:r>
              <a:rPr sz="1100" b="1" i="0">
                <a:solidFill>
                  <a:srgbClr val="0F111A"/>
                </a:solidFill>
              </a:rPr>
              <a:t>Mismatches flagged for review</a:t>
            </a:r>
          </a:p>
        </p:txBody>
      </p:sp>
      <p:sp>
        <p:nvSpPr>
          <p:cNvPr id="43" name="TextBox 42"/>
          <p:cNvSpPr txBox="1"/>
          <p:nvPr/>
        </p:nvSpPr>
        <p:spPr>
          <a:xfrm>
            <a:off x="8092440" y="3657600"/>
            <a:ext cx="3328416" cy="841248"/>
          </a:xfrm>
          <a:prstGeom prst="rect">
            <a:avLst/>
          </a:prstGeom>
          <a:noFill/>
        </p:spPr>
        <p:txBody>
          <a:bodyPr wrap="square">
            <a:spAutoFit/>
          </a:bodyPr>
          <a:lstStyle/>
          <a:p>
            <a:pPr algn="l"/>
            <a:r>
              <a:rPr sz="950" b="0" i="0">
                <a:solidFill>
                  <a:srgbClr val="6B7396"/>
                </a:solidFill>
              </a:rPr>
              <a:t>Where teams' tags disagree with AI — the conversations leadership needs to have, surfaced not buried.</a:t>
            </a:r>
          </a:p>
        </p:txBody>
      </p:sp>
      <p:sp>
        <p:nvSpPr>
          <p:cNvPr id="44" name="Rounded Rectangle 43"/>
          <p:cNvSpPr/>
          <p:nvPr/>
        </p:nvSpPr>
        <p:spPr>
          <a:xfrm>
            <a:off x="502920"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 y="4791456"/>
            <a:ext cx="329184" cy="329184"/>
          </a:xfrm>
          <a:prstGeom prst="rect">
            <a:avLst/>
          </a:prstGeom>
          <a:noFill/>
        </p:spPr>
        <p:txBody>
          <a:bodyPr wrap="square">
            <a:spAutoFit/>
          </a:bodyPr>
          <a:lstStyle/>
          <a:p>
            <a:pPr algn="l"/>
            <a:r>
              <a:rPr sz="1400" b="0" i="0">
                <a:solidFill>
                  <a:srgbClr val="1E223A"/>
                </a:solidFill>
              </a:rPr>
              <a:t>🏆</a:t>
            </a:r>
          </a:p>
        </p:txBody>
      </p:sp>
      <p:sp>
        <p:nvSpPr>
          <p:cNvPr id="47" name="TextBox 46"/>
          <p:cNvSpPr txBox="1"/>
          <p:nvPr/>
        </p:nvSpPr>
        <p:spPr>
          <a:xfrm>
            <a:off x="1005840" y="4809744"/>
            <a:ext cx="2971800" cy="274320"/>
          </a:xfrm>
          <a:prstGeom prst="rect">
            <a:avLst/>
          </a:prstGeom>
          <a:noFill/>
        </p:spPr>
        <p:txBody>
          <a:bodyPr wrap="square">
            <a:spAutoFit/>
          </a:bodyPr>
          <a:lstStyle/>
          <a:p>
            <a:pPr algn="l"/>
            <a:r>
              <a:rPr sz="1100" b="1" i="0">
                <a:solidFill>
                  <a:srgbClr val="0F111A"/>
                </a:solidFill>
              </a:rPr>
              <a:t>Story readiness signal</a:t>
            </a:r>
          </a:p>
        </p:txBody>
      </p:sp>
      <p:sp>
        <p:nvSpPr>
          <p:cNvPr id="48" name="TextBox 47"/>
          <p:cNvSpPr txBox="1"/>
          <p:nvPr/>
        </p:nvSpPr>
        <p:spPr>
          <a:xfrm>
            <a:off x="630936" y="5157216"/>
            <a:ext cx="3328416" cy="841248"/>
          </a:xfrm>
          <a:prstGeom prst="rect">
            <a:avLst/>
          </a:prstGeom>
          <a:noFill/>
        </p:spPr>
        <p:txBody>
          <a:bodyPr wrap="square">
            <a:spAutoFit/>
          </a:bodyPr>
          <a:lstStyle/>
          <a:p>
            <a:pPr algn="l"/>
            <a:r>
              <a:rPr sz="950" b="0" i="0">
                <a:solidFill>
                  <a:srgbClr val="6B7396"/>
                </a:solidFill>
              </a:rPr>
              <a:t>What % of stories pass Definition of Ready before a PI starts — a quality leading indicator.</a:t>
            </a:r>
          </a:p>
        </p:txBody>
      </p:sp>
      <p:sp>
        <p:nvSpPr>
          <p:cNvPr id="49" name="Rounded Rectangle 48"/>
          <p:cNvSpPr/>
          <p:nvPr/>
        </p:nvSpPr>
        <p:spPr>
          <a:xfrm>
            <a:off x="4233672"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233672"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61688" y="4791456"/>
            <a:ext cx="329184" cy="329184"/>
          </a:xfrm>
          <a:prstGeom prst="rect">
            <a:avLst/>
          </a:prstGeom>
          <a:noFill/>
        </p:spPr>
        <p:txBody>
          <a:bodyPr wrap="square">
            <a:spAutoFit/>
          </a:bodyPr>
          <a:lstStyle/>
          <a:p>
            <a:pPr algn="l"/>
            <a:r>
              <a:rPr sz="1400" b="0" i="0">
                <a:solidFill>
                  <a:srgbClr val="1E223A"/>
                </a:solidFill>
              </a:rPr>
              <a:t>🔍</a:t>
            </a:r>
          </a:p>
        </p:txBody>
      </p:sp>
      <p:sp>
        <p:nvSpPr>
          <p:cNvPr id="52" name="TextBox 51"/>
          <p:cNvSpPr txBox="1"/>
          <p:nvPr/>
        </p:nvSpPr>
        <p:spPr>
          <a:xfrm>
            <a:off x="4736592" y="4809744"/>
            <a:ext cx="2971800" cy="274320"/>
          </a:xfrm>
          <a:prstGeom prst="rect">
            <a:avLst/>
          </a:prstGeom>
          <a:noFill/>
        </p:spPr>
        <p:txBody>
          <a:bodyPr wrap="square">
            <a:spAutoFit/>
          </a:bodyPr>
          <a:lstStyle/>
          <a:p>
            <a:pPr algn="l"/>
            <a:r>
              <a:rPr sz="1100" b="1" i="0">
                <a:solidFill>
                  <a:srgbClr val="0F111A"/>
                </a:solidFill>
              </a:rPr>
              <a:t>Full audit trail</a:t>
            </a:r>
          </a:p>
        </p:txBody>
      </p:sp>
      <p:sp>
        <p:nvSpPr>
          <p:cNvPr id="53" name="TextBox 52"/>
          <p:cNvSpPr txBox="1"/>
          <p:nvPr/>
        </p:nvSpPr>
        <p:spPr>
          <a:xfrm>
            <a:off x="4361688" y="5157216"/>
            <a:ext cx="3328416" cy="841248"/>
          </a:xfrm>
          <a:prstGeom prst="rect">
            <a:avLst/>
          </a:prstGeom>
          <a:noFill/>
        </p:spPr>
        <p:txBody>
          <a:bodyPr wrap="square">
            <a:spAutoFit/>
          </a:bodyPr>
          <a:lstStyle/>
          <a:p>
            <a:pPr algn="l"/>
            <a:r>
              <a:rPr sz="950" b="0" i="0">
                <a:solidFill>
                  <a:srgbClr val="6B7396"/>
                </a:solidFill>
              </a:rPr>
              <a:t>Every classification linked to its reasoning, confidence, and the WAF version that produced it.</a:t>
            </a:r>
          </a:p>
        </p:txBody>
      </p:sp>
      <p:sp>
        <p:nvSpPr>
          <p:cNvPr id="54" name="Rounded Rectangle 53"/>
          <p:cNvSpPr/>
          <p:nvPr/>
        </p:nvSpPr>
        <p:spPr>
          <a:xfrm>
            <a:off x="7964424"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964424"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92440" y="4791456"/>
            <a:ext cx="329184" cy="329184"/>
          </a:xfrm>
          <a:prstGeom prst="rect">
            <a:avLst/>
          </a:prstGeom>
          <a:noFill/>
        </p:spPr>
        <p:txBody>
          <a:bodyPr wrap="square">
            <a:spAutoFit/>
          </a:bodyPr>
          <a:lstStyle/>
          <a:p>
            <a:pPr algn="l"/>
            <a:r>
              <a:rPr sz="1400" b="0" i="0">
                <a:solidFill>
                  <a:srgbClr val="1E223A"/>
                </a:solidFill>
              </a:rPr>
              <a:t>📤</a:t>
            </a:r>
          </a:p>
        </p:txBody>
      </p:sp>
      <p:sp>
        <p:nvSpPr>
          <p:cNvPr id="57" name="TextBox 56"/>
          <p:cNvSpPr txBox="1"/>
          <p:nvPr/>
        </p:nvSpPr>
        <p:spPr>
          <a:xfrm>
            <a:off x="8467344" y="4809744"/>
            <a:ext cx="2971800" cy="274320"/>
          </a:xfrm>
          <a:prstGeom prst="rect">
            <a:avLst/>
          </a:prstGeom>
          <a:noFill/>
        </p:spPr>
        <p:txBody>
          <a:bodyPr wrap="square">
            <a:spAutoFit/>
          </a:bodyPr>
          <a:lstStyle/>
          <a:p>
            <a:pPr algn="l"/>
            <a:r>
              <a:rPr sz="1100" b="1" i="0">
                <a:solidFill>
                  <a:srgbClr val="0F111A"/>
                </a:solidFill>
              </a:rPr>
              <a:t>Stakeholder-ready exports</a:t>
            </a:r>
          </a:p>
        </p:txBody>
      </p:sp>
      <p:sp>
        <p:nvSpPr>
          <p:cNvPr id="58" name="TextBox 57"/>
          <p:cNvSpPr txBox="1"/>
          <p:nvPr/>
        </p:nvSpPr>
        <p:spPr>
          <a:xfrm>
            <a:off x="8092440" y="5157216"/>
            <a:ext cx="3328416" cy="841248"/>
          </a:xfrm>
          <a:prstGeom prst="rect">
            <a:avLst/>
          </a:prstGeom>
          <a:noFill/>
        </p:spPr>
        <p:txBody>
          <a:bodyPr wrap="square">
            <a:spAutoFit/>
          </a:bodyPr>
          <a:lstStyle/>
          <a:p>
            <a:pPr algn="l"/>
            <a:r>
              <a:rPr sz="950" b="0" i="0">
                <a:solidFill>
                  <a:srgbClr val="6B7396"/>
                </a:solidFill>
              </a:rPr>
              <a:t>One-click Excel and PDF for steering committees, audits, and quarterly reviews.</a:t>
            </a:r>
          </a:p>
        </p:txBody>
      </p:sp>
      <p:sp>
        <p:nvSpPr>
          <p:cNvPr id="59" name="TextBox 58"/>
          <p:cNvSpPr txBox="1"/>
          <p:nvPr/>
        </p:nvSpPr>
        <p:spPr>
          <a:xfrm>
            <a:off x="502920" y="6272784"/>
            <a:ext cx="10972800" cy="274320"/>
          </a:xfrm>
          <a:prstGeom prst="rect">
            <a:avLst/>
          </a:prstGeom>
          <a:noFill/>
        </p:spPr>
        <p:txBody>
          <a:bodyPr wrap="square">
            <a:spAutoFit/>
          </a:bodyPr>
          <a:lstStyle/>
          <a:p>
            <a:pPr algn="ctr"/>
            <a:r>
              <a:rPr sz="1100" b="0" i="1">
                <a:solidFill>
                  <a:srgbClr val="6B7396"/>
                </a:solidFill>
              </a:rPr>
              <a:t>WAF Classifier  ·  Built to ensure engineering capacity flows to the right priorities — and surface drift fast enough to fix it.</a:t>
            </a:r>
          </a:p>
        </p:txBody>
      </p:sp>
      <p:sp>
        <p:nvSpPr>
          <p:cNvPr id="60" name="Rectangle 59"/>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6819900"/>
            <a:ext cx="3750446"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63" name="TextBox 62"/>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GOVERNANCE</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Where the AI is Used</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7 of 35 capabilities invoke the LLM. Everything else is deterministic — file parsing, database queries, rule-based logic.</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71600"/>
            <a:ext cx="3657600" cy="219456"/>
          </a:xfrm>
          <a:prstGeom prst="rect">
            <a:avLst/>
          </a:prstGeom>
          <a:noFill/>
        </p:spPr>
        <p:txBody>
          <a:bodyPr wrap="square">
            <a:spAutoFit/>
          </a:bodyPr>
          <a:lstStyle/>
          <a:p>
            <a:pPr algn="l"/>
            <a:r>
              <a:rPr sz="850" b="1" i="0">
                <a:solidFill>
                  <a:srgbClr val="5B52E8"/>
                </a:solidFill>
              </a:rPr>
              <a:t>AI CALLS</a:t>
            </a:r>
          </a:p>
        </p:txBody>
      </p:sp>
      <p:sp>
        <p:nvSpPr>
          <p:cNvPr id="9" name="Rounded Rectangle 8"/>
          <p:cNvSpPr/>
          <p:nvPr/>
        </p:nvSpPr>
        <p:spPr>
          <a:xfrm>
            <a:off x="502920" y="1664208"/>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55648"/>
            <a:ext cx="347472" cy="457200"/>
          </a:xfrm>
          <a:prstGeom prst="rect">
            <a:avLst/>
          </a:prstGeom>
          <a:noFill/>
        </p:spPr>
        <p:txBody>
          <a:bodyPr wrap="square">
            <a:spAutoFit/>
          </a:bodyPr>
          <a:lstStyle/>
          <a:p>
            <a:pPr algn="l"/>
            <a:r>
              <a:rPr sz="1400" b="0" i="0">
                <a:solidFill>
                  <a:srgbClr val="1E223A"/>
                </a:solidFill>
              </a:rPr>
              <a:t>💬</a:t>
            </a:r>
          </a:p>
        </p:txBody>
      </p:sp>
      <p:sp>
        <p:nvSpPr>
          <p:cNvPr id="11" name="TextBox 10"/>
          <p:cNvSpPr txBox="1"/>
          <p:nvPr/>
        </p:nvSpPr>
        <p:spPr>
          <a:xfrm>
            <a:off x="1115568" y="1700784"/>
            <a:ext cx="3566160" cy="256032"/>
          </a:xfrm>
          <a:prstGeom prst="rect">
            <a:avLst/>
          </a:prstGeom>
          <a:noFill/>
        </p:spPr>
        <p:txBody>
          <a:bodyPr wrap="square">
            <a:spAutoFit/>
          </a:bodyPr>
          <a:lstStyle/>
          <a:p>
            <a:pPr algn="l"/>
            <a:r>
              <a:rPr sz="1050" b="1" i="0">
                <a:solidFill>
                  <a:srgbClr val="0F111A"/>
                </a:solidFill>
              </a:rPr>
              <a:t>Single-story classification</a:t>
            </a:r>
          </a:p>
        </p:txBody>
      </p:sp>
      <p:sp>
        <p:nvSpPr>
          <p:cNvPr id="12" name="TextBox 11"/>
          <p:cNvSpPr txBox="1"/>
          <p:nvPr/>
        </p:nvSpPr>
        <p:spPr>
          <a:xfrm>
            <a:off x="1115568" y="1956816"/>
            <a:ext cx="3749039" cy="310896"/>
          </a:xfrm>
          <a:prstGeom prst="rect">
            <a:avLst/>
          </a:prstGeom>
          <a:noFill/>
        </p:spPr>
        <p:txBody>
          <a:bodyPr wrap="square">
            <a:spAutoFit/>
          </a:bodyPr>
          <a:lstStyle/>
          <a:p>
            <a:pPr algn="l"/>
            <a:r>
              <a:rPr sz="900" b="0" i="0">
                <a:solidFill>
                  <a:srgbClr val="6B7396"/>
                </a:solidFill>
              </a:rPr>
              <a:t>WAF category, colour, run/change, confidence</a:t>
            </a:r>
          </a:p>
        </p:txBody>
      </p:sp>
      <p:sp>
        <p:nvSpPr>
          <p:cNvPr id="13" name="Rounded Rectangle 12"/>
          <p:cNvSpPr/>
          <p:nvPr/>
        </p:nvSpPr>
        <p:spPr>
          <a:xfrm>
            <a:off x="5230368" y="1865376"/>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847088"/>
            <a:ext cx="640080" cy="215900"/>
          </a:xfrm>
          <a:prstGeom prst="rect">
            <a:avLst/>
          </a:prstGeom>
          <a:noFill/>
        </p:spPr>
        <p:txBody>
          <a:bodyPr wrap="square">
            <a:spAutoFit/>
          </a:bodyPr>
          <a:lstStyle/>
          <a:p>
            <a:pPr algn="ctr"/>
            <a:r>
              <a:rPr sz="750" b="1" i="0">
                <a:solidFill>
                  <a:srgbClr val="4A40CC"/>
                </a:solidFill>
              </a:rPr>
              <a:t>🤖 LLM</a:t>
            </a:r>
          </a:p>
        </p:txBody>
      </p:sp>
      <p:sp>
        <p:nvSpPr>
          <p:cNvPr id="15" name="Rounded Rectangle 14"/>
          <p:cNvSpPr/>
          <p:nvPr/>
        </p:nvSpPr>
        <p:spPr>
          <a:xfrm>
            <a:off x="502920" y="2340864"/>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32304"/>
            <a:ext cx="347472" cy="457200"/>
          </a:xfrm>
          <a:prstGeom prst="rect">
            <a:avLst/>
          </a:prstGeom>
          <a:noFill/>
        </p:spPr>
        <p:txBody>
          <a:bodyPr wrap="square">
            <a:spAutoFit/>
          </a:bodyPr>
          <a:lstStyle/>
          <a:p>
            <a:pPr algn="l"/>
            <a:r>
              <a:rPr sz="1400" b="0" i="0">
                <a:solidFill>
                  <a:srgbClr val="1E223A"/>
                </a:solidFill>
              </a:rPr>
              <a:t>📋</a:t>
            </a:r>
          </a:p>
        </p:txBody>
      </p:sp>
      <p:sp>
        <p:nvSpPr>
          <p:cNvPr id="17" name="TextBox 16"/>
          <p:cNvSpPr txBox="1"/>
          <p:nvPr/>
        </p:nvSpPr>
        <p:spPr>
          <a:xfrm>
            <a:off x="1115568" y="2377440"/>
            <a:ext cx="3566160" cy="256032"/>
          </a:xfrm>
          <a:prstGeom prst="rect">
            <a:avLst/>
          </a:prstGeom>
          <a:noFill/>
        </p:spPr>
        <p:txBody>
          <a:bodyPr wrap="square">
            <a:spAutoFit/>
          </a:bodyPr>
          <a:lstStyle/>
          <a:p>
            <a:pPr algn="l"/>
            <a:r>
              <a:rPr sz="1050" b="1" i="0">
                <a:solidFill>
                  <a:srgbClr val="0F111A"/>
                </a:solidFill>
              </a:rPr>
              <a:t>Batch-paste classification</a:t>
            </a:r>
          </a:p>
        </p:txBody>
      </p:sp>
      <p:sp>
        <p:nvSpPr>
          <p:cNvPr id="18" name="TextBox 17"/>
          <p:cNvSpPr txBox="1"/>
          <p:nvPr/>
        </p:nvSpPr>
        <p:spPr>
          <a:xfrm>
            <a:off x="1115568" y="2633472"/>
            <a:ext cx="3749039" cy="310896"/>
          </a:xfrm>
          <a:prstGeom prst="rect">
            <a:avLst/>
          </a:prstGeom>
          <a:noFill/>
        </p:spPr>
        <p:txBody>
          <a:bodyPr wrap="square">
            <a:spAutoFit/>
          </a:bodyPr>
          <a:lstStyle/>
          <a:p>
            <a:pPr algn="l"/>
            <a:r>
              <a:rPr sz="900" b="0" i="0">
                <a:solidFill>
                  <a:srgbClr val="6B7396"/>
                </a:solidFill>
              </a:rPr>
              <a:t>Classify several stories pasted into the chat at once</a:t>
            </a:r>
          </a:p>
        </p:txBody>
      </p:sp>
      <p:sp>
        <p:nvSpPr>
          <p:cNvPr id="19" name="Rounded Rectangle 18"/>
          <p:cNvSpPr/>
          <p:nvPr/>
        </p:nvSpPr>
        <p:spPr>
          <a:xfrm>
            <a:off x="5230368" y="2542032"/>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2523744"/>
            <a:ext cx="640080" cy="215900"/>
          </a:xfrm>
          <a:prstGeom prst="rect">
            <a:avLst/>
          </a:prstGeom>
          <a:noFill/>
        </p:spPr>
        <p:txBody>
          <a:bodyPr wrap="square">
            <a:spAutoFit/>
          </a:bodyPr>
          <a:lstStyle/>
          <a:p>
            <a:pPr algn="ctr"/>
            <a:r>
              <a:rPr sz="750" b="1" i="0">
                <a:solidFill>
                  <a:srgbClr val="4A40CC"/>
                </a:solidFill>
              </a:rPr>
              <a:t>🤖 LLM</a:t>
            </a:r>
          </a:p>
        </p:txBody>
      </p:sp>
      <p:sp>
        <p:nvSpPr>
          <p:cNvPr id="21" name="Rounded Rectangle 20"/>
          <p:cNvSpPr/>
          <p:nvPr/>
        </p:nvSpPr>
        <p:spPr>
          <a:xfrm>
            <a:off x="502920" y="3017520"/>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108960"/>
            <a:ext cx="347472" cy="457200"/>
          </a:xfrm>
          <a:prstGeom prst="rect">
            <a:avLst/>
          </a:prstGeom>
          <a:noFill/>
        </p:spPr>
        <p:txBody>
          <a:bodyPr wrap="square">
            <a:spAutoFit/>
          </a:bodyPr>
          <a:lstStyle/>
          <a:p>
            <a:pPr algn="l"/>
            <a:r>
              <a:rPr sz="1400" b="0" i="0">
                <a:solidFill>
                  <a:srgbClr val="1E223A"/>
                </a:solidFill>
              </a:rPr>
              <a:t>📦</a:t>
            </a:r>
          </a:p>
        </p:txBody>
      </p:sp>
      <p:sp>
        <p:nvSpPr>
          <p:cNvPr id="23" name="TextBox 22"/>
          <p:cNvSpPr txBox="1"/>
          <p:nvPr/>
        </p:nvSpPr>
        <p:spPr>
          <a:xfrm>
            <a:off x="1115568" y="3054096"/>
            <a:ext cx="3566160" cy="256032"/>
          </a:xfrm>
          <a:prstGeom prst="rect">
            <a:avLst/>
          </a:prstGeom>
          <a:noFill/>
        </p:spPr>
        <p:txBody>
          <a:bodyPr wrap="square">
            <a:spAutoFit/>
          </a:bodyPr>
          <a:lstStyle/>
          <a:p>
            <a:pPr algn="l"/>
            <a:r>
              <a:rPr sz="1050" b="1" i="0">
                <a:solidFill>
                  <a:srgbClr val="0F111A"/>
                </a:solidFill>
              </a:rPr>
              <a:t>Bulk file verification</a:t>
            </a:r>
          </a:p>
        </p:txBody>
      </p:sp>
      <p:sp>
        <p:nvSpPr>
          <p:cNvPr id="24" name="TextBox 23"/>
          <p:cNvSpPr txBox="1"/>
          <p:nvPr/>
        </p:nvSpPr>
        <p:spPr>
          <a:xfrm>
            <a:off x="1115568" y="3310128"/>
            <a:ext cx="3749039" cy="310896"/>
          </a:xfrm>
          <a:prstGeom prst="rect">
            <a:avLst/>
          </a:prstGeom>
          <a:noFill/>
        </p:spPr>
        <p:txBody>
          <a:bodyPr wrap="square">
            <a:spAutoFit/>
          </a:bodyPr>
          <a:lstStyle/>
          <a:p>
            <a:pPr algn="l"/>
            <a:r>
              <a:rPr sz="900" b="0" i="0">
                <a:solidFill>
                  <a:srgbClr val="6B7396"/>
                </a:solidFill>
              </a:rPr>
              <a:t>Same classification at scale with concurrent workers</a:t>
            </a:r>
          </a:p>
        </p:txBody>
      </p:sp>
      <p:sp>
        <p:nvSpPr>
          <p:cNvPr id="25" name="Rounded Rectangle 24"/>
          <p:cNvSpPr/>
          <p:nvPr/>
        </p:nvSpPr>
        <p:spPr>
          <a:xfrm>
            <a:off x="5230368" y="3218688"/>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3200400"/>
            <a:ext cx="640080" cy="215900"/>
          </a:xfrm>
          <a:prstGeom prst="rect">
            <a:avLst/>
          </a:prstGeom>
          <a:noFill/>
        </p:spPr>
        <p:txBody>
          <a:bodyPr wrap="square">
            <a:spAutoFit/>
          </a:bodyPr>
          <a:lstStyle/>
          <a:p>
            <a:pPr algn="ctr"/>
            <a:r>
              <a:rPr sz="750" b="1" i="0">
                <a:solidFill>
                  <a:srgbClr val="4A40CC"/>
                </a:solidFill>
              </a:rPr>
              <a:t>🤖 LLM</a:t>
            </a:r>
          </a:p>
        </p:txBody>
      </p:sp>
      <p:sp>
        <p:nvSpPr>
          <p:cNvPr id="27" name="Rounded Rectangle 26"/>
          <p:cNvSpPr/>
          <p:nvPr/>
        </p:nvSpPr>
        <p:spPr>
          <a:xfrm>
            <a:off x="502920" y="3694176"/>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85616"/>
            <a:ext cx="347472" cy="457200"/>
          </a:xfrm>
          <a:prstGeom prst="rect">
            <a:avLst/>
          </a:prstGeom>
          <a:noFill/>
        </p:spPr>
        <p:txBody>
          <a:bodyPr wrap="square">
            <a:spAutoFit/>
          </a:bodyPr>
          <a:lstStyle/>
          <a:p>
            <a:pPr algn="l"/>
            <a:r>
              <a:rPr sz="1400" b="0" i="0">
                <a:solidFill>
                  <a:srgbClr val="1E223A"/>
                </a:solidFill>
              </a:rPr>
              <a:t>📝</a:t>
            </a:r>
          </a:p>
        </p:txBody>
      </p:sp>
      <p:sp>
        <p:nvSpPr>
          <p:cNvPr id="29" name="TextBox 28"/>
          <p:cNvSpPr txBox="1"/>
          <p:nvPr/>
        </p:nvSpPr>
        <p:spPr>
          <a:xfrm>
            <a:off x="1115568" y="3730752"/>
            <a:ext cx="3566160" cy="256032"/>
          </a:xfrm>
          <a:prstGeom prst="rect">
            <a:avLst/>
          </a:prstGeom>
          <a:noFill/>
        </p:spPr>
        <p:txBody>
          <a:bodyPr wrap="square">
            <a:spAutoFit/>
          </a:bodyPr>
          <a:lstStyle/>
          <a:p>
            <a:pPr algn="l"/>
            <a:r>
              <a:rPr sz="1050" b="1" i="0">
                <a:solidFill>
                  <a:srgbClr val="0F111A"/>
                </a:solidFill>
              </a:rPr>
              <a:t>Executive narrative</a:t>
            </a:r>
          </a:p>
        </p:txBody>
      </p:sp>
      <p:sp>
        <p:nvSpPr>
          <p:cNvPr id="30" name="TextBox 29"/>
          <p:cNvSpPr txBox="1"/>
          <p:nvPr/>
        </p:nvSpPr>
        <p:spPr>
          <a:xfrm>
            <a:off x="1115568" y="3986784"/>
            <a:ext cx="3749039" cy="310896"/>
          </a:xfrm>
          <a:prstGeom prst="rect">
            <a:avLst/>
          </a:prstGeom>
          <a:noFill/>
        </p:spPr>
        <p:txBody>
          <a:bodyPr wrap="square">
            <a:spAutoFit/>
          </a:bodyPr>
          <a:lstStyle/>
          <a:p>
            <a:pPr algn="l"/>
            <a:r>
              <a:rPr sz="900" b="0" i="0">
                <a:solidFill>
                  <a:srgbClr val="6B7396"/>
                </a:solidFill>
              </a:rPr>
              <a:t>AI-written paragraph summary of classification stats</a:t>
            </a:r>
          </a:p>
        </p:txBody>
      </p:sp>
      <p:sp>
        <p:nvSpPr>
          <p:cNvPr id="31" name="Rounded Rectangle 30"/>
          <p:cNvSpPr/>
          <p:nvPr/>
        </p:nvSpPr>
        <p:spPr>
          <a:xfrm>
            <a:off x="5230368" y="3895344"/>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3877056"/>
            <a:ext cx="640080" cy="215900"/>
          </a:xfrm>
          <a:prstGeom prst="rect">
            <a:avLst/>
          </a:prstGeom>
          <a:noFill/>
        </p:spPr>
        <p:txBody>
          <a:bodyPr wrap="square">
            <a:spAutoFit/>
          </a:bodyPr>
          <a:lstStyle/>
          <a:p>
            <a:pPr algn="ctr"/>
            <a:r>
              <a:rPr sz="750" b="1" i="0">
                <a:solidFill>
                  <a:srgbClr val="4A40CC"/>
                </a:solidFill>
              </a:rPr>
              <a:t>🤖 LLM</a:t>
            </a:r>
          </a:p>
        </p:txBody>
      </p:sp>
      <p:sp>
        <p:nvSpPr>
          <p:cNvPr id="33" name="Rounded Rectangle 32"/>
          <p:cNvSpPr/>
          <p:nvPr/>
        </p:nvSpPr>
        <p:spPr>
          <a:xfrm>
            <a:off x="502920" y="4370832"/>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462272"/>
            <a:ext cx="347472" cy="457200"/>
          </a:xfrm>
          <a:prstGeom prst="rect">
            <a:avLst/>
          </a:prstGeom>
          <a:noFill/>
        </p:spPr>
        <p:txBody>
          <a:bodyPr wrap="square">
            <a:spAutoFit/>
          </a:bodyPr>
          <a:lstStyle/>
          <a:p>
            <a:pPr algn="l"/>
            <a:r>
              <a:rPr sz="1400" b="0" i="0">
                <a:solidFill>
                  <a:srgbClr val="1E223A"/>
                </a:solidFill>
              </a:rPr>
              <a:t>🎯</a:t>
            </a:r>
          </a:p>
        </p:txBody>
      </p:sp>
      <p:sp>
        <p:nvSpPr>
          <p:cNvPr id="35" name="TextBox 34"/>
          <p:cNvSpPr txBox="1"/>
          <p:nvPr/>
        </p:nvSpPr>
        <p:spPr>
          <a:xfrm>
            <a:off x="1115568" y="4407408"/>
            <a:ext cx="3566160" cy="256032"/>
          </a:xfrm>
          <a:prstGeom prst="rect">
            <a:avLst/>
          </a:prstGeom>
          <a:noFill/>
        </p:spPr>
        <p:txBody>
          <a:bodyPr wrap="square">
            <a:spAutoFit/>
          </a:bodyPr>
          <a:lstStyle/>
          <a:p>
            <a:pPr algn="l"/>
            <a:r>
              <a:rPr sz="1050" b="1" i="0">
                <a:solidFill>
                  <a:srgbClr val="0F111A"/>
                </a:solidFill>
              </a:rPr>
              <a:t>DoR scoring</a:t>
            </a:r>
          </a:p>
        </p:txBody>
      </p:sp>
      <p:sp>
        <p:nvSpPr>
          <p:cNvPr id="36" name="TextBox 35"/>
          <p:cNvSpPr txBox="1"/>
          <p:nvPr/>
        </p:nvSpPr>
        <p:spPr>
          <a:xfrm>
            <a:off x="1115568" y="4663440"/>
            <a:ext cx="3749039" cy="310896"/>
          </a:xfrm>
          <a:prstGeom prst="rect">
            <a:avLst/>
          </a:prstGeom>
          <a:noFill/>
        </p:spPr>
        <p:txBody>
          <a:bodyPr wrap="square">
            <a:spAutoFit/>
          </a:bodyPr>
          <a:lstStyle/>
          <a:p>
            <a:pPr algn="l"/>
            <a:r>
              <a:rPr sz="900" b="0" i="0">
                <a:solidFill>
                  <a:srgbClr val="6B7396"/>
                </a:solidFill>
              </a:rPr>
              <a:t>9-criterion pass/fail scored per story</a:t>
            </a:r>
          </a:p>
        </p:txBody>
      </p:sp>
      <p:sp>
        <p:nvSpPr>
          <p:cNvPr id="37" name="Rounded Rectangle 36"/>
          <p:cNvSpPr/>
          <p:nvPr/>
        </p:nvSpPr>
        <p:spPr>
          <a:xfrm>
            <a:off x="5230368" y="4572000"/>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0" y="4553712"/>
            <a:ext cx="640080" cy="215900"/>
          </a:xfrm>
          <a:prstGeom prst="rect">
            <a:avLst/>
          </a:prstGeom>
          <a:noFill/>
        </p:spPr>
        <p:txBody>
          <a:bodyPr wrap="square">
            <a:spAutoFit/>
          </a:bodyPr>
          <a:lstStyle/>
          <a:p>
            <a:pPr algn="ctr"/>
            <a:r>
              <a:rPr sz="750" b="1" i="0">
                <a:solidFill>
                  <a:srgbClr val="4A40CC"/>
                </a:solidFill>
              </a:rPr>
              <a:t>🤖 LLM</a:t>
            </a:r>
          </a:p>
        </p:txBody>
      </p:sp>
      <p:sp>
        <p:nvSpPr>
          <p:cNvPr id="39" name="Rounded Rectangle 38"/>
          <p:cNvSpPr/>
          <p:nvPr/>
        </p:nvSpPr>
        <p:spPr>
          <a:xfrm>
            <a:off x="502920" y="5047488"/>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138928"/>
            <a:ext cx="347472" cy="457200"/>
          </a:xfrm>
          <a:prstGeom prst="rect">
            <a:avLst/>
          </a:prstGeom>
          <a:noFill/>
        </p:spPr>
        <p:txBody>
          <a:bodyPr wrap="square">
            <a:spAutoFit/>
          </a:bodyPr>
          <a:lstStyle/>
          <a:p>
            <a:pPr algn="l"/>
            <a:r>
              <a:rPr sz="1400" b="0" i="0">
                <a:solidFill>
                  <a:srgbClr val="1E223A"/>
                </a:solidFill>
              </a:rPr>
              <a:t>💬</a:t>
            </a:r>
          </a:p>
        </p:txBody>
      </p:sp>
      <p:sp>
        <p:nvSpPr>
          <p:cNvPr id="41" name="TextBox 40"/>
          <p:cNvSpPr txBox="1"/>
          <p:nvPr/>
        </p:nvSpPr>
        <p:spPr>
          <a:xfrm>
            <a:off x="1115568" y="5084064"/>
            <a:ext cx="3566160" cy="256032"/>
          </a:xfrm>
          <a:prstGeom prst="rect">
            <a:avLst/>
          </a:prstGeom>
          <a:noFill/>
        </p:spPr>
        <p:txBody>
          <a:bodyPr wrap="square">
            <a:spAutoFit/>
          </a:bodyPr>
          <a:lstStyle/>
          <a:p>
            <a:pPr algn="l"/>
            <a:r>
              <a:rPr sz="1050" b="1" i="0">
                <a:solidFill>
                  <a:srgbClr val="0F111A"/>
                </a:solidFill>
              </a:rPr>
              <a:t>Story improvement chat</a:t>
            </a:r>
          </a:p>
        </p:txBody>
      </p:sp>
      <p:sp>
        <p:nvSpPr>
          <p:cNvPr id="42" name="TextBox 41"/>
          <p:cNvSpPr txBox="1"/>
          <p:nvPr/>
        </p:nvSpPr>
        <p:spPr>
          <a:xfrm>
            <a:off x="1115568" y="5340096"/>
            <a:ext cx="3749039" cy="310896"/>
          </a:xfrm>
          <a:prstGeom prst="rect">
            <a:avLst/>
          </a:prstGeom>
          <a:noFill/>
        </p:spPr>
        <p:txBody>
          <a:bodyPr wrap="square">
            <a:spAutoFit/>
          </a:bodyPr>
          <a:lstStyle/>
          <a:p>
            <a:pPr algn="l"/>
            <a:r>
              <a:rPr sz="900" b="0" i="0">
                <a:solidFill>
                  <a:srgbClr val="6B7396"/>
                </a:solidFill>
              </a:rPr>
              <a:t>Targeted fix suggestions per failing criterion</a:t>
            </a:r>
          </a:p>
        </p:txBody>
      </p:sp>
      <p:sp>
        <p:nvSpPr>
          <p:cNvPr id="43" name="Rounded Rectangle 42"/>
          <p:cNvSpPr/>
          <p:nvPr/>
        </p:nvSpPr>
        <p:spPr>
          <a:xfrm>
            <a:off x="5230368" y="5248656"/>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0" y="5230368"/>
            <a:ext cx="640080" cy="215900"/>
          </a:xfrm>
          <a:prstGeom prst="rect">
            <a:avLst/>
          </a:prstGeom>
          <a:noFill/>
        </p:spPr>
        <p:txBody>
          <a:bodyPr wrap="square">
            <a:spAutoFit/>
          </a:bodyPr>
          <a:lstStyle/>
          <a:p>
            <a:pPr algn="ctr"/>
            <a:r>
              <a:rPr sz="750" b="1" i="0">
                <a:solidFill>
                  <a:srgbClr val="4A40CC"/>
                </a:solidFill>
              </a:rPr>
              <a:t>🤖 LLM</a:t>
            </a:r>
          </a:p>
        </p:txBody>
      </p:sp>
      <p:sp>
        <p:nvSpPr>
          <p:cNvPr id="45" name="Rounded Rectangle 44"/>
          <p:cNvSpPr/>
          <p:nvPr/>
        </p:nvSpPr>
        <p:spPr>
          <a:xfrm>
            <a:off x="502920" y="5724144"/>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5815584"/>
            <a:ext cx="347472" cy="457200"/>
          </a:xfrm>
          <a:prstGeom prst="rect">
            <a:avLst/>
          </a:prstGeom>
          <a:noFill/>
        </p:spPr>
        <p:txBody>
          <a:bodyPr wrap="square">
            <a:spAutoFit/>
          </a:bodyPr>
          <a:lstStyle/>
          <a:p>
            <a:pPr algn="l"/>
            <a:r>
              <a:rPr sz="1400" b="0" i="0">
                <a:solidFill>
                  <a:srgbClr val="1E223A"/>
                </a:solidFill>
              </a:rPr>
              <a:t>✍️</a:t>
            </a:r>
          </a:p>
        </p:txBody>
      </p:sp>
      <p:sp>
        <p:nvSpPr>
          <p:cNvPr id="47" name="TextBox 46"/>
          <p:cNvSpPr txBox="1"/>
          <p:nvPr/>
        </p:nvSpPr>
        <p:spPr>
          <a:xfrm>
            <a:off x="1115568" y="5760720"/>
            <a:ext cx="3566160" cy="256032"/>
          </a:xfrm>
          <a:prstGeom prst="rect">
            <a:avLst/>
          </a:prstGeom>
          <a:noFill/>
        </p:spPr>
        <p:txBody>
          <a:bodyPr wrap="square">
            <a:spAutoFit/>
          </a:bodyPr>
          <a:lstStyle/>
          <a:p>
            <a:pPr algn="l"/>
            <a:r>
              <a:rPr sz="1050" b="1" i="0">
                <a:solidFill>
                  <a:srgbClr val="0F111A"/>
                </a:solidFill>
              </a:rPr>
              <a:t>Story rewrite</a:t>
            </a:r>
          </a:p>
        </p:txBody>
      </p:sp>
      <p:sp>
        <p:nvSpPr>
          <p:cNvPr id="48" name="TextBox 47"/>
          <p:cNvSpPr txBox="1"/>
          <p:nvPr/>
        </p:nvSpPr>
        <p:spPr>
          <a:xfrm>
            <a:off x="1115568" y="6016752"/>
            <a:ext cx="3749039" cy="310896"/>
          </a:xfrm>
          <a:prstGeom prst="rect">
            <a:avLst/>
          </a:prstGeom>
          <a:noFill/>
        </p:spPr>
        <p:txBody>
          <a:bodyPr wrap="square">
            <a:spAutoFit/>
          </a:bodyPr>
          <a:lstStyle/>
          <a:p>
            <a:pPr algn="l"/>
            <a:r>
              <a:rPr sz="900" b="0" i="0">
                <a:solidFill>
                  <a:srgbClr val="6B7396"/>
                </a:solidFill>
              </a:rPr>
              <a:t>Full story rewrite addressing all failing criteria</a:t>
            </a:r>
          </a:p>
        </p:txBody>
      </p:sp>
      <p:sp>
        <p:nvSpPr>
          <p:cNvPr id="49" name="Rounded Rectangle 48"/>
          <p:cNvSpPr/>
          <p:nvPr/>
        </p:nvSpPr>
        <p:spPr>
          <a:xfrm>
            <a:off x="5230368" y="5925312"/>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2080" y="5907024"/>
            <a:ext cx="640080" cy="215900"/>
          </a:xfrm>
          <a:prstGeom prst="rect">
            <a:avLst/>
          </a:prstGeom>
          <a:noFill/>
        </p:spPr>
        <p:txBody>
          <a:bodyPr wrap="square">
            <a:spAutoFit/>
          </a:bodyPr>
          <a:lstStyle/>
          <a:p>
            <a:pPr algn="ctr"/>
            <a:r>
              <a:rPr sz="750" b="1" i="0">
                <a:solidFill>
                  <a:srgbClr val="4A40CC"/>
                </a:solidFill>
              </a:rPr>
              <a:t>🤖 LLM</a:t>
            </a:r>
          </a:p>
        </p:txBody>
      </p:sp>
      <p:sp>
        <p:nvSpPr>
          <p:cNvPr id="51" name="TextBox 50"/>
          <p:cNvSpPr txBox="1"/>
          <p:nvPr/>
        </p:nvSpPr>
        <p:spPr>
          <a:xfrm>
            <a:off x="6492240" y="1371600"/>
            <a:ext cx="5029200" cy="219456"/>
          </a:xfrm>
          <a:prstGeom prst="rect">
            <a:avLst/>
          </a:prstGeom>
          <a:noFill/>
        </p:spPr>
        <p:txBody>
          <a:bodyPr wrap="square">
            <a:spAutoFit/>
          </a:bodyPr>
          <a:lstStyle/>
          <a:p>
            <a:pPr algn="l"/>
            <a:r>
              <a:rPr sz="850" b="1" i="0">
                <a:solidFill>
                  <a:srgbClr val="5B52E8"/>
                </a:solidFill>
              </a:rPr>
              <a:t>LLM USAGE BY MODULE</a:t>
            </a:r>
          </a:p>
        </p:txBody>
      </p:sp>
      <p:sp>
        <p:nvSpPr>
          <p:cNvPr id="52" name="TextBox 51"/>
          <p:cNvSpPr txBox="1"/>
          <p:nvPr/>
        </p:nvSpPr>
        <p:spPr>
          <a:xfrm>
            <a:off x="6492240" y="1664208"/>
            <a:ext cx="1463040" cy="329184"/>
          </a:xfrm>
          <a:prstGeom prst="rect">
            <a:avLst/>
          </a:prstGeom>
          <a:noFill/>
        </p:spPr>
        <p:txBody>
          <a:bodyPr wrap="square">
            <a:spAutoFit/>
          </a:bodyPr>
          <a:lstStyle/>
          <a:p>
            <a:pPr algn="l"/>
            <a:r>
              <a:rPr sz="1050" b="1" i="0">
                <a:solidFill>
                  <a:srgbClr val="1E223A"/>
                </a:solidFill>
              </a:rPr>
              <a:t>Classification</a:t>
            </a:r>
          </a:p>
        </p:txBody>
      </p:sp>
      <p:sp>
        <p:nvSpPr>
          <p:cNvPr id="53" name="Rounded Rectangle 52"/>
          <p:cNvSpPr/>
          <p:nvPr/>
        </p:nvSpPr>
        <p:spPr>
          <a:xfrm>
            <a:off x="8065008" y="1737360"/>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065008" y="1737360"/>
            <a:ext cx="1489165"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631168" y="1664208"/>
            <a:ext cx="475488" cy="329184"/>
          </a:xfrm>
          <a:prstGeom prst="rect">
            <a:avLst/>
          </a:prstGeom>
          <a:noFill/>
        </p:spPr>
        <p:txBody>
          <a:bodyPr wrap="square">
            <a:spAutoFit/>
          </a:bodyPr>
          <a:lstStyle/>
          <a:p>
            <a:pPr algn="r"/>
            <a:r>
              <a:rPr sz="1000" b="1" i="0">
                <a:solidFill>
                  <a:srgbClr val="5B52E8"/>
                </a:solidFill>
              </a:rPr>
              <a:t>3/7</a:t>
            </a:r>
          </a:p>
        </p:txBody>
      </p:sp>
      <p:sp>
        <p:nvSpPr>
          <p:cNvPr id="56" name="TextBox 55"/>
          <p:cNvSpPr txBox="1"/>
          <p:nvPr/>
        </p:nvSpPr>
        <p:spPr>
          <a:xfrm>
            <a:off x="6492240" y="2231136"/>
            <a:ext cx="1463040" cy="329184"/>
          </a:xfrm>
          <a:prstGeom prst="rect">
            <a:avLst/>
          </a:prstGeom>
          <a:noFill/>
        </p:spPr>
        <p:txBody>
          <a:bodyPr wrap="square">
            <a:spAutoFit/>
          </a:bodyPr>
          <a:lstStyle/>
          <a:p>
            <a:pPr algn="l"/>
            <a:r>
              <a:rPr sz="1050" b="1" i="0">
                <a:solidFill>
                  <a:srgbClr val="1E223A"/>
                </a:solidFill>
              </a:rPr>
              <a:t>Analytics</a:t>
            </a:r>
          </a:p>
        </p:txBody>
      </p:sp>
      <p:sp>
        <p:nvSpPr>
          <p:cNvPr id="57" name="Rounded Rectangle 56"/>
          <p:cNvSpPr/>
          <p:nvPr/>
        </p:nvSpPr>
        <p:spPr>
          <a:xfrm>
            <a:off x="8065008" y="2304288"/>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065008" y="2304288"/>
            <a:ext cx="694944"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631168" y="2231136"/>
            <a:ext cx="475488" cy="329184"/>
          </a:xfrm>
          <a:prstGeom prst="rect">
            <a:avLst/>
          </a:prstGeom>
          <a:noFill/>
        </p:spPr>
        <p:txBody>
          <a:bodyPr wrap="square">
            <a:spAutoFit/>
          </a:bodyPr>
          <a:lstStyle/>
          <a:p>
            <a:pPr algn="r"/>
            <a:r>
              <a:rPr sz="1000" b="1" i="0">
                <a:solidFill>
                  <a:srgbClr val="5B52E8"/>
                </a:solidFill>
              </a:rPr>
              <a:t>1/5</a:t>
            </a:r>
          </a:p>
        </p:txBody>
      </p:sp>
      <p:sp>
        <p:nvSpPr>
          <p:cNvPr id="60" name="TextBox 59"/>
          <p:cNvSpPr txBox="1"/>
          <p:nvPr/>
        </p:nvSpPr>
        <p:spPr>
          <a:xfrm>
            <a:off x="6492240" y="2798064"/>
            <a:ext cx="1463040" cy="329184"/>
          </a:xfrm>
          <a:prstGeom prst="rect">
            <a:avLst/>
          </a:prstGeom>
          <a:noFill/>
        </p:spPr>
        <p:txBody>
          <a:bodyPr wrap="square">
            <a:spAutoFit/>
          </a:bodyPr>
          <a:lstStyle/>
          <a:p>
            <a:pPr algn="l"/>
            <a:r>
              <a:rPr sz="1050" b="1" i="0">
                <a:solidFill>
                  <a:srgbClr val="1E223A"/>
                </a:solidFill>
              </a:rPr>
              <a:t>File Merge</a:t>
            </a:r>
          </a:p>
        </p:txBody>
      </p:sp>
      <p:sp>
        <p:nvSpPr>
          <p:cNvPr id="61" name="Rounded Rectangle 60"/>
          <p:cNvSpPr/>
          <p:nvPr/>
        </p:nvSpPr>
        <p:spPr>
          <a:xfrm>
            <a:off x="8065008" y="2871216"/>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631168" y="2798064"/>
            <a:ext cx="475488" cy="329184"/>
          </a:xfrm>
          <a:prstGeom prst="rect">
            <a:avLst/>
          </a:prstGeom>
          <a:noFill/>
        </p:spPr>
        <p:txBody>
          <a:bodyPr wrap="square">
            <a:spAutoFit/>
          </a:bodyPr>
          <a:lstStyle/>
          <a:p>
            <a:pPr algn="r"/>
            <a:r>
              <a:rPr sz="1000" b="0" i="0">
                <a:solidFill>
                  <a:srgbClr val="6B7396"/>
                </a:solidFill>
              </a:rPr>
              <a:t>0/3</a:t>
            </a:r>
          </a:p>
        </p:txBody>
      </p:sp>
      <p:sp>
        <p:nvSpPr>
          <p:cNvPr id="63" name="TextBox 62"/>
          <p:cNvSpPr txBox="1"/>
          <p:nvPr/>
        </p:nvSpPr>
        <p:spPr>
          <a:xfrm>
            <a:off x="6492240" y="3364992"/>
            <a:ext cx="1463040" cy="329184"/>
          </a:xfrm>
          <a:prstGeom prst="rect">
            <a:avLst/>
          </a:prstGeom>
          <a:noFill/>
        </p:spPr>
        <p:txBody>
          <a:bodyPr wrap="square">
            <a:spAutoFit/>
          </a:bodyPr>
          <a:lstStyle/>
          <a:p>
            <a:pPr algn="l"/>
            <a:r>
              <a:rPr sz="1050" b="1" i="0">
                <a:solidFill>
                  <a:srgbClr val="1E223A"/>
                </a:solidFill>
              </a:rPr>
              <a:t>Teams</a:t>
            </a:r>
          </a:p>
        </p:txBody>
      </p:sp>
      <p:sp>
        <p:nvSpPr>
          <p:cNvPr id="64" name="Rounded Rectangle 63"/>
          <p:cNvSpPr/>
          <p:nvPr/>
        </p:nvSpPr>
        <p:spPr>
          <a:xfrm>
            <a:off x="8065008" y="3438144"/>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631168" y="3364992"/>
            <a:ext cx="475488" cy="329184"/>
          </a:xfrm>
          <a:prstGeom prst="rect">
            <a:avLst/>
          </a:prstGeom>
          <a:noFill/>
        </p:spPr>
        <p:txBody>
          <a:bodyPr wrap="square">
            <a:spAutoFit/>
          </a:bodyPr>
          <a:lstStyle/>
          <a:p>
            <a:pPr algn="r"/>
            <a:r>
              <a:rPr sz="1000" b="0" i="0">
                <a:solidFill>
                  <a:srgbClr val="6B7396"/>
                </a:solidFill>
              </a:rPr>
              <a:t>0/4</a:t>
            </a:r>
          </a:p>
        </p:txBody>
      </p:sp>
      <p:sp>
        <p:nvSpPr>
          <p:cNvPr id="66" name="TextBox 65"/>
          <p:cNvSpPr txBox="1"/>
          <p:nvPr/>
        </p:nvSpPr>
        <p:spPr>
          <a:xfrm>
            <a:off x="6492240" y="3931920"/>
            <a:ext cx="1463040" cy="329184"/>
          </a:xfrm>
          <a:prstGeom prst="rect">
            <a:avLst/>
          </a:prstGeom>
          <a:noFill/>
        </p:spPr>
        <p:txBody>
          <a:bodyPr wrap="square">
            <a:spAutoFit/>
          </a:bodyPr>
          <a:lstStyle/>
          <a:p>
            <a:pPr algn="l"/>
            <a:r>
              <a:rPr sz="1050" b="1" i="0">
                <a:solidFill>
                  <a:srgbClr val="1E223A"/>
                </a:solidFill>
              </a:rPr>
              <a:t>Story Quality</a:t>
            </a:r>
          </a:p>
        </p:txBody>
      </p:sp>
      <p:sp>
        <p:nvSpPr>
          <p:cNvPr id="67" name="Rounded Rectangle 66"/>
          <p:cNvSpPr/>
          <p:nvPr/>
        </p:nvSpPr>
        <p:spPr>
          <a:xfrm>
            <a:off x="8065008" y="4005072"/>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65008" y="4005072"/>
            <a:ext cx="2084832"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631168" y="3931920"/>
            <a:ext cx="475488" cy="329184"/>
          </a:xfrm>
          <a:prstGeom prst="rect">
            <a:avLst/>
          </a:prstGeom>
          <a:noFill/>
        </p:spPr>
        <p:txBody>
          <a:bodyPr wrap="square">
            <a:spAutoFit/>
          </a:bodyPr>
          <a:lstStyle/>
          <a:p>
            <a:pPr algn="r"/>
            <a:r>
              <a:rPr sz="1000" b="1" i="0">
                <a:solidFill>
                  <a:srgbClr val="5B52E8"/>
                </a:solidFill>
              </a:rPr>
              <a:t>3/5</a:t>
            </a:r>
          </a:p>
        </p:txBody>
      </p:sp>
      <p:sp>
        <p:nvSpPr>
          <p:cNvPr id="70" name="TextBox 69"/>
          <p:cNvSpPr txBox="1"/>
          <p:nvPr/>
        </p:nvSpPr>
        <p:spPr>
          <a:xfrm>
            <a:off x="6492240" y="4498848"/>
            <a:ext cx="1463040" cy="329184"/>
          </a:xfrm>
          <a:prstGeom prst="rect">
            <a:avLst/>
          </a:prstGeom>
          <a:noFill/>
        </p:spPr>
        <p:txBody>
          <a:bodyPr wrap="square">
            <a:spAutoFit/>
          </a:bodyPr>
          <a:lstStyle/>
          <a:p>
            <a:pPr algn="l"/>
            <a:r>
              <a:rPr sz="1050" b="1" i="0">
                <a:solidFill>
                  <a:srgbClr val="1E223A"/>
                </a:solidFill>
              </a:rPr>
              <a:t>Epic Lineage</a:t>
            </a:r>
          </a:p>
        </p:txBody>
      </p:sp>
      <p:sp>
        <p:nvSpPr>
          <p:cNvPr id="71" name="Rounded Rectangle 70"/>
          <p:cNvSpPr/>
          <p:nvPr/>
        </p:nvSpPr>
        <p:spPr>
          <a:xfrm>
            <a:off x="8065008" y="4572000"/>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631168" y="4498848"/>
            <a:ext cx="475488" cy="329184"/>
          </a:xfrm>
          <a:prstGeom prst="rect">
            <a:avLst/>
          </a:prstGeom>
          <a:noFill/>
        </p:spPr>
        <p:txBody>
          <a:bodyPr wrap="square">
            <a:spAutoFit/>
          </a:bodyPr>
          <a:lstStyle/>
          <a:p>
            <a:pPr algn="r"/>
            <a:r>
              <a:rPr sz="1000" b="0" i="0">
                <a:solidFill>
                  <a:srgbClr val="6B7396"/>
                </a:solidFill>
              </a:rPr>
              <a:t>0/3</a:t>
            </a:r>
          </a:p>
        </p:txBody>
      </p:sp>
      <p:sp>
        <p:nvSpPr>
          <p:cNvPr id="73" name="TextBox 72"/>
          <p:cNvSpPr txBox="1"/>
          <p:nvPr/>
        </p:nvSpPr>
        <p:spPr>
          <a:xfrm>
            <a:off x="6492240" y="5065776"/>
            <a:ext cx="1463040" cy="329184"/>
          </a:xfrm>
          <a:prstGeom prst="rect">
            <a:avLst/>
          </a:prstGeom>
          <a:noFill/>
        </p:spPr>
        <p:txBody>
          <a:bodyPr wrap="square">
            <a:spAutoFit/>
          </a:bodyPr>
          <a:lstStyle/>
          <a:p>
            <a:pPr algn="l"/>
            <a:r>
              <a:rPr sz="1050" b="1" i="0">
                <a:solidFill>
                  <a:srgbClr val="1E223A"/>
                </a:solidFill>
              </a:rPr>
              <a:t>Disputes</a:t>
            </a:r>
          </a:p>
        </p:txBody>
      </p:sp>
      <p:sp>
        <p:nvSpPr>
          <p:cNvPr id="74" name="Rounded Rectangle 73"/>
          <p:cNvSpPr/>
          <p:nvPr/>
        </p:nvSpPr>
        <p:spPr>
          <a:xfrm>
            <a:off x="8065008" y="5138928"/>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631168" y="5065776"/>
            <a:ext cx="475488" cy="329184"/>
          </a:xfrm>
          <a:prstGeom prst="rect">
            <a:avLst/>
          </a:prstGeom>
          <a:noFill/>
        </p:spPr>
        <p:txBody>
          <a:bodyPr wrap="square">
            <a:spAutoFit/>
          </a:bodyPr>
          <a:lstStyle/>
          <a:p>
            <a:pPr algn="r"/>
            <a:r>
              <a:rPr sz="1000" b="0" i="0">
                <a:solidFill>
                  <a:srgbClr val="6B7396"/>
                </a:solidFill>
              </a:rPr>
              <a:t>0/3</a:t>
            </a:r>
          </a:p>
        </p:txBody>
      </p:sp>
      <p:sp>
        <p:nvSpPr>
          <p:cNvPr id="76" name="TextBox 75"/>
          <p:cNvSpPr txBox="1"/>
          <p:nvPr/>
        </p:nvSpPr>
        <p:spPr>
          <a:xfrm>
            <a:off x="6492240" y="5632704"/>
            <a:ext cx="1463040" cy="329184"/>
          </a:xfrm>
          <a:prstGeom prst="rect">
            <a:avLst/>
          </a:prstGeom>
          <a:noFill/>
        </p:spPr>
        <p:txBody>
          <a:bodyPr wrap="square">
            <a:spAutoFit/>
          </a:bodyPr>
          <a:lstStyle/>
          <a:p>
            <a:pPr algn="l"/>
            <a:r>
              <a:rPr sz="1050" b="1" i="0">
                <a:solidFill>
                  <a:srgbClr val="1E223A"/>
                </a:solidFill>
              </a:rPr>
              <a:t>Settings</a:t>
            </a:r>
          </a:p>
        </p:txBody>
      </p:sp>
      <p:sp>
        <p:nvSpPr>
          <p:cNvPr id="77" name="Rounded Rectangle 76"/>
          <p:cNvSpPr/>
          <p:nvPr/>
        </p:nvSpPr>
        <p:spPr>
          <a:xfrm>
            <a:off x="8065008" y="5705856"/>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631168" y="5632704"/>
            <a:ext cx="475488" cy="329184"/>
          </a:xfrm>
          <a:prstGeom prst="rect">
            <a:avLst/>
          </a:prstGeom>
          <a:noFill/>
        </p:spPr>
        <p:txBody>
          <a:bodyPr wrap="square">
            <a:spAutoFit/>
          </a:bodyPr>
          <a:lstStyle/>
          <a:p>
            <a:pPr algn="r"/>
            <a:r>
              <a:rPr sz="1000" b="0" i="0">
                <a:solidFill>
                  <a:srgbClr val="6B7396"/>
                </a:solidFill>
              </a:rPr>
              <a:t>0/5</a:t>
            </a:r>
          </a:p>
        </p:txBody>
      </p:sp>
      <p:sp>
        <p:nvSpPr>
          <p:cNvPr id="79" name="Rounded Rectangle 78"/>
          <p:cNvSpPr/>
          <p:nvPr/>
        </p:nvSpPr>
        <p:spPr>
          <a:xfrm>
            <a:off x="6492240" y="5797296"/>
            <a:ext cx="5257800" cy="713232"/>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675120" y="5833872"/>
            <a:ext cx="2743200" cy="201168"/>
          </a:xfrm>
          <a:prstGeom prst="rect">
            <a:avLst/>
          </a:prstGeom>
          <a:noFill/>
        </p:spPr>
        <p:txBody>
          <a:bodyPr wrap="square">
            <a:spAutoFit/>
          </a:bodyPr>
          <a:lstStyle/>
          <a:p>
            <a:pPr algn="l"/>
            <a:r>
              <a:rPr sz="850" b="1" i="0">
                <a:solidFill>
                  <a:srgbClr val="6B7396"/>
                </a:solidFill>
              </a:rPr>
              <a:t>GATEWAY SUPPORT</a:t>
            </a:r>
          </a:p>
        </p:txBody>
      </p:sp>
      <p:sp>
        <p:nvSpPr>
          <p:cNvPr id="81" name="Rounded Rectangle 80"/>
          <p:cNvSpPr/>
          <p:nvPr/>
        </p:nvSpPr>
        <p:spPr>
          <a:xfrm>
            <a:off x="6675120"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0" y="6080760"/>
            <a:ext cx="1188720" cy="256032"/>
          </a:xfrm>
          <a:prstGeom prst="rect">
            <a:avLst/>
          </a:prstGeom>
          <a:noFill/>
        </p:spPr>
        <p:txBody>
          <a:bodyPr wrap="square">
            <a:spAutoFit/>
          </a:bodyPr>
          <a:lstStyle/>
          <a:p>
            <a:pPr algn="ctr"/>
            <a:r>
              <a:rPr sz="850" b="1" i="0">
                <a:solidFill>
                  <a:srgbClr val="4A40CC"/>
                </a:solidFill>
              </a:rPr>
              <a:t>Anthropic</a:t>
            </a:r>
          </a:p>
        </p:txBody>
      </p:sp>
      <p:sp>
        <p:nvSpPr>
          <p:cNvPr id="83" name="Rounded Rectangle 82"/>
          <p:cNvSpPr/>
          <p:nvPr/>
        </p:nvSpPr>
        <p:spPr>
          <a:xfrm>
            <a:off x="7936992"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936992" y="6080760"/>
            <a:ext cx="1188720" cy="256032"/>
          </a:xfrm>
          <a:prstGeom prst="rect">
            <a:avLst/>
          </a:prstGeom>
          <a:noFill/>
        </p:spPr>
        <p:txBody>
          <a:bodyPr wrap="square">
            <a:spAutoFit/>
          </a:bodyPr>
          <a:lstStyle/>
          <a:p>
            <a:pPr algn="ctr"/>
            <a:r>
              <a:rPr sz="850" b="1" i="0">
                <a:solidFill>
                  <a:srgbClr val="4A40CC"/>
                </a:solidFill>
              </a:rPr>
              <a:t>AWS Bedrock</a:t>
            </a:r>
          </a:p>
        </p:txBody>
      </p:sp>
      <p:sp>
        <p:nvSpPr>
          <p:cNvPr id="85" name="Rounded Rectangle 84"/>
          <p:cNvSpPr/>
          <p:nvPr/>
        </p:nvSpPr>
        <p:spPr>
          <a:xfrm>
            <a:off x="9198864"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98864" y="6080760"/>
            <a:ext cx="1188720" cy="256032"/>
          </a:xfrm>
          <a:prstGeom prst="rect">
            <a:avLst/>
          </a:prstGeom>
          <a:noFill/>
        </p:spPr>
        <p:txBody>
          <a:bodyPr wrap="square">
            <a:spAutoFit/>
          </a:bodyPr>
          <a:lstStyle/>
          <a:p>
            <a:pPr algn="ctr"/>
            <a:r>
              <a:rPr sz="850" b="1" i="0">
                <a:solidFill>
                  <a:srgbClr val="4A40CC"/>
                </a:solidFill>
              </a:rPr>
              <a:t>PortKey</a:t>
            </a:r>
          </a:p>
        </p:txBody>
      </p:sp>
      <p:sp>
        <p:nvSpPr>
          <p:cNvPr id="87" name="Rounded Rectangle 86"/>
          <p:cNvSpPr/>
          <p:nvPr/>
        </p:nvSpPr>
        <p:spPr>
          <a:xfrm>
            <a:off x="10460736"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460736" y="6080760"/>
            <a:ext cx="1188720" cy="256032"/>
          </a:xfrm>
          <a:prstGeom prst="rect">
            <a:avLst/>
          </a:prstGeom>
          <a:noFill/>
        </p:spPr>
        <p:txBody>
          <a:bodyPr wrap="square">
            <a:spAutoFit/>
          </a:bodyPr>
          <a:lstStyle/>
          <a:p>
            <a:pPr algn="ctr"/>
            <a:r>
              <a:rPr sz="850" b="1" i="0">
                <a:solidFill>
                  <a:srgbClr val="4A40CC"/>
                </a:solidFill>
              </a:rPr>
              <a:t>Apigee (OAuth2)</a:t>
            </a:r>
          </a:p>
        </p:txBody>
      </p:sp>
      <p:sp>
        <p:nvSpPr>
          <p:cNvPr id="89" name="Rectangle 88"/>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0" y="6819900"/>
            <a:ext cx="4688058"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92" name="TextBox 91"/>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6B7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651760"/>
            <a:ext cx="11155680" cy="365760"/>
          </a:xfrm>
          <a:prstGeom prst="rect">
            <a:avLst/>
          </a:prstGeom>
          <a:noFill/>
        </p:spPr>
        <p:txBody>
          <a:bodyPr wrap="square">
            <a:spAutoFit/>
          </a:bodyPr>
          <a:lstStyle/>
          <a:p>
            <a:pPr algn="ctr"/>
            <a:r>
              <a:rPr sz="1200" b="1" i="0">
                <a:solidFill>
                  <a:srgbClr val="5B52E8"/>
                </a:solidFill>
              </a:rPr>
              <a:t>APPENDIX</a:t>
            </a:r>
          </a:p>
        </p:txBody>
      </p:sp>
      <p:sp>
        <p:nvSpPr>
          <p:cNvPr id="5" name="TextBox 4"/>
          <p:cNvSpPr txBox="1"/>
          <p:nvPr/>
        </p:nvSpPr>
        <p:spPr>
          <a:xfrm>
            <a:off x="502920" y="3035808"/>
            <a:ext cx="11155680" cy="822960"/>
          </a:xfrm>
          <a:prstGeom prst="rect">
            <a:avLst/>
          </a:prstGeom>
          <a:noFill/>
        </p:spPr>
        <p:txBody>
          <a:bodyPr wrap="square">
            <a:spAutoFit/>
          </a:bodyPr>
          <a:lstStyle/>
          <a:p>
            <a:pPr algn="ctr"/>
            <a:r>
              <a:rPr sz="4400" b="1" i="0">
                <a:solidFill>
                  <a:srgbClr val="0F111A"/>
                </a:solidFill>
              </a:rPr>
              <a:t>Module Detail</a:t>
            </a:r>
          </a:p>
        </p:txBody>
      </p:sp>
      <p:sp>
        <p:nvSpPr>
          <p:cNvPr id="6" name="TextBox 5"/>
          <p:cNvSpPr txBox="1"/>
          <p:nvPr/>
        </p:nvSpPr>
        <p:spPr>
          <a:xfrm>
            <a:off x="502920" y="3931920"/>
            <a:ext cx="11155680" cy="365760"/>
          </a:xfrm>
          <a:prstGeom prst="rect">
            <a:avLst/>
          </a:prstGeom>
          <a:noFill/>
        </p:spPr>
        <p:txBody>
          <a:bodyPr wrap="square">
            <a:spAutoFit/>
          </a:bodyPr>
          <a:lstStyle/>
          <a:p>
            <a:pPr algn="ctr"/>
            <a:r>
              <a:rPr sz="1400" b="0" i="0">
                <a:solidFill>
                  <a:srgbClr val="6B7396"/>
                </a:solidFill>
              </a:rPr>
              <a:t>Capability-by-capability deep dives across all 8 modules.</a:t>
            </a:r>
          </a:p>
        </p:txBody>
      </p:sp>
      <p:sp>
        <p:nvSpPr>
          <p:cNvPr id="7" name="Rounded Rectangle 6"/>
          <p:cNvSpPr/>
          <p:nvPr/>
        </p:nvSpPr>
        <p:spPr>
          <a:xfrm>
            <a:off x="1065276" y="4572000"/>
            <a:ext cx="10058400" cy="15544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1036" y="4754880"/>
            <a:ext cx="502920" cy="292608"/>
          </a:xfrm>
          <a:prstGeom prst="rect">
            <a:avLst/>
          </a:prstGeom>
          <a:noFill/>
        </p:spPr>
        <p:txBody>
          <a:bodyPr wrap="square">
            <a:spAutoFit/>
          </a:bodyPr>
          <a:lstStyle/>
          <a:p>
            <a:pPr algn="l"/>
            <a:r>
              <a:rPr sz="1000" b="1" i="0">
                <a:solidFill>
                  <a:srgbClr val="5B52E8"/>
                </a:solidFill>
              </a:rPr>
              <a:t>A1</a:t>
            </a:r>
          </a:p>
        </p:txBody>
      </p:sp>
      <p:sp>
        <p:nvSpPr>
          <p:cNvPr id="9" name="TextBox 8"/>
          <p:cNvSpPr txBox="1"/>
          <p:nvPr/>
        </p:nvSpPr>
        <p:spPr>
          <a:xfrm>
            <a:off x="2071116" y="4754880"/>
            <a:ext cx="4023360" cy="292608"/>
          </a:xfrm>
          <a:prstGeom prst="rect">
            <a:avLst/>
          </a:prstGeom>
          <a:noFill/>
        </p:spPr>
        <p:txBody>
          <a:bodyPr wrap="square">
            <a:spAutoFit/>
          </a:bodyPr>
          <a:lstStyle/>
          <a:p>
            <a:pPr algn="l"/>
            <a:r>
              <a:rPr sz="1100" b="0" i="0">
                <a:solidFill>
                  <a:srgbClr val="0F111A"/>
                </a:solidFill>
              </a:rPr>
              <a:t>🤖 Classification</a:t>
            </a:r>
          </a:p>
        </p:txBody>
      </p:sp>
      <p:sp>
        <p:nvSpPr>
          <p:cNvPr id="10" name="TextBox 9"/>
          <p:cNvSpPr txBox="1"/>
          <p:nvPr/>
        </p:nvSpPr>
        <p:spPr>
          <a:xfrm>
            <a:off x="6185916" y="4754880"/>
            <a:ext cx="502920" cy="292608"/>
          </a:xfrm>
          <a:prstGeom prst="rect">
            <a:avLst/>
          </a:prstGeom>
          <a:noFill/>
        </p:spPr>
        <p:txBody>
          <a:bodyPr wrap="square">
            <a:spAutoFit/>
          </a:bodyPr>
          <a:lstStyle/>
          <a:p>
            <a:pPr algn="l"/>
            <a:r>
              <a:rPr sz="1000" b="1" i="0">
                <a:solidFill>
                  <a:srgbClr val="5B52E8"/>
                </a:solidFill>
              </a:rPr>
              <a:t>A2</a:t>
            </a:r>
          </a:p>
        </p:txBody>
      </p:sp>
      <p:sp>
        <p:nvSpPr>
          <p:cNvPr id="11" name="TextBox 10"/>
          <p:cNvSpPr txBox="1"/>
          <p:nvPr/>
        </p:nvSpPr>
        <p:spPr>
          <a:xfrm>
            <a:off x="6825996" y="4754880"/>
            <a:ext cx="4023360" cy="292608"/>
          </a:xfrm>
          <a:prstGeom prst="rect">
            <a:avLst/>
          </a:prstGeom>
          <a:noFill/>
        </p:spPr>
        <p:txBody>
          <a:bodyPr wrap="square">
            <a:spAutoFit/>
          </a:bodyPr>
          <a:lstStyle/>
          <a:p>
            <a:pPr algn="l"/>
            <a:r>
              <a:rPr sz="1100" b="0" i="0">
                <a:solidFill>
                  <a:srgbClr val="0F111A"/>
                </a:solidFill>
              </a:rPr>
              <a:t>📊 Analytics &amp; History</a:t>
            </a:r>
          </a:p>
        </p:txBody>
      </p:sp>
      <p:sp>
        <p:nvSpPr>
          <p:cNvPr id="12" name="TextBox 11"/>
          <p:cNvSpPr txBox="1"/>
          <p:nvPr/>
        </p:nvSpPr>
        <p:spPr>
          <a:xfrm>
            <a:off x="1431036" y="5120640"/>
            <a:ext cx="502920" cy="292608"/>
          </a:xfrm>
          <a:prstGeom prst="rect">
            <a:avLst/>
          </a:prstGeom>
          <a:noFill/>
        </p:spPr>
        <p:txBody>
          <a:bodyPr wrap="square">
            <a:spAutoFit/>
          </a:bodyPr>
          <a:lstStyle/>
          <a:p>
            <a:pPr algn="l"/>
            <a:r>
              <a:rPr sz="1000" b="1" i="0">
                <a:solidFill>
                  <a:srgbClr val="5B52E8"/>
                </a:solidFill>
              </a:rPr>
              <a:t>A3</a:t>
            </a:r>
          </a:p>
        </p:txBody>
      </p:sp>
      <p:sp>
        <p:nvSpPr>
          <p:cNvPr id="13" name="TextBox 12"/>
          <p:cNvSpPr txBox="1"/>
          <p:nvPr/>
        </p:nvSpPr>
        <p:spPr>
          <a:xfrm>
            <a:off x="2071116" y="5120640"/>
            <a:ext cx="4023360" cy="292608"/>
          </a:xfrm>
          <a:prstGeom prst="rect">
            <a:avLst/>
          </a:prstGeom>
          <a:noFill/>
        </p:spPr>
        <p:txBody>
          <a:bodyPr wrap="square">
            <a:spAutoFit/>
          </a:bodyPr>
          <a:lstStyle/>
          <a:p>
            <a:pPr algn="l"/>
            <a:r>
              <a:rPr sz="1100" b="0" i="0">
                <a:solidFill>
                  <a:srgbClr val="0F111A"/>
                </a:solidFill>
              </a:rPr>
              <a:t>🔀 File Merge</a:t>
            </a:r>
          </a:p>
        </p:txBody>
      </p:sp>
      <p:sp>
        <p:nvSpPr>
          <p:cNvPr id="14" name="TextBox 13"/>
          <p:cNvSpPr txBox="1"/>
          <p:nvPr/>
        </p:nvSpPr>
        <p:spPr>
          <a:xfrm>
            <a:off x="6185916" y="5120640"/>
            <a:ext cx="502920" cy="292608"/>
          </a:xfrm>
          <a:prstGeom prst="rect">
            <a:avLst/>
          </a:prstGeom>
          <a:noFill/>
        </p:spPr>
        <p:txBody>
          <a:bodyPr wrap="square">
            <a:spAutoFit/>
          </a:bodyPr>
          <a:lstStyle/>
          <a:p>
            <a:pPr algn="l"/>
            <a:r>
              <a:rPr sz="1000" b="1" i="0">
                <a:solidFill>
                  <a:srgbClr val="5B52E8"/>
                </a:solidFill>
              </a:rPr>
              <a:t>A4</a:t>
            </a:r>
          </a:p>
        </p:txBody>
      </p:sp>
      <p:sp>
        <p:nvSpPr>
          <p:cNvPr id="15" name="TextBox 14"/>
          <p:cNvSpPr txBox="1"/>
          <p:nvPr/>
        </p:nvSpPr>
        <p:spPr>
          <a:xfrm>
            <a:off x="6825996" y="5120640"/>
            <a:ext cx="4023360" cy="292608"/>
          </a:xfrm>
          <a:prstGeom prst="rect">
            <a:avLst/>
          </a:prstGeom>
          <a:noFill/>
        </p:spPr>
        <p:txBody>
          <a:bodyPr wrap="square">
            <a:spAutoFit/>
          </a:bodyPr>
          <a:lstStyle/>
          <a:p>
            <a:pPr algn="l"/>
            <a:r>
              <a:rPr sz="1100" b="0" i="0">
                <a:solidFill>
                  <a:srgbClr val="0F111A"/>
                </a:solidFill>
              </a:rPr>
              <a:t>👥 Teams</a:t>
            </a:r>
          </a:p>
        </p:txBody>
      </p:sp>
      <p:sp>
        <p:nvSpPr>
          <p:cNvPr id="16" name="TextBox 15"/>
          <p:cNvSpPr txBox="1"/>
          <p:nvPr/>
        </p:nvSpPr>
        <p:spPr>
          <a:xfrm>
            <a:off x="1431036" y="5486400"/>
            <a:ext cx="502920" cy="292608"/>
          </a:xfrm>
          <a:prstGeom prst="rect">
            <a:avLst/>
          </a:prstGeom>
          <a:noFill/>
        </p:spPr>
        <p:txBody>
          <a:bodyPr wrap="square">
            <a:spAutoFit/>
          </a:bodyPr>
          <a:lstStyle/>
          <a:p>
            <a:pPr algn="l"/>
            <a:r>
              <a:rPr sz="1000" b="1" i="0">
                <a:solidFill>
                  <a:srgbClr val="5B52E8"/>
                </a:solidFill>
              </a:rPr>
              <a:t>A5</a:t>
            </a:r>
          </a:p>
        </p:txBody>
      </p:sp>
      <p:sp>
        <p:nvSpPr>
          <p:cNvPr id="17" name="TextBox 16"/>
          <p:cNvSpPr txBox="1"/>
          <p:nvPr/>
        </p:nvSpPr>
        <p:spPr>
          <a:xfrm>
            <a:off x="2071116" y="5486400"/>
            <a:ext cx="4023360" cy="292608"/>
          </a:xfrm>
          <a:prstGeom prst="rect">
            <a:avLst/>
          </a:prstGeom>
          <a:noFill/>
        </p:spPr>
        <p:txBody>
          <a:bodyPr wrap="square">
            <a:spAutoFit/>
          </a:bodyPr>
          <a:lstStyle/>
          <a:p>
            <a:pPr algn="l"/>
            <a:r>
              <a:rPr sz="1100" b="0" i="0">
                <a:solidFill>
                  <a:srgbClr val="0F111A"/>
                </a:solidFill>
              </a:rPr>
              <a:t>🏆 Story Quality</a:t>
            </a:r>
          </a:p>
        </p:txBody>
      </p:sp>
      <p:sp>
        <p:nvSpPr>
          <p:cNvPr id="18" name="TextBox 17"/>
          <p:cNvSpPr txBox="1"/>
          <p:nvPr/>
        </p:nvSpPr>
        <p:spPr>
          <a:xfrm>
            <a:off x="6185916" y="5486400"/>
            <a:ext cx="502920" cy="292608"/>
          </a:xfrm>
          <a:prstGeom prst="rect">
            <a:avLst/>
          </a:prstGeom>
          <a:noFill/>
        </p:spPr>
        <p:txBody>
          <a:bodyPr wrap="square">
            <a:spAutoFit/>
          </a:bodyPr>
          <a:lstStyle/>
          <a:p>
            <a:pPr algn="l"/>
            <a:r>
              <a:rPr sz="1000" b="1" i="0">
                <a:solidFill>
                  <a:srgbClr val="5B52E8"/>
                </a:solidFill>
              </a:rPr>
              <a:t>A6</a:t>
            </a:r>
          </a:p>
        </p:txBody>
      </p:sp>
      <p:sp>
        <p:nvSpPr>
          <p:cNvPr id="19" name="TextBox 18"/>
          <p:cNvSpPr txBox="1"/>
          <p:nvPr/>
        </p:nvSpPr>
        <p:spPr>
          <a:xfrm>
            <a:off x="6825996" y="5486400"/>
            <a:ext cx="4023360" cy="292608"/>
          </a:xfrm>
          <a:prstGeom prst="rect">
            <a:avLst/>
          </a:prstGeom>
          <a:noFill/>
        </p:spPr>
        <p:txBody>
          <a:bodyPr wrap="square">
            <a:spAutoFit/>
          </a:bodyPr>
          <a:lstStyle/>
          <a:p>
            <a:pPr algn="l"/>
            <a:r>
              <a:rPr sz="1100" b="0" i="0">
                <a:solidFill>
                  <a:srgbClr val="0F111A"/>
                </a:solidFill>
              </a:rPr>
              <a:t>🏗 Epic Lineage · ⚡ Disputes</a:t>
            </a:r>
          </a:p>
        </p:txBody>
      </p:sp>
      <p:sp>
        <p:nvSpPr>
          <p:cNvPr id="20" name="TextBox 19"/>
          <p:cNvSpPr txBox="1"/>
          <p:nvPr/>
        </p:nvSpPr>
        <p:spPr>
          <a:xfrm>
            <a:off x="1431036" y="5852160"/>
            <a:ext cx="502920" cy="292608"/>
          </a:xfrm>
          <a:prstGeom prst="rect">
            <a:avLst/>
          </a:prstGeom>
          <a:noFill/>
        </p:spPr>
        <p:txBody>
          <a:bodyPr wrap="square">
            <a:spAutoFit/>
          </a:bodyPr>
          <a:lstStyle/>
          <a:p>
            <a:pPr algn="l"/>
            <a:r>
              <a:rPr sz="1000" b="1" i="0">
                <a:solidFill>
                  <a:srgbClr val="5B52E8"/>
                </a:solidFill>
              </a:rPr>
              <a:t>A7</a:t>
            </a:r>
          </a:p>
        </p:txBody>
      </p:sp>
      <p:sp>
        <p:nvSpPr>
          <p:cNvPr id="21" name="TextBox 20"/>
          <p:cNvSpPr txBox="1"/>
          <p:nvPr/>
        </p:nvSpPr>
        <p:spPr>
          <a:xfrm>
            <a:off x="2071116" y="5852160"/>
            <a:ext cx="4023360" cy="292608"/>
          </a:xfrm>
          <a:prstGeom prst="rect">
            <a:avLst/>
          </a:prstGeom>
          <a:noFill/>
        </p:spPr>
        <p:txBody>
          <a:bodyPr wrap="square">
            <a:spAutoFit/>
          </a:bodyPr>
          <a:lstStyle/>
          <a:p>
            <a:pPr algn="l"/>
            <a:r>
              <a:rPr sz="1100" b="0" i="0">
                <a:solidFill>
                  <a:srgbClr val="0F111A"/>
                </a:solidFill>
              </a:rPr>
              <a:t>⚙️ Settings &amp; Version Control</a:t>
            </a:r>
          </a:p>
        </p:txBody>
      </p:sp>
      <p:sp>
        <p:nvSpPr>
          <p:cNvPr id="22" name="Rectangle 2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19900"/>
            <a:ext cx="562567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25" name="TextBox 2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A1 · MODULE 1</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Classification</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Classify work items against the WAF — one at a time interactively, or thousands at once via async bulk processing.</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120640"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523492"/>
            <a:ext cx="713232" cy="215900"/>
          </a:xfrm>
          <a:prstGeom prst="rect">
            <a:avLst/>
          </a:prstGeom>
          <a:noFill/>
        </p:spPr>
        <p:txBody>
          <a:bodyPr wrap="square">
            <a:spAutoFit/>
          </a:bodyPr>
          <a:lstStyle/>
          <a:p>
            <a:pPr algn="ctr"/>
            <a:r>
              <a:rPr sz="750" b="1" i="0">
                <a:solidFill>
                  <a:srgbClr val="4A40CC"/>
                </a:solidFill>
              </a:rPr>
              <a:t>🤖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Single-Story Classification</a:t>
            </a:r>
          </a:p>
        </p:txBody>
      </p:sp>
      <p:sp>
        <p:nvSpPr>
          <p:cNvPr id="13" name="TextBox 12"/>
          <p:cNvSpPr txBox="1"/>
          <p:nvPr/>
        </p:nvSpPr>
        <p:spPr>
          <a:xfrm>
            <a:off x="649224" y="2039112"/>
            <a:ext cx="5148072" cy="1481328"/>
          </a:xfrm>
          <a:prstGeom prst="rect">
            <a:avLst/>
          </a:prstGeom>
          <a:noFill/>
        </p:spPr>
        <p:txBody>
          <a:bodyPr wrap="square">
            <a:spAutoFit/>
          </a:bodyPr>
          <a:lstStyle/>
          <a:p>
            <a:pPr algn="l"/>
            <a:r>
              <a:rPr sz="950" b="0" i="0">
                <a:solidFill>
                  <a:srgbClr val="6B7396"/>
                </a:solidFill>
              </a:rPr>
              <a:t>Type a story title and description into a chat interface. The AI reads your WAF definitions and ground truth examples, then returns a category, colour, Run/Change flag, and confidence score — with reasoning you can challenge in follow-up messages.</a:t>
            </a:r>
          </a:p>
        </p:txBody>
      </p:sp>
      <p:sp>
        <p:nvSpPr>
          <p:cNvPr id="14" name="Rounded Rectangle 13"/>
          <p:cNvSpPr/>
          <p:nvPr/>
        </p:nvSpPr>
        <p:spPr>
          <a:xfrm>
            <a:off x="6108192" y="1417320"/>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725912"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25912" y="1523492"/>
            <a:ext cx="713232" cy="215900"/>
          </a:xfrm>
          <a:prstGeom prst="rect">
            <a:avLst/>
          </a:prstGeom>
          <a:noFill/>
        </p:spPr>
        <p:txBody>
          <a:bodyPr wrap="square">
            <a:spAutoFit/>
          </a:bodyPr>
          <a:lstStyle/>
          <a:p>
            <a:pPr algn="ctr"/>
            <a:r>
              <a:rPr sz="750" b="1" i="0">
                <a:solidFill>
                  <a:srgbClr val="4A40CC"/>
                </a:solidFill>
              </a:rPr>
              <a:t>🤖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Bulk File Verification</a:t>
            </a:r>
          </a:p>
        </p:txBody>
      </p:sp>
      <p:sp>
        <p:nvSpPr>
          <p:cNvPr id="19" name="TextBox 18"/>
          <p:cNvSpPr txBox="1"/>
          <p:nvPr/>
        </p:nvSpPr>
        <p:spPr>
          <a:xfrm>
            <a:off x="6254496" y="2039112"/>
            <a:ext cx="5148072" cy="1481328"/>
          </a:xfrm>
          <a:prstGeom prst="rect">
            <a:avLst/>
          </a:prstGeom>
          <a:noFill/>
        </p:spPr>
        <p:txBody>
          <a:bodyPr wrap="square">
            <a:spAutoFit/>
          </a:bodyPr>
          <a:lstStyle/>
          <a:p>
            <a:pPr algn="l"/>
            <a:r>
              <a:rPr sz="950" b="0" i="0">
                <a:solidFill>
                  <a:srgbClr val="6B7396"/>
                </a:solidFill>
              </a:rPr>
              <a:t>Upload a CSV or Excel of stories. The tool auto-detects your columns, maps them, then classifies every row using concurrent AI workers. Results stream back as a progress bar — you review, approve, or dispute each row before saving.</a:t>
            </a:r>
          </a:p>
        </p:txBody>
      </p:sp>
      <p:sp>
        <p:nvSpPr>
          <p:cNvPr id="20" name="Rounded Rectangle 19"/>
          <p:cNvSpPr/>
          <p:nvPr/>
        </p:nvSpPr>
        <p:spPr>
          <a:xfrm>
            <a:off x="502920" y="3721608"/>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813048"/>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84048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827780"/>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4105656"/>
            <a:ext cx="5148072" cy="256032"/>
          </a:xfrm>
          <a:prstGeom prst="rect">
            <a:avLst/>
          </a:prstGeom>
          <a:noFill/>
        </p:spPr>
        <p:txBody>
          <a:bodyPr wrap="square">
            <a:spAutoFit/>
          </a:bodyPr>
          <a:lstStyle/>
          <a:p>
            <a:pPr algn="l"/>
            <a:r>
              <a:rPr sz="1100" b="1" i="0">
                <a:solidFill>
                  <a:srgbClr val="0F111A"/>
                </a:solidFill>
              </a:rPr>
              <a:t>Column Mapping Preview</a:t>
            </a:r>
          </a:p>
        </p:txBody>
      </p:sp>
      <p:sp>
        <p:nvSpPr>
          <p:cNvPr id="25" name="TextBox 24"/>
          <p:cNvSpPr txBox="1"/>
          <p:nvPr/>
        </p:nvSpPr>
        <p:spPr>
          <a:xfrm>
            <a:off x="649224" y="4343400"/>
            <a:ext cx="5148072" cy="1481328"/>
          </a:xfrm>
          <a:prstGeom prst="rect">
            <a:avLst/>
          </a:prstGeom>
          <a:noFill/>
        </p:spPr>
        <p:txBody>
          <a:bodyPr wrap="square">
            <a:spAutoFit/>
          </a:bodyPr>
          <a:lstStyle/>
          <a:p>
            <a:pPr algn="l"/>
            <a:r>
              <a:rPr sz="950" b="0" i="0">
                <a:solidFill>
                  <a:srgbClr val="6B7396"/>
                </a:solidFill>
              </a:rPr>
              <a:t>Before bulk verify runs, the tool parses your file and suggests which column maps to which field (title, WAF category, Team of Teams, story points, etc.). You correct the mapping before AI kicks off — no tokens spent.</a:t>
            </a:r>
          </a:p>
        </p:txBody>
      </p:sp>
      <p:sp>
        <p:nvSpPr>
          <p:cNvPr id="26" name="Rounded Rectangle 25"/>
          <p:cNvSpPr/>
          <p:nvPr/>
        </p:nvSpPr>
        <p:spPr>
          <a:xfrm>
            <a:off x="6108192" y="3721608"/>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813048"/>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84048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827780"/>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4105656"/>
            <a:ext cx="5148072" cy="256032"/>
          </a:xfrm>
          <a:prstGeom prst="rect">
            <a:avLst/>
          </a:prstGeom>
          <a:noFill/>
        </p:spPr>
        <p:txBody>
          <a:bodyPr wrap="square">
            <a:spAutoFit/>
          </a:bodyPr>
          <a:lstStyle/>
          <a:p>
            <a:pPr algn="l"/>
            <a:r>
              <a:rPr sz="1100" b="1" i="0">
                <a:solidFill>
                  <a:srgbClr val="0F111A"/>
                </a:solidFill>
              </a:rPr>
              <a:t>Approve to Ground Truth</a:t>
            </a:r>
          </a:p>
        </p:txBody>
      </p:sp>
      <p:sp>
        <p:nvSpPr>
          <p:cNvPr id="31" name="TextBox 30"/>
          <p:cNvSpPr txBox="1"/>
          <p:nvPr/>
        </p:nvSpPr>
        <p:spPr>
          <a:xfrm>
            <a:off x="6254496" y="4343400"/>
            <a:ext cx="5148072" cy="1481328"/>
          </a:xfrm>
          <a:prstGeom prst="rect">
            <a:avLst/>
          </a:prstGeom>
          <a:noFill/>
        </p:spPr>
        <p:txBody>
          <a:bodyPr wrap="square">
            <a:spAutoFit/>
          </a:bodyPr>
          <a:lstStyle/>
          <a:p>
            <a:pPr algn="l"/>
            <a:r>
              <a:rPr sz="950" b="0" i="0">
                <a:solidFill>
                  <a:srgbClr val="6B7396"/>
                </a:solidFill>
              </a:rPr>
              <a:t>One-click promotion of any verified story into your ground truth library. Future AI calls use it as a calibration example, improving classification consistency over time as your dataset grows.</a:t>
            </a:r>
          </a:p>
        </p:txBody>
      </p:sp>
      <p:sp>
        <p:nvSpPr>
          <p:cNvPr id="32" name="Rectangle 3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819900"/>
            <a:ext cx="6563281"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35" name="TextBox 3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A2 · MODULE 2</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Analytics &amp; History</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Understand how your backlog is classified — across teams, time periods, and WAF categories — with flexible exports for stakeholders.</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15468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Dashboard Summary</a:t>
            </a:r>
          </a:p>
        </p:txBody>
      </p:sp>
      <p:sp>
        <p:nvSpPr>
          <p:cNvPr id="13" name="TextBox 12"/>
          <p:cNvSpPr txBox="1"/>
          <p:nvPr/>
        </p:nvSpPr>
        <p:spPr>
          <a:xfrm>
            <a:off x="649224" y="2039112"/>
            <a:ext cx="3273552" cy="1280160"/>
          </a:xfrm>
          <a:prstGeom prst="rect">
            <a:avLst/>
          </a:prstGeom>
          <a:noFill/>
        </p:spPr>
        <p:txBody>
          <a:bodyPr wrap="square">
            <a:spAutoFit/>
          </a:bodyPr>
          <a:lstStyle/>
          <a:p>
            <a:pPr algn="l"/>
            <a:r>
              <a:rPr sz="950" b="0" i="0">
                <a:solidFill>
                  <a:srgbClr val="6B7396"/>
                </a:solidFill>
              </a:rPr>
              <a:t>At-a-glance totals: stories classified, approval rate, mismatch rate, top categories, colour distribution, and a daily trend line — filterable by team, upload, or date range.</a:t>
            </a:r>
          </a:p>
        </p:txBody>
      </p:sp>
      <p:sp>
        <p:nvSpPr>
          <p:cNvPr id="14" name="Rounded Rectangle 13"/>
          <p:cNvSpPr/>
          <p:nvPr/>
        </p:nvSpPr>
        <p:spPr>
          <a:xfrm>
            <a:off x="4233672"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88543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Story Drilldown</a:t>
            </a:r>
          </a:p>
        </p:txBody>
      </p:sp>
      <p:sp>
        <p:nvSpPr>
          <p:cNvPr id="19" name="TextBox 18"/>
          <p:cNvSpPr txBox="1"/>
          <p:nvPr/>
        </p:nvSpPr>
        <p:spPr>
          <a:xfrm>
            <a:off x="4379976" y="2039112"/>
            <a:ext cx="3273552" cy="1280160"/>
          </a:xfrm>
          <a:prstGeom prst="rect">
            <a:avLst/>
          </a:prstGeom>
          <a:noFill/>
        </p:spPr>
        <p:txBody>
          <a:bodyPr wrap="square">
            <a:spAutoFit/>
          </a:bodyPr>
          <a:lstStyle/>
          <a:p>
            <a:pPr algn="l"/>
            <a:r>
              <a:rPr sz="950" b="0" i="0">
                <a:solidFill>
                  <a:srgbClr val="6B7396"/>
                </a:solidFill>
              </a:rPr>
              <a:t>Full-text searchable table of every classified story. Filter by team, category, colour, match status, and date. Expand any row to see AI reasoning, original tag, and full classification detail.</a:t>
            </a:r>
          </a:p>
        </p:txBody>
      </p:sp>
      <p:sp>
        <p:nvSpPr>
          <p:cNvPr id="20" name="Rounded Rectangle 19"/>
          <p:cNvSpPr/>
          <p:nvPr/>
        </p:nvSpPr>
        <p:spPr>
          <a:xfrm>
            <a:off x="7964424"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707624"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07624" y="1523492"/>
            <a:ext cx="713232" cy="215900"/>
          </a:xfrm>
          <a:prstGeom prst="rect">
            <a:avLst/>
          </a:prstGeom>
          <a:noFill/>
        </p:spPr>
        <p:txBody>
          <a:bodyPr wrap="square">
            <a:spAutoFit/>
          </a:bodyPr>
          <a:lstStyle/>
          <a:p>
            <a:pPr algn="ctr"/>
            <a:r>
              <a:rPr sz="750" b="1" i="0">
                <a:solidFill>
                  <a:srgbClr val="4A40CC"/>
                </a:solidFill>
              </a:rPr>
              <a:t>🤖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AI Executive Narrative</a:t>
            </a:r>
          </a:p>
        </p:txBody>
      </p:sp>
      <p:sp>
        <p:nvSpPr>
          <p:cNvPr id="25" name="TextBox 24"/>
          <p:cNvSpPr txBox="1"/>
          <p:nvPr/>
        </p:nvSpPr>
        <p:spPr>
          <a:xfrm>
            <a:off x="8110728" y="2039112"/>
            <a:ext cx="3273552" cy="1280160"/>
          </a:xfrm>
          <a:prstGeom prst="rect">
            <a:avLst/>
          </a:prstGeom>
          <a:noFill/>
        </p:spPr>
        <p:txBody>
          <a:bodyPr wrap="square">
            <a:spAutoFit/>
          </a:bodyPr>
          <a:lstStyle/>
          <a:p>
            <a:pPr algn="l"/>
            <a:r>
              <a:rPr sz="950" b="0" i="0">
                <a:solidFill>
                  <a:srgbClr val="6B7396"/>
                </a:solidFill>
              </a:rPr>
              <a:t>Generates a concise, human-readable paragraph from your summary stats — describing WAF alignment, risk areas, and team performance. Ready to paste into a slide deck or status update.</a:t>
            </a:r>
          </a:p>
        </p:txBody>
      </p:sp>
      <p:sp>
        <p:nvSpPr>
          <p:cNvPr id="26" name="Rounded Rectangle 25"/>
          <p:cNvSpPr/>
          <p:nvPr/>
        </p:nvSpPr>
        <p:spPr>
          <a:xfrm>
            <a:off x="2446020" y="3557016"/>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92324" y="3648456"/>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5097780"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97780" y="3663188"/>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2592324" y="3941064"/>
            <a:ext cx="3273552" cy="256032"/>
          </a:xfrm>
          <a:prstGeom prst="rect">
            <a:avLst/>
          </a:prstGeom>
          <a:noFill/>
        </p:spPr>
        <p:txBody>
          <a:bodyPr wrap="square">
            <a:spAutoFit/>
          </a:bodyPr>
          <a:lstStyle/>
          <a:p>
            <a:pPr algn="l"/>
            <a:r>
              <a:rPr sz="1100" b="1" i="0">
                <a:solidFill>
                  <a:srgbClr val="0F111A"/>
                </a:solidFill>
              </a:rPr>
              <a:t>CSV / Excel Export</a:t>
            </a:r>
          </a:p>
        </p:txBody>
      </p:sp>
      <p:sp>
        <p:nvSpPr>
          <p:cNvPr id="31" name="TextBox 30"/>
          <p:cNvSpPr txBox="1"/>
          <p:nvPr/>
        </p:nvSpPr>
        <p:spPr>
          <a:xfrm>
            <a:off x="2592324" y="4178808"/>
            <a:ext cx="3273552" cy="1280160"/>
          </a:xfrm>
          <a:prstGeom prst="rect">
            <a:avLst/>
          </a:prstGeom>
          <a:noFill/>
        </p:spPr>
        <p:txBody>
          <a:bodyPr wrap="square">
            <a:spAutoFit/>
          </a:bodyPr>
          <a:lstStyle/>
          <a:p>
            <a:pPr algn="l"/>
            <a:r>
              <a:rPr sz="950" b="0" i="0">
                <a:solidFill>
                  <a:srgbClr val="6B7396"/>
                </a:solidFill>
              </a:rPr>
              <a:t>Download filtered history as a flat CSV or a formatted multi-sheet Excel workbook (Summary, Raw Data tabs) for offline analysis or stakeholder sharing.</a:t>
            </a:r>
          </a:p>
        </p:txBody>
      </p:sp>
      <p:sp>
        <p:nvSpPr>
          <p:cNvPr id="32" name="Rounded Rectangle 31"/>
          <p:cNvSpPr/>
          <p:nvPr/>
        </p:nvSpPr>
        <p:spPr>
          <a:xfrm>
            <a:off x="6176772" y="3557016"/>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3076" y="3648456"/>
            <a:ext cx="347472" cy="347472"/>
          </a:xfrm>
          <a:prstGeom prst="rect">
            <a:avLst/>
          </a:prstGeom>
          <a:noFill/>
        </p:spPr>
        <p:txBody>
          <a:bodyPr wrap="square">
            <a:spAutoFit/>
          </a:bodyPr>
          <a:lstStyle/>
          <a:p>
            <a:pPr algn="l"/>
            <a:r>
              <a:rPr sz="1500" b="0" i="0">
                <a:solidFill>
                  <a:srgbClr val="1E223A"/>
                </a:solidFill>
              </a:rPr>
              <a:t>⬆️</a:t>
            </a:r>
          </a:p>
        </p:txBody>
      </p:sp>
      <p:sp>
        <p:nvSpPr>
          <p:cNvPr id="34" name="Rounded Rectangle 33"/>
          <p:cNvSpPr/>
          <p:nvPr/>
        </p:nvSpPr>
        <p:spPr>
          <a:xfrm>
            <a:off x="8828532"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28532" y="3663188"/>
            <a:ext cx="804672" cy="215900"/>
          </a:xfrm>
          <a:prstGeom prst="rect">
            <a:avLst/>
          </a:prstGeom>
          <a:noFill/>
        </p:spPr>
        <p:txBody>
          <a:bodyPr wrap="square">
            <a:spAutoFit/>
          </a:bodyPr>
          <a:lstStyle/>
          <a:p>
            <a:pPr algn="ctr"/>
            <a:r>
              <a:rPr sz="750" b="1" i="0">
                <a:solidFill>
                  <a:srgbClr val="008772"/>
                </a:solidFill>
              </a:rPr>
              <a:t>✓  No LLM</a:t>
            </a:r>
          </a:p>
        </p:txBody>
      </p:sp>
      <p:sp>
        <p:nvSpPr>
          <p:cNvPr id="36" name="TextBox 35"/>
          <p:cNvSpPr txBox="1"/>
          <p:nvPr/>
        </p:nvSpPr>
        <p:spPr>
          <a:xfrm>
            <a:off x="6323076" y="3941064"/>
            <a:ext cx="3273552" cy="256032"/>
          </a:xfrm>
          <a:prstGeom prst="rect">
            <a:avLst/>
          </a:prstGeom>
          <a:noFill/>
        </p:spPr>
        <p:txBody>
          <a:bodyPr wrap="square">
            <a:spAutoFit/>
          </a:bodyPr>
          <a:lstStyle/>
          <a:p>
            <a:pPr algn="l"/>
            <a:r>
              <a:rPr sz="1100" b="1" i="0">
                <a:solidFill>
                  <a:srgbClr val="0F111A"/>
                </a:solidFill>
              </a:rPr>
              <a:t>Bulk Import</a:t>
            </a:r>
          </a:p>
        </p:txBody>
      </p:sp>
      <p:sp>
        <p:nvSpPr>
          <p:cNvPr id="37" name="TextBox 36"/>
          <p:cNvSpPr txBox="1"/>
          <p:nvPr/>
        </p:nvSpPr>
        <p:spPr>
          <a:xfrm>
            <a:off x="6323076" y="4178808"/>
            <a:ext cx="3273552" cy="1280160"/>
          </a:xfrm>
          <a:prstGeom prst="rect">
            <a:avLst/>
          </a:prstGeom>
          <a:noFill/>
        </p:spPr>
        <p:txBody>
          <a:bodyPr wrap="square">
            <a:spAutoFit/>
          </a:bodyPr>
          <a:lstStyle/>
          <a:p>
            <a:pPr algn="l"/>
            <a:r>
              <a:rPr sz="950" b="0" i="0">
                <a:solidFill>
                  <a:srgbClr val="6B7396"/>
                </a:solidFill>
              </a:rPr>
              <a:t>Upload a pre-classified CSV/Excel to populate the history database without running AI — preserving timestamps and original tags from previous tools or manual tagging exercises.</a:t>
            </a:r>
          </a:p>
        </p:txBody>
      </p:sp>
      <p:sp>
        <p:nvSpPr>
          <p:cNvPr id="38" name="Rectangle 37"/>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819900"/>
            <a:ext cx="7500893"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1" name="TextBox 40"/>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A3 · MODULE 3</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File Merge</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Join separate JIRA exports — Epics, Features, and Stories — into one clean, enriched file ready for classification or reporting.</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15468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Epic → Feature → Story Join</a:t>
            </a:r>
          </a:p>
        </p:txBody>
      </p:sp>
      <p:sp>
        <p:nvSpPr>
          <p:cNvPr id="13" name="TextBox 12"/>
          <p:cNvSpPr txBox="1"/>
          <p:nvPr/>
        </p:nvSpPr>
        <p:spPr>
          <a:xfrm>
            <a:off x="649224" y="2039112"/>
            <a:ext cx="3273552" cy="1188720"/>
          </a:xfrm>
          <a:prstGeom prst="rect">
            <a:avLst/>
          </a:prstGeom>
          <a:noFill/>
        </p:spPr>
        <p:txBody>
          <a:bodyPr wrap="square">
            <a:spAutoFit/>
          </a:bodyPr>
          <a:lstStyle/>
          <a:p>
            <a:pPr algn="l"/>
            <a:r>
              <a:rPr sz="950" b="0" i="0">
                <a:solidFill>
                  <a:srgbClr val="6B7396"/>
                </a:solidFill>
              </a:rPr>
              <a:t>Takes up to three JIRA export files and joins them by name (case-insensitive). Extracts WAF colour and category, strips Run/Change suffixes from Epic Names, and propagates PI Name down to every story row.</a:t>
            </a:r>
          </a:p>
        </p:txBody>
      </p:sp>
      <p:sp>
        <p:nvSpPr>
          <p:cNvPr id="14" name="Rounded Rectangle 13"/>
          <p:cNvSpPr/>
          <p:nvPr/>
        </p:nvSpPr>
        <p:spPr>
          <a:xfrm>
            <a:off x="4233672"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88543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Issue Detection</a:t>
            </a:r>
          </a:p>
        </p:txBody>
      </p:sp>
      <p:sp>
        <p:nvSpPr>
          <p:cNvPr id="19" name="TextBox 18"/>
          <p:cNvSpPr txBox="1"/>
          <p:nvPr/>
        </p:nvSpPr>
        <p:spPr>
          <a:xfrm>
            <a:off x="4379976" y="2039112"/>
            <a:ext cx="3273552" cy="1188720"/>
          </a:xfrm>
          <a:prstGeom prst="rect">
            <a:avLst/>
          </a:prstGeom>
          <a:noFill/>
        </p:spPr>
        <p:txBody>
          <a:bodyPr wrap="square">
            <a:spAutoFit/>
          </a:bodyPr>
          <a:lstStyle/>
          <a:p>
            <a:pPr algn="l"/>
            <a:r>
              <a:rPr sz="950" b="0" i="0">
                <a:solidFill>
                  <a:srgbClr val="6B7396"/>
                </a:solidFill>
              </a:rPr>
              <a:t>Flags four problem types during the merge: orphaned stories (no matching feature), orphaned features (no matching epic), stories missing WAF data, and unrecognised WAF colours. You choose which rows to include before downloading.</a:t>
            </a:r>
          </a:p>
        </p:txBody>
      </p:sp>
      <p:sp>
        <p:nvSpPr>
          <p:cNvPr id="20" name="Rounded Rectangle 19"/>
          <p:cNvSpPr/>
          <p:nvPr/>
        </p:nvSpPr>
        <p:spPr>
          <a:xfrm>
            <a:off x="7964424"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616184"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16184" y="1523492"/>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Send to Classifier</a:t>
            </a:r>
          </a:p>
        </p:txBody>
      </p:sp>
      <p:sp>
        <p:nvSpPr>
          <p:cNvPr id="25" name="TextBox 24"/>
          <p:cNvSpPr txBox="1"/>
          <p:nvPr/>
        </p:nvSpPr>
        <p:spPr>
          <a:xfrm>
            <a:off x="8110728" y="2039112"/>
            <a:ext cx="3273552" cy="1188720"/>
          </a:xfrm>
          <a:prstGeom prst="rect">
            <a:avLst/>
          </a:prstGeom>
          <a:noFill/>
        </p:spPr>
        <p:txBody>
          <a:bodyPr wrap="square">
            <a:spAutoFit/>
          </a:bodyPr>
          <a:lstStyle/>
          <a:p>
            <a:pPr algn="l"/>
            <a:r>
              <a:rPr sz="950" b="0" i="0">
                <a:solidFill>
                  <a:srgbClr val="6B7396"/>
                </a:solidFill>
              </a:rPr>
              <a:t>One-click handoff from the merge result directly into the Bulk Verify flow — no intermediate download needed. The merged file arrives with column detection already run and all fields pre-mapped.</a:t>
            </a:r>
          </a:p>
        </p:txBody>
      </p:sp>
      <p:sp>
        <p:nvSpPr>
          <p:cNvPr id="26" name="Rounded Rectangle 25"/>
          <p:cNvSpPr/>
          <p:nvPr/>
        </p:nvSpPr>
        <p:spPr>
          <a:xfrm>
            <a:off x="502920" y="3493008"/>
            <a:ext cx="11155680" cy="2670048"/>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621024"/>
            <a:ext cx="4572000" cy="228600"/>
          </a:xfrm>
          <a:prstGeom prst="rect">
            <a:avLst/>
          </a:prstGeom>
          <a:noFill/>
        </p:spPr>
        <p:txBody>
          <a:bodyPr wrap="square">
            <a:spAutoFit/>
          </a:bodyPr>
          <a:lstStyle/>
          <a:p>
            <a:pPr algn="l"/>
            <a:r>
              <a:rPr sz="850" b="1" i="0">
                <a:solidFill>
                  <a:srgbClr val="6B7396"/>
                </a:solidFill>
              </a:rPr>
              <a:t>OUTPUT SCHEMA — 18 COLUMNS</a:t>
            </a:r>
          </a:p>
        </p:txBody>
      </p:sp>
      <p:sp>
        <p:nvSpPr>
          <p:cNvPr id="28" name="Rounded Rectangle 27"/>
          <p:cNvSpPr/>
          <p:nvPr/>
        </p:nvSpPr>
        <p:spPr>
          <a:xfrm>
            <a:off x="667512"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941064"/>
            <a:ext cx="1143000" cy="292608"/>
          </a:xfrm>
          <a:prstGeom prst="rect">
            <a:avLst/>
          </a:prstGeom>
          <a:noFill/>
        </p:spPr>
        <p:txBody>
          <a:bodyPr wrap="square">
            <a:spAutoFit/>
          </a:bodyPr>
          <a:lstStyle/>
          <a:p>
            <a:pPr algn="ctr"/>
            <a:r>
              <a:rPr sz="850" b="0" i="0">
                <a:solidFill>
                  <a:srgbClr val="0F111A"/>
                </a:solidFill>
              </a:rPr>
              <a:t>PI Name</a:t>
            </a:r>
          </a:p>
        </p:txBody>
      </p:sp>
      <p:sp>
        <p:nvSpPr>
          <p:cNvPr id="30" name="Rounded Rectangle 29"/>
          <p:cNvSpPr/>
          <p:nvPr/>
        </p:nvSpPr>
        <p:spPr>
          <a:xfrm>
            <a:off x="1892808"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92808" y="3941064"/>
            <a:ext cx="1143000" cy="292608"/>
          </a:xfrm>
          <a:prstGeom prst="rect">
            <a:avLst/>
          </a:prstGeom>
          <a:noFill/>
        </p:spPr>
        <p:txBody>
          <a:bodyPr wrap="square">
            <a:spAutoFit/>
          </a:bodyPr>
          <a:lstStyle/>
          <a:p>
            <a:pPr algn="ctr"/>
            <a:r>
              <a:rPr sz="850" b="0" i="0">
                <a:solidFill>
                  <a:srgbClr val="0F111A"/>
                </a:solidFill>
              </a:rPr>
              <a:t>Epic Id</a:t>
            </a:r>
          </a:p>
        </p:txBody>
      </p:sp>
      <p:sp>
        <p:nvSpPr>
          <p:cNvPr id="32" name="Rounded Rectangle 31"/>
          <p:cNvSpPr/>
          <p:nvPr/>
        </p:nvSpPr>
        <p:spPr>
          <a:xfrm>
            <a:off x="3118104"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18104" y="3941064"/>
            <a:ext cx="1143000" cy="292608"/>
          </a:xfrm>
          <a:prstGeom prst="rect">
            <a:avLst/>
          </a:prstGeom>
          <a:noFill/>
        </p:spPr>
        <p:txBody>
          <a:bodyPr wrap="square">
            <a:spAutoFit/>
          </a:bodyPr>
          <a:lstStyle/>
          <a:p>
            <a:pPr algn="ctr"/>
            <a:r>
              <a:rPr sz="850" b="0" i="0">
                <a:solidFill>
                  <a:srgbClr val="0F111A"/>
                </a:solidFill>
              </a:rPr>
              <a:t>Epic Name</a:t>
            </a:r>
          </a:p>
        </p:txBody>
      </p:sp>
      <p:sp>
        <p:nvSpPr>
          <p:cNvPr id="34" name="Rounded Rectangle 33"/>
          <p:cNvSpPr/>
          <p:nvPr/>
        </p:nvSpPr>
        <p:spPr>
          <a:xfrm>
            <a:off x="4343400"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3941064"/>
            <a:ext cx="1143000" cy="292608"/>
          </a:xfrm>
          <a:prstGeom prst="rect">
            <a:avLst/>
          </a:prstGeom>
          <a:noFill/>
        </p:spPr>
        <p:txBody>
          <a:bodyPr wrap="square">
            <a:spAutoFit/>
          </a:bodyPr>
          <a:lstStyle/>
          <a:p>
            <a:pPr algn="ctr"/>
            <a:r>
              <a:rPr sz="850" b="0" i="0">
                <a:solidFill>
                  <a:srgbClr val="0F111A"/>
                </a:solidFill>
              </a:rPr>
              <a:t>Epic Desc</a:t>
            </a:r>
          </a:p>
        </p:txBody>
      </p:sp>
      <p:sp>
        <p:nvSpPr>
          <p:cNvPr id="36" name="Rounded Rectangle 35"/>
          <p:cNvSpPr/>
          <p:nvPr/>
        </p:nvSpPr>
        <p:spPr>
          <a:xfrm>
            <a:off x="5568696"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68696" y="3941064"/>
            <a:ext cx="1143000" cy="292608"/>
          </a:xfrm>
          <a:prstGeom prst="rect">
            <a:avLst/>
          </a:prstGeom>
          <a:noFill/>
        </p:spPr>
        <p:txBody>
          <a:bodyPr wrap="square">
            <a:spAutoFit/>
          </a:bodyPr>
          <a:lstStyle/>
          <a:p>
            <a:pPr algn="ctr"/>
            <a:r>
              <a:rPr sz="850" b="0" i="0">
                <a:solidFill>
                  <a:srgbClr val="0F111A"/>
                </a:solidFill>
              </a:rPr>
              <a:t>Block</a:t>
            </a:r>
          </a:p>
        </p:txBody>
      </p:sp>
      <p:sp>
        <p:nvSpPr>
          <p:cNvPr id="38" name="Rounded Rectangle 37"/>
          <p:cNvSpPr/>
          <p:nvPr/>
        </p:nvSpPr>
        <p:spPr>
          <a:xfrm>
            <a:off x="6793992"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93992" y="3941064"/>
            <a:ext cx="1143000" cy="292608"/>
          </a:xfrm>
          <a:prstGeom prst="rect">
            <a:avLst/>
          </a:prstGeom>
          <a:noFill/>
        </p:spPr>
        <p:txBody>
          <a:bodyPr wrap="square">
            <a:spAutoFit/>
          </a:bodyPr>
          <a:lstStyle/>
          <a:p>
            <a:pPr algn="ctr"/>
            <a:r>
              <a:rPr sz="850" b="1" i="0">
                <a:solidFill>
                  <a:srgbClr val="5B52E8"/>
                </a:solidFill>
              </a:rPr>
              <a:t>WAF</a:t>
            </a:r>
          </a:p>
        </p:txBody>
      </p:sp>
      <p:sp>
        <p:nvSpPr>
          <p:cNvPr id="40" name="Rounded Rectangle 39"/>
          <p:cNvSpPr/>
          <p:nvPr/>
        </p:nvSpPr>
        <p:spPr>
          <a:xfrm>
            <a:off x="8019288"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19288" y="3941064"/>
            <a:ext cx="1143000" cy="292608"/>
          </a:xfrm>
          <a:prstGeom prst="rect">
            <a:avLst/>
          </a:prstGeom>
          <a:noFill/>
        </p:spPr>
        <p:txBody>
          <a:bodyPr wrap="square">
            <a:spAutoFit/>
          </a:bodyPr>
          <a:lstStyle/>
          <a:p>
            <a:pPr algn="ctr"/>
            <a:r>
              <a:rPr sz="850" b="1" i="0">
                <a:solidFill>
                  <a:srgbClr val="5B52E8"/>
                </a:solidFill>
              </a:rPr>
              <a:t>WAF Color</a:t>
            </a:r>
          </a:p>
        </p:txBody>
      </p:sp>
      <p:sp>
        <p:nvSpPr>
          <p:cNvPr id="42" name="Rounded Rectangle 41"/>
          <p:cNvSpPr/>
          <p:nvPr/>
        </p:nvSpPr>
        <p:spPr>
          <a:xfrm>
            <a:off x="9244584"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44584" y="3941064"/>
            <a:ext cx="1143000" cy="292608"/>
          </a:xfrm>
          <a:prstGeom prst="rect">
            <a:avLst/>
          </a:prstGeom>
          <a:noFill/>
        </p:spPr>
        <p:txBody>
          <a:bodyPr wrap="square">
            <a:spAutoFit/>
          </a:bodyPr>
          <a:lstStyle/>
          <a:p>
            <a:pPr algn="ctr"/>
            <a:r>
              <a:rPr sz="850" b="1" i="0">
                <a:solidFill>
                  <a:srgbClr val="5B52E8"/>
                </a:solidFill>
              </a:rPr>
              <a:t>WAF Category</a:t>
            </a:r>
          </a:p>
        </p:txBody>
      </p:sp>
      <p:sp>
        <p:nvSpPr>
          <p:cNvPr id="44" name="Rounded Rectangle 43"/>
          <p:cNvSpPr/>
          <p:nvPr/>
        </p:nvSpPr>
        <p:spPr>
          <a:xfrm>
            <a:off x="10469880"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69880" y="3941064"/>
            <a:ext cx="1143000" cy="292608"/>
          </a:xfrm>
          <a:prstGeom prst="rect">
            <a:avLst/>
          </a:prstGeom>
          <a:noFill/>
        </p:spPr>
        <p:txBody>
          <a:bodyPr wrap="square">
            <a:spAutoFit/>
          </a:bodyPr>
          <a:lstStyle/>
          <a:p>
            <a:pPr algn="ctr"/>
            <a:r>
              <a:rPr sz="850" b="1" i="0">
                <a:solidFill>
                  <a:srgbClr val="5B52E8"/>
                </a:solidFill>
              </a:rPr>
              <a:t>Run/Change</a:t>
            </a:r>
          </a:p>
        </p:txBody>
      </p:sp>
      <p:sp>
        <p:nvSpPr>
          <p:cNvPr id="46" name="Rounded Rectangle 45"/>
          <p:cNvSpPr/>
          <p:nvPr/>
        </p:nvSpPr>
        <p:spPr>
          <a:xfrm>
            <a:off x="667512"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416552"/>
            <a:ext cx="1143000" cy="292608"/>
          </a:xfrm>
          <a:prstGeom prst="rect">
            <a:avLst/>
          </a:prstGeom>
          <a:noFill/>
        </p:spPr>
        <p:txBody>
          <a:bodyPr wrap="square">
            <a:spAutoFit/>
          </a:bodyPr>
          <a:lstStyle/>
          <a:p>
            <a:pPr algn="ctr"/>
            <a:r>
              <a:rPr sz="850" b="0" i="0">
                <a:solidFill>
                  <a:srgbClr val="0F111A"/>
                </a:solidFill>
              </a:rPr>
              <a:t>Feature Id</a:t>
            </a:r>
          </a:p>
        </p:txBody>
      </p:sp>
      <p:sp>
        <p:nvSpPr>
          <p:cNvPr id="48" name="Rounded Rectangle 47"/>
          <p:cNvSpPr/>
          <p:nvPr/>
        </p:nvSpPr>
        <p:spPr>
          <a:xfrm>
            <a:off x="1892808"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92808" y="4416552"/>
            <a:ext cx="1143000" cy="292608"/>
          </a:xfrm>
          <a:prstGeom prst="rect">
            <a:avLst/>
          </a:prstGeom>
          <a:noFill/>
        </p:spPr>
        <p:txBody>
          <a:bodyPr wrap="square">
            <a:spAutoFit/>
          </a:bodyPr>
          <a:lstStyle/>
          <a:p>
            <a:pPr algn="ctr"/>
            <a:r>
              <a:rPr sz="850" b="0" i="0">
                <a:solidFill>
                  <a:srgbClr val="0F111A"/>
                </a:solidFill>
              </a:rPr>
              <a:t>Feature Name</a:t>
            </a:r>
          </a:p>
        </p:txBody>
      </p:sp>
      <p:sp>
        <p:nvSpPr>
          <p:cNvPr id="50" name="Rounded Rectangle 49"/>
          <p:cNvSpPr/>
          <p:nvPr/>
        </p:nvSpPr>
        <p:spPr>
          <a:xfrm>
            <a:off x="3118104"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18104" y="4416552"/>
            <a:ext cx="1143000" cy="292608"/>
          </a:xfrm>
          <a:prstGeom prst="rect">
            <a:avLst/>
          </a:prstGeom>
          <a:noFill/>
        </p:spPr>
        <p:txBody>
          <a:bodyPr wrap="square">
            <a:spAutoFit/>
          </a:bodyPr>
          <a:lstStyle/>
          <a:p>
            <a:pPr algn="ctr"/>
            <a:r>
              <a:rPr sz="850" b="0" i="0">
                <a:solidFill>
                  <a:srgbClr val="0F111A"/>
                </a:solidFill>
              </a:rPr>
              <a:t>Feature Desc</a:t>
            </a:r>
          </a:p>
        </p:txBody>
      </p:sp>
      <p:sp>
        <p:nvSpPr>
          <p:cNvPr id="52" name="Rounded Rectangle 51"/>
          <p:cNvSpPr/>
          <p:nvPr/>
        </p:nvSpPr>
        <p:spPr>
          <a:xfrm>
            <a:off x="4343400" y="4389120"/>
            <a:ext cx="1143000" cy="347472"/>
          </a:xfrm>
          <a:prstGeom prst="roundRect">
            <a:avLst>
              <a:gd name="adj" fmla="val 4000"/>
            </a:avLst>
          </a:prstGeom>
          <a:solidFill>
            <a:srgbClr val="DFF6F3"/>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43400" y="4416552"/>
            <a:ext cx="1143000" cy="292608"/>
          </a:xfrm>
          <a:prstGeom prst="rect">
            <a:avLst/>
          </a:prstGeom>
          <a:noFill/>
        </p:spPr>
        <p:txBody>
          <a:bodyPr wrap="square">
            <a:spAutoFit/>
          </a:bodyPr>
          <a:lstStyle/>
          <a:p>
            <a:pPr algn="ctr"/>
            <a:r>
              <a:rPr sz="850" b="1" i="0">
                <a:solidFill>
                  <a:srgbClr val="00A890"/>
                </a:solidFill>
              </a:rPr>
              <a:t>Team of Teams</a:t>
            </a:r>
          </a:p>
        </p:txBody>
      </p:sp>
      <p:sp>
        <p:nvSpPr>
          <p:cNvPr id="54" name="Rounded Rectangle 53"/>
          <p:cNvSpPr/>
          <p:nvPr/>
        </p:nvSpPr>
        <p:spPr>
          <a:xfrm>
            <a:off x="5568696"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68696" y="4416552"/>
            <a:ext cx="1143000" cy="292608"/>
          </a:xfrm>
          <a:prstGeom prst="rect">
            <a:avLst/>
          </a:prstGeom>
          <a:noFill/>
        </p:spPr>
        <p:txBody>
          <a:bodyPr wrap="square">
            <a:spAutoFit/>
          </a:bodyPr>
          <a:lstStyle/>
          <a:p>
            <a:pPr algn="ctr"/>
            <a:r>
              <a:rPr sz="850" b="0" i="0">
                <a:solidFill>
                  <a:srgbClr val="0F111A"/>
                </a:solidFill>
              </a:rPr>
              <a:t>Story Id</a:t>
            </a:r>
          </a:p>
        </p:txBody>
      </p:sp>
      <p:sp>
        <p:nvSpPr>
          <p:cNvPr id="56" name="Rounded Rectangle 55"/>
          <p:cNvSpPr/>
          <p:nvPr/>
        </p:nvSpPr>
        <p:spPr>
          <a:xfrm>
            <a:off x="6793992"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93992" y="4416552"/>
            <a:ext cx="1143000" cy="292608"/>
          </a:xfrm>
          <a:prstGeom prst="rect">
            <a:avLst/>
          </a:prstGeom>
          <a:noFill/>
        </p:spPr>
        <p:txBody>
          <a:bodyPr wrap="square">
            <a:spAutoFit/>
          </a:bodyPr>
          <a:lstStyle/>
          <a:p>
            <a:pPr algn="ctr"/>
            <a:r>
              <a:rPr sz="850" b="0" i="0">
                <a:solidFill>
                  <a:srgbClr val="0F111A"/>
                </a:solidFill>
              </a:rPr>
              <a:t>Story Name</a:t>
            </a:r>
          </a:p>
        </p:txBody>
      </p:sp>
      <p:sp>
        <p:nvSpPr>
          <p:cNvPr id="58" name="Rounded Rectangle 57"/>
          <p:cNvSpPr/>
          <p:nvPr/>
        </p:nvSpPr>
        <p:spPr>
          <a:xfrm>
            <a:off x="8019288"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19288" y="4416552"/>
            <a:ext cx="1143000" cy="292608"/>
          </a:xfrm>
          <a:prstGeom prst="rect">
            <a:avLst/>
          </a:prstGeom>
          <a:noFill/>
        </p:spPr>
        <p:txBody>
          <a:bodyPr wrap="square">
            <a:spAutoFit/>
          </a:bodyPr>
          <a:lstStyle/>
          <a:p>
            <a:pPr algn="ctr"/>
            <a:r>
              <a:rPr sz="850" b="0" i="0">
                <a:solidFill>
                  <a:srgbClr val="0F111A"/>
                </a:solidFill>
              </a:rPr>
              <a:t>Story Desc</a:t>
            </a:r>
          </a:p>
        </p:txBody>
      </p:sp>
      <p:sp>
        <p:nvSpPr>
          <p:cNvPr id="60" name="Rounded Rectangle 59"/>
          <p:cNvSpPr/>
          <p:nvPr/>
        </p:nvSpPr>
        <p:spPr>
          <a:xfrm>
            <a:off x="9244584"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244584" y="4416552"/>
            <a:ext cx="1143000" cy="292608"/>
          </a:xfrm>
          <a:prstGeom prst="rect">
            <a:avLst/>
          </a:prstGeom>
          <a:noFill/>
        </p:spPr>
        <p:txBody>
          <a:bodyPr wrap="square">
            <a:spAutoFit/>
          </a:bodyPr>
          <a:lstStyle/>
          <a:p>
            <a:pPr algn="ctr"/>
            <a:r>
              <a:rPr sz="850" b="0" i="0">
                <a:solidFill>
                  <a:srgbClr val="0F111A"/>
                </a:solidFill>
              </a:rPr>
              <a:t>Story Points</a:t>
            </a:r>
          </a:p>
        </p:txBody>
      </p:sp>
      <p:sp>
        <p:nvSpPr>
          <p:cNvPr id="62" name="Rounded Rectangle 61"/>
          <p:cNvSpPr/>
          <p:nvPr/>
        </p:nvSpPr>
        <p:spPr>
          <a:xfrm>
            <a:off x="10469880"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69880" y="4416552"/>
            <a:ext cx="1143000" cy="292608"/>
          </a:xfrm>
          <a:prstGeom prst="rect">
            <a:avLst/>
          </a:prstGeom>
          <a:noFill/>
        </p:spPr>
        <p:txBody>
          <a:bodyPr wrap="square">
            <a:spAutoFit/>
          </a:bodyPr>
          <a:lstStyle/>
          <a:p>
            <a:pPr algn="ctr"/>
            <a:r>
              <a:rPr sz="850" b="0" i="0">
                <a:solidFill>
                  <a:srgbClr val="0F111A"/>
                </a:solidFill>
              </a:rPr>
              <a:t>Assigned Teams</a:t>
            </a:r>
          </a:p>
        </p:txBody>
      </p:sp>
      <p:sp>
        <p:nvSpPr>
          <p:cNvPr id="64" name="Rounded Rectangle 63"/>
          <p:cNvSpPr/>
          <p:nvPr/>
        </p:nvSpPr>
        <p:spPr>
          <a:xfrm>
            <a:off x="685800" y="4974336"/>
            <a:ext cx="128016" cy="12801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8680" y="4961636"/>
            <a:ext cx="1371600" cy="164592"/>
          </a:xfrm>
          <a:prstGeom prst="rect">
            <a:avLst/>
          </a:prstGeom>
          <a:noFill/>
        </p:spPr>
        <p:txBody>
          <a:bodyPr wrap="square">
            <a:spAutoFit/>
          </a:bodyPr>
          <a:lstStyle/>
          <a:p>
            <a:pPr algn="l"/>
            <a:r>
              <a:rPr sz="800" b="0" i="0">
                <a:solidFill>
                  <a:srgbClr val="6B7396"/>
                </a:solidFill>
              </a:rPr>
              <a:t>WAF fields</a:t>
            </a:r>
          </a:p>
        </p:txBody>
      </p:sp>
      <p:sp>
        <p:nvSpPr>
          <p:cNvPr id="66" name="Rounded Rectangle 65"/>
          <p:cNvSpPr/>
          <p:nvPr/>
        </p:nvSpPr>
        <p:spPr>
          <a:xfrm>
            <a:off x="2423160" y="4974336"/>
            <a:ext cx="128016" cy="128016"/>
          </a:xfrm>
          <a:prstGeom prst="roundRect">
            <a:avLst>
              <a:gd name="adj" fmla="val 4000"/>
            </a:avLst>
          </a:prstGeom>
          <a:solidFill>
            <a:srgbClr val="DFF6F3"/>
          </a:solidFill>
          <a:ln w="9525">
            <a:solidFill>
              <a:srgbClr val="DF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606040" y="4961636"/>
            <a:ext cx="1371600" cy="164592"/>
          </a:xfrm>
          <a:prstGeom prst="rect">
            <a:avLst/>
          </a:prstGeom>
          <a:noFill/>
        </p:spPr>
        <p:txBody>
          <a:bodyPr wrap="square">
            <a:spAutoFit/>
          </a:bodyPr>
          <a:lstStyle/>
          <a:p>
            <a:pPr algn="l"/>
            <a:r>
              <a:rPr sz="800" b="0" i="0">
                <a:solidFill>
                  <a:srgbClr val="6B7396"/>
                </a:solidFill>
              </a:rPr>
              <a:t>Team of Teams</a:t>
            </a:r>
          </a:p>
        </p:txBody>
      </p:sp>
      <p:sp>
        <p:nvSpPr>
          <p:cNvPr id="68" name="Rectangle 67"/>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6819900"/>
            <a:ext cx="8438505"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71" name="TextBox 70"/>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A4 · MODULE 4</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Teams</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Understand how every Scrum Team and Team of Teams (ART) is aligned to the WAF — and how their work distributes across epics.</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02920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Team Summary</a:t>
            </a:r>
          </a:p>
        </p:txBody>
      </p:sp>
      <p:sp>
        <p:nvSpPr>
          <p:cNvPr id="13" name="TextBox 12"/>
          <p:cNvSpPr txBox="1"/>
          <p:nvPr/>
        </p:nvSpPr>
        <p:spPr>
          <a:xfrm>
            <a:off x="649224" y="2039112"/>
            <a:ext cx="5148072" cy="1280160"/>
          </a:xfrm>
          <a:prstGeom prst="rect">
            <a:avLst/>
          </a:prstGeom>
          <a:noFill/>
        </p:spPr>
        <p:txBody>
          <a:bodyPr wrap="square">
            <a:spAutoFit/>
          </a:bodyPr>
          <a:lstStyle/>
          <a:p>
            <a:pPr algn="l"/>
            <a:r>
              <a:rPr sz="950" b="0" i="0">
                <a:solidFill>
                  <a:srgbClr val="6B7396"/>
                </a:solidFill>
              </a:rPr>
              <a:t>For every Scrum Team: total stories, unique epics touched, WAF category breakdown, dominant colour, mismatch rate, and their Team of Teams (ART). Supports ART-level rollup filtering.</a:t>
            </a:r>
          </a:p>
        </p:txBody>
      </p:sp>
      <p:sp>
        <p:nvSpPr>
          <p:cNvPr id="14" name="Rounded Rectangle 13"/>
          <p:cNvSpPr/>
          <p:nvPr/>
        </p:nvSpPr>
        <p:spPr>
          <a:xfrm>
            <a:off x="6108192" y="141732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63447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3447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Team Drilldown</a:t>
            </a:r>
          </a:p>
        </p:txBody>
      </p:sp>
      <p:sp>
        <p:nvSpPr>
          <p:cNvPr id="19" name="TextBox 18"/>
          <p:cNvSpPr txBox="1"/>
          <p:nvPr/>
        </p:nvSpPr>
        <p:spPr>
          <a:xfrm>
            <a:off x="6254496" y="2039112"/>
            <a:ext cx="5148072" cy="1280160"/>
          </a:xfrm>
          <a:prstGeom prst="rect">
            <a:avLst/>
          </a:prstGeom>
          <a:noFill/>
        </p:spPr>
        <p:txBody>
          <a:bodyPr wrap="square">
            <a:spAutoFit/>
          </a:bodyPr>
          <a:lstStyle/>
          <a:p>
            <a:pPr algn="l"/>
            <a:r>
              <a:rPr sz="950" b="0" i="0">
                <a:solidFill>
                  <a:srgbClr val="6B7396"/>
                </a:solidFill>
              </a:rPr>
              <a:t>Drill into a single team to see their work organised as Epic → Feature → Story trees, with per-epic category consistency, dominant classifications, and health indicators.</a:t>
            </a:r>
          </a:p>
        </p:txBody>
      </p:sp>
      <p:sp>
        <p:nvSpPr>
          <p:cNvPr id="20" name="Rounded Rectangle 19"/>
          <p:cNvSpPr/>
          <p:nvPr/>
        </p:nvSpPr>
        <p:spPr>
          <a:xfrm>
            <a:off x="502920" y="352044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61188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63931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626612"/>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3904488"/>
            <a:ext cx="5148072" cy="256032"/>
          </a:xfrm>
          <a:prstGeom prst="rect">
            <a:avLst/>
          </a:prstGeom>
          <a:noFill/>
        </p:spPr>
        <p:txBody>
          <a:bodyPr wrap="square">
            <a:spAutoFit/>
          </a:bodyPr>
          <a:lstStyle/>
          <a:p>
            <a:pPr algn="l"/>
            <a:r>
              <a:rPr sz="1100" b="1" i="0">
                <a:solidFill>
                  <a:srgbClr val="0F111A"/>
                </a:solidFill>
              </a:rPr>
              <a:t>Teams by Epic</a:t>
            </a:r>
          </a:p>
        </p:txBody>
      </p:sp>
      <p:sp>
        <p:nvSpPr>
          <p:cNvPr id="25" name="TextBox 24"/>
          <p:cNvSpPr txBox="1"/>
          <p:nvPr/>
        </p:nvSpPr>
        <p:spPr>
          <a:xfrm>
            <a:off x="649224" y="4142232"/>
            <a:ext cx="5148072" cy="1280160"/>
          </a:xfrm>
          <a:prstGeom prst="rect">
            <a:avLst/>
          </a:prstGeom>
          <a:noFill/>
        </p:spPr>
        <p:txBody>
          <a:bodyPr wrap="square">
            <a:spAutoFit/>
          </a:bodyPr>
          <a:lstStyle/>
          <a:p>
            <a:pPr algn="l"/>
            <a:r>
              <a:rPr sz="950" b="0" i="0">
                <a:solidFill>
                  <a:srgbClr val="6B7396"/>
                </a:solidFill>
              </a:rPr>
              <a:t>Pick an epic and see every team contributing to it, their story counts, and category distribution. Immediately surfaces cross-team alignment (or divergence) on a single initiative.</a:t>
            </a:r>
          </a:p>
        </p:txBody>
      </p:sp>
      <p:sp>
        <p:nvSpPr>
          <p:cNvPr id="26" name="Rounded Rectangle 25"/>
          <p:cNvSpPr/>
          <p:nvPr/>
        </p:nvSpPr>
        <p:spPr>
          <a:xfrm>
            <a:off x="6108192" y="352044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611880"/>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63931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626612"/>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3904488"/>
            <a:ext cx="5148072" cy="256032"/>
          </a:xfrm>
          <a:prstGeom prst="rect">
            <a:avLst/>
          </a:prstGeom>
          <a:noFill/>
        </p:spPr>
        <p:txBody>
          <a:bodyPr wrap="square">
            <a:spAutoFit/>
          </a:bodyPr>
          <a:lstStyle/>
          <a:p>
            <a:pPr algn="l"/>
            <a:r>
              <a:rPr sz="1100" b="1" i="0">
                <a:solidFill>
                  <a:srgbClr val="0F111A"/>
                </a:solidFill>
              </a:rPr>
              <a:t>Epics List</a:t>
            </a:r>
          </a:p>
        </p:txBody>
      </p:sp>
      <p:sp>
        <p:nvSpPr>
          <p:cNvPr id="31" name="TextBox 30"/>
          <p:cNvSpPr txBox="1"/>
          <p:nvPr/>
        </p:nvSpPr>
        <p:spPr>
          <a:xfrm>
            <a:off x="6254496" y="4142232"/>
            <a:ext cx="5148072" cy="1280160"/>
          </a:xfrm>
          <a:prstGeom prst="rect">
            <a:avLst/>
          </a:prstGeom>
          <a:noFill/>
        </p:spPr>
        <p:txBody>
          <a:bodyPr wrap="square">
            <a:spAutoFit/>
          </a:bodyPr>
          <a:lstStyle/>
          <a:p>
            <a:pPr algn="l"/>
            <a:r>
              <a:rPr sz="950" b="0" i="0">
                <a:solidFill>
                  <a:srgbClr val="6B7396"/>
                </a:solidFill>
              </a:rPr>
              <a:t>A master list of all epics with story counts, team assignments, and dominant WAF category — the navigation starting point for the By Epic tab and cross-team analysis.</a:t>
            </a:r>
          </a:p>
        </p:txBody>
      </p:sp>
      <p:sp>
        <p:nvSpPr>
          <p:cNvPr id="32" name="Rounded Rectangle 31"/>
          <p:cNvSpPr/>
          <p:nvPr/>
        </p:nvSpPr>
        <p:spPr>
          <a:xfrm>
            <a:off x="502920" y="5669280"/>
            <a:ext cx="11155680" cy="749808"/>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60720"/>
            <a:ext cx="1097280" cy="219456"/>
          </a:xfrm>
          <a:prstGeom prst="rect">
            <a:avLst/>
          </a:prstGeom>
          <a:noFill/>
        </p:spPr>
        <p:txBody>
          <a:bodyPr wrap="square">
            <a:spAutoFit/>
          </a:bodyPr>
          <a:lstStyle/>
          <a:p>
            <a:pPr algn="l"/>
            <a:r>
              <a:rPr sz="850" b="1" i="0">
                <a:solidFill>
                  <a:srgbClr val="6B7396"/>
                </a:solidFill>
              </a:rPr>
              <a:t>HIERARCHY</a:t>
            </a:r>
          </a:p>
        </p:txBody>
      </p:sp>
      <p:sp>
        <p:nvSpPr>
          <p:cNvPr id="34" name="Rounded Rectangle 33"/>
          <p:cNvSpPr/>
          <p:nvPr/>
        </p:nvSpPr>
        <p:spPr>
          <a:xfrm>
            <a:off x="2011680" y="5760720"/>
            <a:ext cx="2103120" cy="402336"/>
          </a:xfrm>
          <a:prstGeom prst="roundRect">
            <a:avLst>
              <a:gd name="adj" fmla="val 4000"/>
            </a:avLst>
          </a:prstGeom>
          <a:solidFill>
            <a:srgbClr val="EEEDFF"/>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11680" y="5797296"/>
            <a:ext cx="2103120" cy="329184"/>
          </a:xfrm>
          <a:prstGeom prst="rect">
            <a:avLst/>
          </a:prstGeom>
          <a:noFill/>
        </p:spPr>
        <p:txBody>
          <a:bodyPr wrap="square">
            <a:spAutoFit/>
          </a:bodyPr>
          <a:lstStyle/>
          <a:p>
            <a:pPr algn="ctr"/>
            <a:r>
              <a:rPr sz="1100" b="1" i="0">
                <a:solidFill>
                  <a:srgbClr val="5B52E8"/>
                </a:solidFill>
              </a:rPr>
              <a:t>Team of Teams (ART)</a:t>
            </a:r>
          </a:p>
        </p:txBody>
      </p:sp>
      <p:sp>
        <p:nvSpPr>
          <p:cNvPr id="36" name="TextBox 35"/>
          <p:cNvSpPr txBox="1"/>
          <p:nvPr/>
        </p:nvSpPr>
        <p:spPr>
          <a:xfrm>
            <a:off x="4242816" y="5815584"/>
            <a:ext cx="310896" cy="329184"/>
          </a:xfrm>
          <a:prstGeom prst="rect">
            <a:avLst/>
          </a:prstGeom>
          <a:noFill/>
        </p:spPr>
        <p:txBody>
          <a:bodyPr wrap="square">
            <a:spAutoFit/>
          </a:bodyPr>
          <a:lstStyle/>
          <a:p>
            <a:pPr algn="ctr"/>
            <a:r>
              <a:rPr sz="1400" b="0" i="0">
                <a:solidFill>
                  <a:srgbClr val="6B7396"/>
                </a:solidFill>
              </a:rPr>
              <a:t>→</a:t>
            </a:r>
          </a:p>
        </p:txBody>
      </p:sp>
      <p:sp>
        <p:nvSpPr>
          <p:cNvPr id="37" name="Rounded Rectangle 36"/>
          <p:cNvSpPr/>
          <p:nvPr/>
        </p:nvSpPr>
        <p:spPr>
          <a:xfrm>
            <a:off x="4572000" y="5760720"/>
            <a:ext cx="2103120" cy="402336"/>
          </a:xfrm>
          <a:prstGeom prst="roundRect">
            <a:avLst>
              <a:gd name="adj" fmla="val 4000"/>
            </a:avLst>
          </a:prstGeom>
          <a:solidFill>
            <a:srgbClr val="DFF6F3"/>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0" y="5797296"/>
            <a:ext cx="2103120" cy="329184"/>
          </a:xfrm>
          <a:prstGeom prst="rect">
            <a:avLst/>
          </a:prstGeom>
          <a:noFill/>
        </p:spPr>
        <p:txBody>
          <a:bodyPr wrap="square">
            <a:spAutoFit/>
          </a:bodyPr>
          <a:lstStyle/>
          <a:p>
            <a:pPr algn="ctr"/>
            <a:r>
              <a:rPr sz="1100" b="1" i="0">
                <a:solidFill>
                  <a:srgbClr val="00A890"/>
                </a:solidFill>
              </a:rPr>
              <a:t>Scrum Teams</a:t>
            </a:r>
          </a:p>
        </p:txBody>
      </p:sp>
      <p:sp>
        <p:nvSpPr>
          <p:cNvPr id="39" name="TextBox 38"/>
          <p:cNvSpPr txBox="1"/>
          <p:nvPr/>
        </p:nvSpPr>
        <p:spPr>
          <a:xfrm>
            <a:off x="6803136" y="5815584"/>
            <a:ext cx="310896" cy="329184"/>
          </a:xfrm>
          <a:prstGeom prst="rect">
            <a:avLst/>
          </a:prstGeom>
          <a:noFill/>
        </p:spPr>
        <p:txBody>
          <a:bodyPr wrap="square">
            <a:spAutoFit/>
          </a:bodyPr>
          <a:lstStyle/>
          <a:p>
            <a:pPr algn="ctr"/>
            <a:r>
              <a:rPr sz="1400" b="0" i="0">
                <a:solidFill>
                  <a:srgbClr val="6B7396"/>
                </a:solidFill>
              </a:rPr>
              <a:t>→</a:t>
            </a:r>
          </a:p>
        </p:txBody>
      </p:sp>
      <p:sp>
        <p:nvSpPr>
          <p:cNvPr id="40" name="Rounded Rectangle 39"/>
          <p:cNvSpPr/>
          <p:nvPr/>
        </p:nvSpPr>
        <p:spPr>
          <a:xfrm>
            <a:off x="7132320" y="5760720"/>
            <a:ext cx="2103120" cy="402336"/>
          </a:xfrm>
          <a:prstGeom prst="roundRect">
            <a:avLst>
              <a:gd name="adj" fmla="val 4000"/>
            </a:avLst>
          </a:prstGeom>
          <a:solidFill>
            <a:srgbClr val="F0F2F9"/>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0" y="5797296"/>
            <a:ext cx="2103120" cy="329184"/>
          </a:xfrm>
          <a:prstGeom prst="rect">
            <a:avLst/>
          </a:prstGeom>
          <a:noFill/>
        </p:spPr>
        <p:txBody>
          <a:bodyPr wrap="square">
            <a:spAutoFit/>
          </a:bodyPr>
          <a:lstStyle/>
          <a:p>
            <a:pPr algn="ctr"/>
            <a:r>
              <a:rPr sz="1100" b="1" i="0">
                <a:solidFill>
                  <a:srgbClr val="0F111A"/>
                </a:solidFill>
              </a:rPr>
              <a:t>Stories</a:t>
            </a:r>
          </a:p>
        </p:txBody>
      </p:sp>
      <p:sp>
        <p:nvSpPr>
          <p:cNvPr id="42" name="Rectangle 4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819900"/>
            <a:ext cx="9376116"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5" name="TextBox 4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A5 · MODULE 5</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Story Quality — Definition of Ready</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Score every story against a 9-criterion DoR rubric — then use AI to refine or fully rewrite stories that don't pass.</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246120"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1523492"/>
            <a:ext cx="713232" cy="215900"/>
          </a:xfrm>
          <a:prstGeom prst="rect">
            <a:avLst/>
          </a:prstGeom>
          <a:noFill/>
        </p:spPr>
        <p:txBody>
          <a:bodyPr wrap="square">
            <a:spAutoFit/>
          </a:bodyPr>
          <a:lstStyle/>
          <a:p>
            <a:pPr algn="ctr"/>
            <a:r>
              <a:rPr sz="750" b="1" i="0">
                <a:solidFill>
                  <a:srgbClr val="4A40CC"/>
                </a:solidFill>
              </a:rPr>
              <a:t>🤖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Batch DoR Scoring</a:t>
            </a:r>
          </a:p>
        </p:txBody>
      </p:sp>
      <p:sp>
        <p:nvSpPr>
          <p:cNvPr id="13" name="TextBox 12"/>
          <p:cNvSpPr txBox="1"/>
          <p:nvPr/>
        </p:nvSpPr>
        <p:spPr>
          <a:xfrm>
            <a:off x="649224" y="2039112"/>
            <a:ext cx="3273552" cy="1042416"/>
          </a:xfrm>
          <a:prstGeom prst="rect">
            <a:avLst/>
          </a:prstGeom>
          <a:noFill/>
        </p:spPr>
        <p:txBody>
          <a:bodyPr wrap="square">
            <a:spAutoFit/>
          </a:bodyPr>
          <a:lstStyle/>
          <a:p>
            <a:pPr algn="l"/>
            <a:r>
              <a:rPr sz="950" b="0" i="0">
                <a:solidFill>
                  <a:srgbClr val="6B7396"/>
                </a:solidFill>
              </a:rPr>
              <a:t>Scores every story against 9 criteria: Narrative Format, Source Data, Business Rules, Output Artifact, Acceptance Criteria, Data Quality Checks, Traceability, Story Points, Dependencies. Each criterion gets a pass/fail with a short reason.</a:t>
            </a:r>
          </a:p>
        </p:txBody>
      </p:sp>
      <p:sp>
        <p:nvSpPr>
          <p:cNvPr id="14" name="Rounded Rectangle 13"/>
          <p:cNvSpPr/>
          <p:nvPr/>
        </p:nvSpPr>
        <p:spPr>
          <a:xfrm>
            <a:off x="4233672"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976872"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76872" y="1523492"/>
            <a:ext cx="713232" cy="215900"/>
          </a:xfrm>
          <a:prstGeom prst="rect">
            <a:avLst/>
          </a:prstGeom>
          <a:noFill/>
        </p:spPr>
        <p:txBody>
          <a:bodyPr wrap="square">
            <a:spAutoFit/>
          </a:bodyPr>
          <a:lstStyle/>
          <a:p>
            <a:pPr algn="ctr"/>
            <a:r>
              <a:rPr sz="750" b="1" i="0">
                <a:solidFill>
                  <a:srgbClr val="4A40CC"/>
                </a:solidFill>
              </a:rPr>
              <a:t>🤖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Story Improvement Chat</a:t>
            </a:r>
          </a:p>
        </p:txBody>
      </p:sp>
      <p:sp>
        <p:nvSpPr>
          <p:cNvPr id="19" name="TextBox 18"/>
          <p:cNvSpPr txBox="1"/>
          <p:nvPr/>
        </p:nvSpPr>
        <p:spPr>
          <a:xfrm>
            <a:off x="4379976" y="2039112"/>
            <a:ext cx="3273552" cy="1042416"/>
          </a:xfrm>
          <a:prstGeom prst="rect">
            <a:avLst/>
          </a:prstGeom>
          <a:noFill/>
        </p:spPr>
        <p:txBody>
          <a:bodyPr wrap="square">
            <a:spAutoFit/>
          </a:bodyPr>
          <a:lstStyle/>
          <a:p>
            <a:pPr algn="l"/>
            <a:r>
              <a:rPr sz="950" b="0" i="0">
                <a:solidFill>
                  <a:srgbClr val="6B7396"/>
                </a:solidFill>
              </a:rPr>
              <a:t>Open a chat against a specific story. The AI suggests targeted improvements for whichever criteria are failing — collaborative, iterative refinement without rewriting the whole story.</a:t>
            </a:r>
          </a:p>
        </p:txBody>
      </p:sp>
      <p:sp>
        <p:nvSpPr>
          <p:cNvPr id="20" name="Rounded Rectangle 19"/>
          <p:cNvSpPr/>
          <p:nvPr/>
        </p:nvSpPr>
        <p:spPr>
          <a:xfrm>
            <a:off x="7964424"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707624"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07624" y="1523492"/>
            <a:ext cx="713232" cy="215900"/>
          </a:xfrm>
          <a:prstGeom prst="rect">
            <a:avLst/>
          </a:prstGeom>
          <a:noFill/>
        </p:spPr>
        <p:txBody>
          <a:bodyPr wrap="square">
            <a:spAutoFit/>
          </a:bodyPr>
          <a:lstStyle/>
          <a:p>
            <a:pPr algn="ctr"/>
            <a:r>
              <a:rPr sz="750" b="1" i="0">
                <a:solidFill>
                  <a:srgbClr val="4A40CC"/>
                </a:solidFill>
              </a:rPr>
              <a:t>🤖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AI Story Rewrite</a:t>
            </a:r>
          </a:p>
        </p:txBody>
      </p:sp>
      <p:sp>
        <p:nvSpPr>
          <p:cNvPr id="25" name="TextBox 24"/>
          <p:cNvSpPr txBox="1"/>
          <p:nvPr/>
        </p:nvSpPr>
        <p:spPr>
          <a:xfrm>
            <a:off x="8110728" y="2039112"/>
            <a:ext cx="3273552" cy="1042416"/>
          </a:xfrm>
          <a:prstGeom prst="rect">
            <a:avLst/>
          </a:prstGeom>
          <a:noFill/>
        </p:spPr>
        <p:txBody>
          <a:bodyPr wrap="square">
            <a:spAutoFit/>
          </a:bodyPr>
          <a:lstStyle/>
          <a:p>
            <a:pPr algn="l"/>
            <a:r>
              <a:rPr sz="950" b="0" i="0">
                <a:solidFill>
                  <a:srgbClr val="6B7396"/>
                </a:solidFill>
              </a:rPr>
              <a:t>One click for the AI to produce a fully rewritten version of the story addressing all failing criteria, in the correct narrative format — ready to copy back into JIRA.</a:t>
            </a:r>
          </a:p>
        </p:txBody>
      </p:sp>
      <p:sp>
        <p:nvSpPr>
          <p:cNvPr id="26" name="Rounded Rectangle 25"/>
          <p:cNvSpPr/>
          <p:nvPr/>
        </p:nvSpPr>
        <p:spPr>
          <a:xfrm>
            <a:off x="502920" y="3310128"/>
            <a:ext cx="5440680" cy="160934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401568"/>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5029200" y="342900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3416300"/>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49224" y="3694176"/>
            <a:ext cx="5148072" cy="256032"/>
          </a:xfrm>
          <a:prstGeom prst="rect">
            <a:avLst/>
          </a:prstGeom>
          <a:noFill/>
        </p:spPr>
        <p:txBody>
          <a:bodyPr wrap="square">
            <a:spAutoFit/>
          </a:bodyPr>
          <a:lstStyle/>
          <a:p>
            <a:pPr algn="l"/>
            <a:r>
              <a:rPr sz="1100" b="1" i="0">
                <a:solidFill>
                  <a:srgbClr val="0F111A"/>
                </a:solidFill>
              </a:rPr>
              <a:t>Quality Results &amp; History</a:t>
            </a:r>
          </a:p>
        </p:txBody>
      </p:sp>
      <p:sp>
        <p:nvSpPr>
          <p:cNvPr id="31" name="TextBox 30"/>
          <p:cNvSpPr txBox="1"/>
          <p:nvPr/>
        </p:nvSpPr>
        <p:spPr>
          <a:xfrm>
            <a:off x="649224" y="3931920"/>
            <a:ext cx="5148072" cy="914400"/>
          </a:xfrm>
          <a:prstGeom prst="rect">
            <a:avLst/>
          </a:prstGeom>
          <a:noFill/>
        </p:spPr>
        <p:txBody>
          <a:bodyPr wrap="square">
            <a:spAutoFit/>
          </a:bodyPr>
          <a:lstStyle/>
          <a:p>
            <a:pPr algn="l"/>
            <a:r>
              <a:rPr sz="950" b="0" i="0">
                <a:solidFill>
                  <a:srgbClr val="6B7396"/>
                </a:solidFill>
              </a:rPr>
              <a:t>Browse scoring results by upload, team, or scoring run. See aggregate Ready / Needs Work / Not Ready counts, per-criterion pass rates, and score trends across multiple runs.</a:t>
            </a:r>
          </a:p>
        </p:txBody>
      </p:sp>
      <p:sp>
        <p:nvSpPr>
          <p:cNvPr id="32" name="Rounded Rectangle 31"/>
          <p:cNvSpPr/>
          <p:nvPr/>
        </p:nvSpPr>
        <p:spPr>
          <a:xfrm>
            <a:off x="6108192" y="3310128"/>
            <a:ext cx="5440680" cy="160934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4496" y="3401568"/>
            <a:ext cx="347472" cy="347472"/>
          </a:xfrm>
          <a:prstGeom prst="rect">
            <a:avLst/>
          </a:prstGeom>
          <a:noFill/>
        </p:spPr>
        <p:txBody>
          <a:bodyPr wrap="square">
            <a:spAutoFit/>
          </a:bodyPr>
          <a:lstStyle/>
          <a:p>
            <a:pPr algn="l"/>
            <a:r>
              <a:rPr sz="1500" b="0" i="0">
                <a:solidFill>
                  <a:srgbClr val="1E223A"/>
                </a:solidFill>
              </a:rPr>
              <a:t>📤</a:t>
            </a:r>
          </a:p>
        </p:txBody>
      </p:sp>
      <p:sp>
        <p:nvSpPr>
          <p:cNvPr id="34" name="Rounded Rectangle 33"/>
          <p:cNvSpPr/>
          <p:nvPr/>
        </p:nvSpPr>
        <p:spPr>
          <a:xfrm>
            <a:off x="10634472" y="342900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34472" y="3416300"/>
            <a:ext cx="804672" cy="215900"/>
          </a:xfrm>
          <a:prstGeom prst="rect">
            <a:avLst/>
          </a:prstGeom>
          <a:noFill/>
        </p:spPr>
        <p:txBody>
          <a:bodyPr wrap="square">
            <a:spAutoFit/>
          </a:bodyPr>
          <a:lstStyle/>
          <a:p>
            <a:pPr algn="ctr"/>
            <a:r>
              <a:rPr sz="750" b="1" i="0">
                <a:solidFill>
                  <a:srgbClr val="008772"/>
                </a:solidFill>
              </a:rPr>
              <a:t>✓  No LLM</a:t>
            </a:r>
          </a:p>
        </p:txBody>
      </p:sp>
      <p:sp>
        <p:nvSpPr>
          <p:cNvPr id="36" name="TextBox 35"/>
          <p:cNvSpPr txBox="1"/>
          <p:nvPr/>
        </p:nvSpPr>
        <p:spPr>
          <a:xfrm>
            <a:off x="6254496" y="3694176"/>
            <a:ext cx="5148072" cy="256032"/>
          </a:xfrm>
          <a:prstGeom prst="rect">
            <a:avLst/>
          </a:prstGeom>
          <a:noFill/>
        </p:spPr>
        <p:txBody>
          <a:bodyPr wrap="square">
            <a:spAutoFit/>
          </a:bodyPr>
          <a:lstStyle/>
          <a:p>
            <a:pPr algn="l"/>
            <a:r>
              <a:rPr sz="1100" b="1" i="0">
                <a:solidFill>
                  <a:srgbClr val="0F111A"/>
                </a:solidFill>
              </a:rPr>
              <a:t>Quality Export</a:t>
            </a:r>
          </a:p>
        </p:txBody>
      </p:sp>
      <p:sp>
        <p:nvSpPr>
          <p:cNvPr id="37" name="TextBox 36"/>
          <p:cNvSpPr txBox="1"/>
          <p:nvPr/>
        </p:nvSpPr>
        <p:spPr>
          <a:xfrm>
            <a:off x="6254496" y="3931920"/>
            <a:ext cx="5148072" cy="914400"/>
          </a:xfrm>
          <a:prstGeom prst="rect">
            <a:avLst/>
          </a:prstGeom>
          <a:noFill/>
        </p:spPr>
        <p:txBody>
          <a:bodyPr wrap="square">
            <a:spAutoFit/>
          </a:bodyPr>
          <a:lstStyle/>
          <a:p>
            <a:pPr algn="l"/>
            <a:r>
              <a:rPr sz="950" b="0" i="0">
                <a:solidFill>
                  <a:srgbClr val="6B7396"/>
                </a:solidFill>
              </a:rPr>
              <a:t>Download results as CSV — one row per story with pass/fail for all 9 criteria, overall score percentage, and team/epic metadata for downstream reporting.</a:t>
            </a:r>
          </a:p>
        </p:txBody>
      </p:sp>
      <p:sp>
        <p:nvSpPr>
          <p:cNvPr id="38" name="Rounded Rectangle 37"/>
          <p:cNvSpPr/>
          <p:nvPr/>
        </p:nvSpPr>
        <p:spPr>
          <a:xfrm>
            <a:off x="502920" y="5047488"/>
            <a:ext cx="11155680" cy="10607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138928"/>
            <a:ext cx="1828800" cy="219456"/>
          </a:xfrm>
          <a:prstGeom prst="rect">
            <a:avLst/>
          </a:prstGeom>
          <a:noFill/>
        </p:spPr>
        <p:txBody>
          <a:bodyPr wrap="square">
            <a:spAutoFit/>
          </a:bodyPr>
          <a:lstStyle/>
          <a:p>
            <a:pPr algn="l"/>
            <a:r>
              <a:rPr sz="850" b="1" i="0">
                <a:solidFill>
                  <a:srgbClr val="6B7396"/>
                </a:solidFill>
              </a:rPr>
              <a:t>SCORE BANDS</a:t>
            </a:r>
          </a:p>
        </p:txBody>
      </p:sp>
      <p:sp>
        <p:nvSpPr>
          <p:cNvPr id="40" name="Rounded Rectangle 39"/>
          <p:cNvSpPr/>
          <p:nvPr/>
        </p:nvSpPr>
        <p:spPr>
          <a:xfrm>
            <a:off x="96012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8136" y="5504688"/>
            <a:ext cx="2011680" cy="274320"/>
          </a:xfrm>
          <a:prstGeom prst="rect">
            <a:avLst/>
          </a:prstGeom>
          <a:noFill/>
        </p:spPr>
        <p:txBody>
          <a:bodyPr wrap="square">
            <a:spAutoFit/>
          </a:bodyPr>
          <a:lstStyle/>
          <a:p>
            <a:pPr algn="l"/>
            <a:r>
              <a:rPr sz="1100" b="1" i="0">
                <a:solidFill>
                  <a:srgbClr val="16A34A"/>
                </a:solidFill>
              </a:rPr>
              <a:t>✅  Ready</a:t>
            </a:r>
          </a:p>
        </p:txBody>
      </p:sp>
      <p:sp>
        <p:nvSpPr>
          <p:cNvPr id="42" name="TextBox 41"/>
          <p:cNvSpPr txBox="1"/>
          <p:nvPr/>
        </p:nvSpPr>
        <p:spPr>
          <a:xfrm>
            <a:off x="3246120" y="5504688"/>
            <a:ext cx="731520" cy="274320"/>
          </a:xfrm>
          <a:prstGeom prst="rect">
            <a:avLst/>
          </a:prstGeom>
          <a:noFill/>
        </p:spPr>
        <p:txBody>
          <a:bodyPr wrap="square">
            <a:spAutoFit/>
          </a:bodyPr>
          <a:lstStyle/>
          <a:p>
            <a:pPr algn="r"/>
            <a:r>
              <a:rPr sz="1100" b="0" i="0">
                <a:solidFill>
                  <a:srgbClr val="6B7396"/>
                </a:solidFill>
              </a:rPr>
              <a:t>≥ 89%</a:t>
            </a:r>
          </a:p>
        </p:txBody>
      </p:sp>
      <p:sp>
        <p:nvSpPr>
          <p:cNvPr id="43" name="Rounded Rectangle 42"/>
          <p:cNvSpPr/>
          <p:nvPr/>
        </p:nvSpPr>
        <p:spPr>
          <a:xfrm>
            <a:off x="443484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62856" y="5504688"/>
            <a:ext cx="2011680" cy="274320"/>
          </a:xfrm>
          <a:prstGeom prst="rect">
            <a:avLst/>
          </a:prstGeom>
          <a:noFill/>
        </p:spPr>
        <p:txBody>
          <a:bodyPr wrap="square">
            <a:spAutoFit/>
          </a:bodyPr>
          <a:lstStyle/>
          <a:p>
            <a:pPr algn="l"/>
            <a:r>
              <a:rPr sz="1100" b="1" i="0">
                <a:solidFill>
                  <a:srgbClr val="D97A06"/>
                </a:solidFill>
              </a:rPr>
              <a:t>⚠️  Needs Work</a:t>
            </a:r>
          </a:p>
        </p:txBody>
      </p:sp>
      <p:sp>
        <p:nvSpPr>
          <p:cNvPr id="45" name="TextBox 44"/>
          <p:cNvSpPr txBox="1"/>
          <p:nvPr/>
        </p:nvSpPr>
        <p:spPr>
          <a:xfrm>
            <a:off x="6720840" y="5504688"/>
            <a:ext cx="731520" cy="274320"/>
          </a:xfrm>
          <a:prstGeom prst="rect">
            <a:avLst/>
          </a:prstGeom>
          <a:noFill/>
        </p:spPr>
        <p:txBody>
          <a:bodyPr wrap="square">
            <a:spAutoFit/>
          </a:bodyPr>
          <a:lstStyle/>
          <a:p>
            <a:pPr algn="r"/>
            <a:r>
              <a:rPr sz="1100" b="0" i="0">
                <a:solidFill>
                  <a:srgbClr val="6B7396"/>
                </a:solidFill>
              </a:rPr>
              <a:t>56 – 88%</a:t>
            </a:r>
          </a:p>
        </p:txBody>
      </p:sp>
      <p:sp>
        <p:nvSpPr>
          <p:cNvPr id="46" name="Rounded Rectangle 45"/>
          <p:cNvSpPr/>
          <p:nvPr/>
        </p:nvSpPr>
        <p:spPr>
          <a:xfrm>
            <a:off x="790956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37576" y="5504688"/>
            <a:ext cx="2011680" cy="274320"/>
          </a:xfrm>
          <a:prstGeom prst="rect">
            <a:avLst/>
          </a:prstGeom>
          <a:noFill/>
        </p:spPr>
        <p:txBody>
          <a:bodyPr wrap="square">
            <a:spAutoFit/>
          </a:bodyPr>
          <a:lstStyle/>
          <a:p>
            <a:pPr algn="l"/>
            <a:r>
              <a:rPr sz="1100" b="1" i="0">
                <a:solidFill>
                  <a:srgbClr val="DC2626"/>
                </a:solidFill>
              </a:rPr>
              <a:t>❌  Not Ready</a:t>
            </a:r>
          </a:p>
        </p:txBody>
      </p:sp>
      <p:sp>
        <p:nvSpPr>
          <p:cNvPr id="48" name="TextBox 47"/>
          <p:cNvSpPr txBox="1"/>
          <p:nvPr/>
        </p:nvSpPr>
        <p:spPr>
          <a:xfrm>
            <a:off x="10195560" y="5504688"/>
            <a:ext cx="731520" cy="274320"/>
          </a:xfrm>
          <a:prstGeom prst="rect">
            <a:avLst/>
          </a:prstGeom>
          <a:noFill/>
        </p:spPr>
        <p:txBody>
          <a:bodyPr wrap="square">
            <a:spAutoFit/>
          </a:bodyPr>
          <a:lstStyle/>
          <a:p>
            <a:pPr algn="r"/>
            <a:r>
              <a:rPr sz="1100" b="0" i="0">
                <a:solidFill>
                  <a:srgbClr val="6B7396"/>
                </a:solidFill>
              </a:rPr>
              <a:t>&lt; 56%</a:t>
            </a:r>
          </a:p>
        </p:txBody>
      </p:sp>
      <p:sp>
        <p:nvSpPr>
          <p:cNvPr id="49" name="Rectangle 48"/>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6819900"/>
            <a:ext cx="10313728"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52" name="TextBox 51"/>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A6 · MODULES 6 &amp; 7</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Epic Lineage   ·   ⚡ Disputes</a:t>
            </a:r>
          </a:p>
        </p:txBody>
      </p:sp>
      <p:sp>
        <p:nvSpPr>
          <p:cNvPr id="6" name="Rectangle 5"/>
          <p:cNvSpPr/>
          <p:nvPr/>
        </p:nvSpPr>
        <p:spPr>
          <a:xfrm>
            <a:off x="502920" y="914400"/>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4572000" cy="219456"/>
          </a:xfrm>
          <a:prstGeom prst="rect">
            <a:avLst/>
          </a:prstGeom>
          <a:noFill/>
        </p:spPr>
        <p:txBody>
          <a:bodyPr wrap="square">
            <a:spAutoFit/>
          </a:bodyPr>
          <a:lstStyle/>
          <a:p>
            <a:pPr algn="l"/>
            <a:r>
              <a:rPr sz="850" b="1" i="0">
                <a:solidFill>
                  <a:srgbClr val="5B52E8"/>
                </a:solidFill>
              </a:rPr>
              <a:t>EPIC LINEAGE</a:t>
            </a:r>
          </a:p>
        </p:txBody>
      </p:sp>
      <p:sp>
        <p:nvSpPr>
          <p:cNvPr id="8" name="TextBox 7"/>
          <p:cNvSpPr txBox="1"/>
          <p:nvPr/>
        </p:nvSpPr>
        <p:spPr>
          <a:xfrm>
            <a:off x="6291072" y="987552"/>
            <a:ext cx="4572000" cy="219456"/>
          </a:xfrm>
          <a:prstGeom prst="rect">
            <a:avLst/>
          </a:prstGeom>
          <a:noFill/>
        </p:spPr>
        <p:txBody>
          <a:bodyPr wrap="square">
            <a:spAutoFit/>
          </a:bodyPr>
          <a:lstStyle/>
          <a:p>
            <a:pPr algn="l"/>
            <a:r>
              <a:rPr sz="850" b="1" i="0">
                <a:solidFill>
                  <a:srgbClr val="5B52E8"/>
                </a:solidFill>
              </a:rPr>
              <a:t>DISPUTES</a:t>
            </a:r>
          </a:p>
        </p:txBody>
      </p:sp>
      <p:sp>
        <p:nvSpPr>
          <p:cNvPr id="9" name="Rectangle 8"/>
          <p:cNvSpPr/>
          <p:nvPr/>
        </p:nvSpPr>
        <p:spPr>
          <a:xfrm>
            <a:off x="6080760" y="969264"/>
            <a:ext cx="12700" cy="530352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126187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353312"/>
            <a:ext cx="347472" cy="347472"/>
          </a:xfrm>
          <a:prstGeom prst="rect">
            <a:avLst/>
          </a:prstGeom>
          <a:noFill/>
        </p:spPr>
        <p:txBody>
          <a:bodyPr wrap="square">
            <a:spAutoFit/>
          </a:bodyPr>
          <a:lstStyle/>
          <a:p>
            <a:pPr algn="l"/>
            <a:r>
              <a:rPr sz="1500" b="0" i="0">
                <a:solidFill>
                  <a:srgbClr val="1E223A"/>
                </a:solidFill>
              </a:rPr>
              <a:t>❤️</a:t>
            </a:r>
          </a:p>
        </p:txBody>
      </p:sp>
      <p:sp>
        <p:nvSpPr>
          <p:cNvPr id="12" name="Rounded Rectangle 11"/>
          <p:cNvSpPr/>
          <p:nvPr/>
        </p:nvSpPr>
        <p:spPr>
          <a:xfrm>
            <a:off x="4846320" y="138074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368044"/>
            <a:ext cx="804672" cy="215900"/>
          </a:xfrm>
          <a:prstGeom prst="rect">
            <a:avLst/>
          </a:prstGeom>
          <a:noFill/>
        </p:spPr>
        <p:txBody>
          <a:bodyPr wrap="square">
            <a:spAutoFit/>
          </a:bodyPr>
          <a:lstStyle/>
          <a:p>
            <a:pPr algn="ctr"/>
            <a:r>
              <a:rPr sz="750" b="1" i="0">
                <a:solidFill>
                  <a:srgbClr val="008772"/>
                </a:solidFill>
              </a:rPr>
              <a:t>✓  No LLM</a:t>
            </a:r>
          </a:p>
        </p:txBody>
      </p:sp>
      <p:sp>
        <p:nvSpPr>
          <p:cNvPr id="14" name="TextBox 13"/>
          <p:cNvSpPr txBox="1"/>
          <p:nvPr/>
        </p:nvSpPr>
        <p:spPr>
          <a:xfrm>
            <a:off x="649224" y="1645920"/>
            <a:ext cx="4965192" cy="256032"/>
          </a:xfrm>
          <a:prstGeom prst="rect">
            <a:avLst/>
          </a:prstGeom>
          <a:noFill/>
        </p:spPr>
        <p:txBody>
          <a:bodyPr wrap="square">
            <a:spAutoFit/>
          </a:bodyPr>
          <a:lstStyle/>
          <a:p>
            <a:pPr algn="l"/>
            <a:r>
              <a:rPr sz="1100" b="1" i="0">
                <a:solidFill>
                  <a:srgbClr val="0F111A"/>
                </a:solidFill>
              </a:rPr>
              <a:t>Epic Health Scoring</a:t>
            </a:r>
          </a:p>
        </p:txBody>
      </p:sp>
      <p:sp>
        <p:nvSpPr>
          <p:cNvPr id="15" name="TextBox 14"/>
          <p:cNvSpPr txBox="1"/>
          <p:nvPr/>
        </p:nvSpPr>
        <p:spPr>
          <a:xfrm>
            <a:off x="649224" y="1883664"/>
            <a:ext cx="4965192" cy="841248"/>
          </a:xfrm>
          <a:prstGeom prst="rect">
            <a:avLst/>
          </a:prstGeom>
          <a:noFill/>
        </p:spPr>
        <p:txBody>
          <a:bodyPr wrap="square">
            <a:spAutoFit/>
          </a:bodyPr>
          <a:lstStyle/>
          <a:p>
            <a:pPr algn="l"/>
            <a:r>
              <a:rPr sz="950" b="0" i="0">
                <a:solidFill>
                  <a:srgbClr val="6B7396"/>
                </a:solidFill>
              </a:rPr>
              <a:t>Each epic gets a 0–100 health score based on: colour consistency (40%), WAF category focus (30%), distinct colour count (20%), and mismatch rate (10%). Epics spanning 3+ colours are flagged as 'mixed'.</a:t>
            </a:r>
          </a:p>
        </p:txBody>
      </p:sp>
      <p:sp>
        <p:nvSpPr>
          <p:cNvPr id="16" name="Rounded Rectangle 15"/>
          <p:cNvSpPr/>
          <p:nvPr/>
        </p:nvSpPr>
        <p:spPr>
          <a:xfrm>
            <a:off x="502920" y="290779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2999232"/>
            <a:ext cx="347472" cy="347472"/>
          </a:xfrm>
          <a:prstGeom prst="rect">
            <a:avLst/>
          </a:prstGeom>
          <a:noFill/>
        </p:spPr>
        <p:txBody>
          <a:bodyPr wrap="square">
            <a:spAutoFit/>
          </a:bodyPr>
          <a:lstStyle/>
          <a:p>
            <a:pPr algn="l"/>
            <a:r>
              <a:rPr sz="1500" b="0" i="0">
                <a:solidFill>
                  <a:srgbClr val="1E223A"/>
                </a:solidFill>
              </a:rPr>
              <a:t>🌳</a:t>
            </a:r>
          </a:p>
        </p:txBody>
      </p:sp>
      <p:sp>
        <p:nvSpPr>
          <p:cNvPr id="18" name="Rounded Rectangle 17"/>
          <p:cNvSpPr/>
          <p:nvPr/>
        </p:nvSpPr>
        <p:spPr>
          <a:xfrm>
            <a:off x="4846320" y="302666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013964"/>
            <a:ext cx="804672" cy="215900"/>
          </a:xfrm>
          <a:prstGeom prst="rect">
            <a:avLst/>
          </a:prstGeom>
          <a:noFill/>
        </p:spPr>
        <p:txBody>
          <a:bodyPr wrap="square">
            <a:spAutoFit/>
          </a:bodyPr>
          <a:lstStyle/>
          <a:p>
            <a:pPr algn="ctr"/>
            <a:r>
              <a:rPr sz="750" b="1" i="0">
                <a:solidFill>
                  <a:srgbClr val="008772"/>
                </a:solidFill>
              </a:rPr>
              <a:t>✓  No LLM</a:t>
            </a:r>
          </a:p>
        </p:txBody>
      </p:sp>
      <p:sp>
        <p:nvSpPr>
          <p:cNvPr id="20" name="TextBox 19"/>
          <p:cNvSpPr txBox="1"/>
          <p:nvPr/>
        </p:nvSpPr>
        <p:spPr>
          <a:xfrm>
            <a:off x="649224" y="3291840"/>
            <a:ext cx="4965192" cy="256032"/>
          </a:xfrm>
          <a:prstGeom prst="rect">
            <a:avLst/>
          </a:prstGeom>
          <a:noFill/>
        </p:spPr>
        <p:txBody>
          <a:bodyPr wrap="square">
            <a:spAutoFit/>
          </a:bodyPr>
          <a:lstStyle/>
          <a:p>
            <a:pPr algn="l"/>
            <a:r>
              <a:rPr sz="1100" b="1" i="0">
                <a:solidFill>
                  <a:srgbClr val="0F111A"/>
                </a:solidFill>
              </a:rPr>
              <a:t>Hierarchy Tree</a:t>
            </a:r>
          </a:p>
        </p:txBody>
      </p:sp>
      <p:sp>
        <p:nvSpPr>
          <p:cNvPr id="21" name="TextBox 20"/>
          <p:cNvSpPr txBox="1"/>
          <p:nvPr/>
        </p:nvSpPr>
        <p:spPr>
          <a:xfrm>
            <a:off x="649224" y="3529584"/>
            <a:ext cx="4965192" cy="841248"/>
          </a:xfrm>
          <a:prstGeom prst="rect">
            <a:avLst/>
          </a:prstGeom>
          <a:noFill/>
        </p:spPr>
        <p:txBody>
          <a:bodyPr wrap="square">
            <a:spAutoFit/>
          </a:bodyPr>
          <a:lstStyle/>
          <a:p>
            <a:pPr algn="l"/>
            <a:r>
              <a:rPr sz="950" b="0" i="0">
                <a:solidFill>
                  <a:srgbClr val="6B7396"/>
                </a:solidFill>
              </a:rPr>
              <a:t>Full Epic → Feature → Story tree showing which teams deliver each part, story counts per node, and dominant classifications at every level of the hierarchy.</a:t>
            </a:r>
          </a:p>
        </p:txBody>
      </p:sp>
      <p:sp>
        <p:nvSpPr>
          <p:cNvPr id="22" name="Rounded Rectangle 21"/>
          <p:cNvSpPr/>
          <p:nvPr/>
        </p:nvSpPr>
        <p:spPr>
          <a:xfrm>
            <a:off x="502920" y="455371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4645152"/>
            <a:ext cx="347472" cy="347472"/>
          </a:xfrm>
          <a:prstGeom prst="rect">
            <a:avLst/>
          </a:prstGeom>
          <a:noFill/>
        </p:spPr>
        <p:txBody>
          <a:bodyPr wrap="square">
            <a:spAutoFit/>
          </a:bodyPr>
          <a:lstStyle/>
          <a:p>
            <a:pPr algn="l"/>
            <a:r>
              <a:rPr sz="1500" b="0" i="0">
                <a:solidFill>
                  <a:srgbClr val="1E223A"/>
                </a:solidFill>
              </a:rPr>
              <a:t>🔗</a:t>
            </a:r>
          </a:p>
        </p:txBody>
      </p:sp>
      <p:sp>
        <p:nvSpPr>
          <p:cNvPr id="24" name="Rounded Rectangle 23"/>
          <p:cNvSpPr/>
          <p:nvPr/>
        </p:nvSpPr>
        <p:spPr>
          <a:xfrm>
            <a:off x="4846320" y="467258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4659884"/>
            <a:ext cx="804672" cy="215900"/>
          </a:xfrm>
          <a:prstGeom prst="rect">
            <a:avLst/>
          </a:prstGeom>
          <a:noFill/>
        </p:spPr>
        <p:txBody>
          <a:bodyPr wrap="square">
            <a:spAutoFit/>
          </a:bodyPr>
          <a:lstStyle/>
          <a:p>
            <a:pPr algn="ctr"/>
            <a:r>
              <a:rPr sz="750" b="1" i="0">
                <a:solidFill>
                  <a:srgbClr val="008772"/>
                </a:solidFill>
              </a:rPr>
              <a:t>✓  No LLM</a:t>
            </a:r>
          </a:p>
        </p:txBody>
      </p:sp>
      <p:sp>
        <p:nvSpPr>
          <p:cNvPr id="26" name="TextBox 25"/>
          <p:cNvSpPr txBox="1"/>
          <p:nvPr/>
        </p:nvSpPr>
        <p:spPr>
          <a:xfrm>
            <a:off x="649224" y="4937760"/>
            <a:ext cx="4965192" cy="256032"/>
          </a:xfrm>
          <a:prstGeom prst="rect">
            <a:avLst/>
          </a:prstGeom>
          <a:noFill/>
        </p:spPr>
        <p:txBody>
          <a:bodyPr wrap="square">
            <a:spAutoFit/>
          </a:bodyPr>
          <a:lstStyle/>
          <a:p>
            <a:pPr algn="l"/>
            <a:r>
              <a:rPr sz="1100" b="1" i="0">
                <a:solidFill>
                  <a:srgbClr val="0F111A"/>
                </a:solidFill>
              </a:rPr>
              <a:t>Bulk Epic Assignment</a:t>
            </a:r>
          </a:p>
        </p:txBody>
      </p:sp>
      <p:sp>
        <p:nvSpPr>
          <p:cNvPr id="27" name="TextBox 26"/>
          <p:cNvSpPr txBox="1"/>
          <p:nvPr/>
        </p:nvSpPr>
        <p:spPr>
          <a:xfrm>
            <a:off x="649224" y="5175504"/>
            <a:ext cx="4965192" cy="841248"/>
          </a:xfrm>
          <a:prstGeom prst="rect">
            <a:avLst/>
          </a:prstGeom>
          <a:noFill/>
        </p:spPr>
        <p:txBody>
          <a:bodyPr wrap="square">
            <a:spAutoFit/>
          </a:bodyPr>
          <a:lstStyle/>
          <a:p>
            <a:pPr algn="l"/>
            <a:r>
              <a:rPr sz="950" b="0" i="0">
                <a:solidFill>
                  <a:srgbClr val="6B7396"/>
                </a:solidFill>
              </a:rPr>
              <a:t>Assign or re-assign Epic and Feature fields across multiple stories at once — essential for cleaning up imported data where those fields were blank or inconsistent.</a:t>
            </a:r>
          </a:p>
        </p:txBody>
      </p:sp>
      <p:sp>
        <p:nvSpPr>
          <p:cNvPr id="28" name="Rounded Rectangle 27"/>
          <p:cNvSpPr/>
          <p:nvPr/>
        </p:nvSpPr>
        <p:spPr>
          <a:xfrm>
            <a:off x="6291072" y="126187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1353312"/>
            <a:ext cx="347472" cy="347472"/>
          </a:xfrm>
          <a:prstGeom prst="rect">
            <a:avLst/>
          </a:prstGeom>
          <a:noFill/>
        </p:spPr>
        <p:txBody>
          <a:bodyPr wrap="square">
            <a:spAutoFit/>
          </a:bodyPr>
          <a:lstStyle/>
          <a:p>
            <a:pPr algn="l"/>
            <a:r>
              <a:rPr sz="1500" b="0" i="0">
                <a:solidFill>
                  <a:srgbClr val="1E223A"/>
                </a:solidFill>
              </a:rPr>
              <a:t>🚩</a:t>
            </a:r>
          </a:p>
        </p:txBody>
      </p:sp>
      <p:sp>
        <p:nvSpPr>
          <p:cNvPr id="30" name="Rounded Rectangle 29"/>
          <p:cNvSpPr/>
          <p:nvPr/>
        </p:nvSpPr>
        <p:spPr>
          <a:xfrm>
            <a:off x="10634472" y="138074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34472" y="1368044"/>
            <a:ext cx="804672" cy="215900"/>
          </a:xfrm>
          <a:prstGeom prst="rect">
            <a:avLst/>
          </a:prstGeom>
          <a:noFill/>
        </p:spPr>
        <p:txBody>
          <a:bodyPr wrap="square">
            <a:spAutoFit/>
          </a:bodyPr>
          <a:lstStyle/>
          <a:p>
            <a:pPr algn="ctr"/>
            <a:r>
              <a:rPr sz="750" b="1" i="0">
                <a:solidFill>
                  <a:srgbClr val="008772"/>
                </a:solidFill>
              </a:rPr>
              <a:t>✓  No LLM</a:t>
            </a:r>
          </a:p>
        </p:txBody>
      </p:sp>
      <p:sp>
        <p:nvSpPr>
          <p:cNvPr id="32" name="TextBox 31"/>
          <p:cNvSpPr txBox="1"/>
          <p:nvPr/>
        </p:nvSpPr>
        <p:spPr>
          <a:xfrm>
            <a:off x="6437376" y="1645920"/>
            <a:ext cx="4965192" cy="256032"/>
          </a:xfrm>
          <a:prstGeom prst="rect">
            <a:avLst/>
          </a:prstGeom>
          <a:noFill/>
        </p:spPr>
        <p:txBody>
          <a:bodyPr wrap="square">
            <a:spAutoFit/>
          </a:bodyPr>
          <a:lstStyle/>
          <a:p>
            <a:pPr algn="l"/>
            <a:r>
              <a:rPr sz="1100" b="1" i="0">
                <a:solidFill>
                  <a:srgbClr val="0F111A"/>
                </a:solidFill>
              </a:rPr>
              <a:t>Raise a Dispute</a:t>
            </a:r>
          </a:p>
        </p:txBody>
      </p:sp>
      <p:sp>
        <p:nvSpPr>
          <p:cNvPr id="33" name="TextBox 32"/>
          <p:cNvSpPr txBox="1"/>
          <p:nvPr/>
        </p:nvSpPr>
        <p:spPr>
          <a:xfrm>
            <a:off x="6437376" y="1883664"/>
            <a:ext cx="4965192" cy="841248"/>
          </a:xfrm>
          <a:prstGeom prst="rect">
            <a:avLst/>
          </a:prstGeom>
          <a:noFill/>
        </p:spPr>
        <p:txBody>
          <a:bodyPr wrap="square">
            <a:spAutoFit/>
          </a:bodyPr>
          <a:lstStyle/>
          <a:p>
            <a:pPr algn="l"/>
            <a:r>
              <a:rPr sz="950" b="0" i="0">
                <a:solidFill>
                  <a:srgbClr val="6B7396"/>
                </a:solidFill>
              </a:rPr>
              <a:t>Flag any AI classification you disagree with. Submit your suggested category and a comment — the original AI reasoning is preserved alongside your correction for reviewer context.</a:t>
            </a:r>
          </a:p>
        </p:txBody>
      </p:sp>
      <p:sp>
        <p:nvSpPr>
          <p:cNvPr id="34" name="Rounded Rectangle 33"/>
          <p:cNvSpPr/>
          <p:nvPr/>
        </p:nvSpPr>
        <p:spPr>
          <a:xfrm>
            <a:off x="6291072" y="290779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2999232"/>
            <a:ext cx="347472" cy="347472"/>
          </a:xfrm>
          <a:prstGeom prst="rect">
            <a:avLst/>
          </a:prstGeom>
          <a:noFill/>
        </p:spPr>
        <p:txBody>
          <a:bodyPr wrap="square">
            <a:spAutoFit/>
          </a:bodyPr>
          <a:lstStyle/>
          <a:p>
            <a:pPr algn="l"/>
            <a:r>
              <a:rPr sz="1500" b="0" i="0">
                <a:solidFill>
                  <a:srgbClr val="1E223A"/>
                </a:solidFill>
              </a:rPr>
              <a:t>📋</a:t>
            </a:r>
          </a:p>
        </p:txBody>
      </p:sp>
      <p:sp>
        <p:nvSpPr>
          <p:cNvPr id="36" name="Rounded Rectangle 35"/>
          <p:cNvSpPr/>
          <p:nvPr/>
        </p:nvSpPr>
        <p:spPr>
          <a:xfrm>
            <a:off x="10634472" y="302666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34472" y="3013964"/>
            <a:ext cx="804672" cy="215900"/>
          </a:xfrm>
          <a:prstGeom prst="rect">
            <a:avLst/>
          </a:prstGeom>
          <a:noFill/>
        </p:spPr>
        <p:txBody>
          <a:bodyPr wrap="square">
            <a:spAutoFit/>
          </a:bodyPr>
          <a:lstStyle/>
          <a:p>
            <a:pPr algn="ctr"/>
            <a:r>
              <a:rPr sz="750" b="1" i="0">
                <a:solidFill>
                  <a:srgbClr val="008772"/>
                </a:solidFill>
              </a:rPr>
              <a:t>✓  No LLM</a:t>
            </a:r>
          </a:p>
        </p:txBody>
      </p:sp>
      <p:sp>
        <p:nvSpPr>
          <p:cNvPr id="38" name="TextBox 37"/>
          <p:cNvSpPr txBox="1"/>
          <p:nvPr/>
        </p:nvSpPr>
        <p:spPr>
          <a:xfrm>
            <a:off x="6437376" y="3291840"/>
            <a:ext cx="4965192" cy="256032"/>
          </a:xfrm>
          <a:prstGeom prst="rect">
            <a:avLst/>
          </a:prstGeom>
          <a:noFill/>
        </p:spPr>
        <p:txBody>
          <a:bodyPr wrap="square">
            <a:spAutoFit/>
          </a:bodyPr>
          <a:lstStyle/>
          <a:p>
            <a:pPr algn="l"/>
            <a:r>
              <a:rPr sz="1100" b="1" i="0">
                <a:solidFill>
                  <a:srgbClr val="0F111A"/>
                </a:solidFill>
              </a:rPr>
              <a:t>Dispute Queue</a:t>
            </a:r>
          </a:p>
        </p:txBody>
      </p:sp>
      <p:sp>
        <p:nvSpPr>
          <p:cNvPr id="39" name="TextBox 38"/>
          <p:cNvSpPr txBox="1"/>
          <p:nvPr/>
        </p:nvSpPr>
        <p:spPr>
          <a:xfrm>
            <a:off x="6437376" y="3529584"/>
            <a:ext cx="4965192" cy="841248"/>
          </a:xfrm>
          <a:prstGeom prst="rect">
            <a:avLst/>
          </a:prstGeom>
          <a:noFill/>
        </p:spPr>
        <p:txBody>
          <a:bodyPr wrap="square">
            <a:spAutoFit/>
          </a:bodyPr>
          <a:lstStyle/>
          <a:p>
            <a:pPr algn="l"/>
            <a:r>
              <a:rPr sz="950" b="0" i="0">
                <a:solidFill>
                  <a:srgbClr val="6B7396"/>
                </a:solidFill>
              </a:rPr>
              <a:t>Filtered list of all disputes by status: Pending, Accepted, Dismissed, or Flagged for WAF Review. Shows AI answer vs. suggested answer with reviewer notes.</a:t>
            </a:r>
          </a:p>
        </p:txBody>
      </p:sp>
      <p:sp>
        <p:nvSpPr>
          <p:cNvPr id="40" name="Rounded Rectangle 39"/>
          <p:cNvSpPr/>
          <p:nvPr/>
        </p:nvSpPr>
        <p:spPr>
          <a:xfrm>
            <a:off x="6291072" y="455371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7376" y="4645152"/>
            <a:ext cx="347472" cy="347472"/>
          </a:xfrm>
          <a:prstGeom prst="rect">
            <a:avLst/>
          </a:prstGeom>
          <a:noFill/>
        </p:spPr>
        <p:txBody>
          <a:bodyPr wrap="square">
            <a:spAutoFit/>
          </a:bodyPr>
          <a:lstStyle/>
          <a:p>
            <a:pPr algn="l"/>
            <a:r>
              <a:rPr sz="1500" b="0" i="0">
                <a:solidFill>
                  <a:srgbClr val="1E223A"/>
                </a:solidFill>
              </a:rPr>
              <a:t>⚖️</a:t>
            </a:r>
          </a:p>
        </p:txBody>
      </p:sp>
      <p:sp>
        <p:nvSpPr>
          <p:cNvPr id="42" name="Rounded Rectangle 41"/>
          <p:cNvSpPr/>
          <p:nvPr/>
        </p:nvSpPr>
        <p:spPr>
          <a:xfrm>
            <a:off x="10634472" y="467258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34472" y="4659884"/>
            <a:ext cx="804672" cy="215900"/>
          </a:xfrm>
          <a:prstGeom prst="rect">
            <a:avLst/>
          </a:prstGeom>
          <a:noFill/>
        </p:spPr>
        <p:txBody>
          <a:bodyPr wrap="square">
            <a:spAutoFit/>
          </a:bodyPr>
          <a:lstStyle/>
          <a:p>
            <a:pPr algn="ctr"/>
            <a:r>
              <a:rPr sz="750" b="1" i="0">
                <a:solidFill>
                  <a:srgbClr val="008772"/>
                </a:solidFill>
              </a:rPr>
              <a:t>✓  No LLM</a:t>
            </a:r>
          </a:p>
        </p:txBody>
      </p:sp>
      <p:sp>
        <p:nvSpPr>
          <p:cNvPr id="44" name="TextBox 43"/>
          <p:cNvSpPr txBox="1"/>
          <p:nvPr/>
        </p:nvSpPr>
        <p:spPr>
          <a:xfrm>
            <a:off x="6437376" y="4937760"/>
            <a:ext cx="4965192" cy="256032"/>
          </a:xfrm>
          <a:prstGeom prst="rect">
            <a:avLst/>
          </a:prstGeom>
          <a:noFill/>
        </p:spPr>
        <p:txBody>
          <a:bodyPr wrap="square">
            <a:spAutoFit/>
          </a:bodyPr>
          <a:lstStyle/>
          <a:p>
            <a:pPr algn="l"/>
            <a:r>
              <a:rPr sz="1100" b="1" i="0">
                <a:solidFill>
                  <a:srgbClr val="0F111A"/>
                </a:solidFill>
              </a:rPr>
              <a:t>Resolve a Dispute</a:t>
            </a:r>
          </a:p>
        </p:txBody>
      </p:sp>
      <p:sp>
        <p:nvSpPr>
          <p:cNvPr id="45" name="TextBox 44"/>
          <p:cNvSpPr txBox="1"/>
          <p:nvPr/>
        </p:nvSpPr>
        <p:spPr>
          <a:xfrm>
            <a:off x="6437376" y="5175504"/>
            <a:ext cx="4965192" cy="841248"/>
          </a:xfrm>
          <a:prstGeom prst="rect">
            <a:avLst/>
          </a:prstGeom>
          <a:noFill/>
        </p:spPr>
        <p:txBody>
          <a:bodyPr wrap="square">
            <a:spAutoFit/>
          </a:bodyPr>
          <a:lstStyle/>
          <a:p>
            <a:pPr algn="l"/>
            <a:r>
              <a:rPr sz="950" b="0" i="0">
                <a:solidFill>
                  <a:srgbClr val="6B7396"/>
                </a:solidFill>
              </a:rPr>
              <a:t>Three paths: Dismiss (AI was right), Accept (save correction + optionally promote to ground truth), or Flag for WAF Review (the WAF definition itself may need updating).</a:t>
            </a:r>
          </a:p>
        </p:txBody>
      </p:sp>
      <p:sp>
        <p:nvSpPr>
          <p:cNvPr id="46" name="Rectangle 45"/>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6819900"/>
            <a:ext cx="1125134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9" name="TextBox 48"/>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A7 · MODULE 8</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Settings &amp; Version Control</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Manage the AI's knowledge base — WAF definitions and ground truth — with full version history, baselines, and system configuration.</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02920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WAF Definitions Management</a:t>
            </a:r>
          </a:p>
        </p:txBody>
      </p:sp>
      <p:sp>
        <p:nvSpPr>
          <p:cNvPr id="13" name="TextBox 12"/>
          <p:cNvSpPr txBox="1"/>
          <p:nvPr/>
        </p:nvSpPr>
        <p:spPr>
          <a:xfrm>
            <a:off x="649224" y="2039112"/>
            <a:ext cx="5148072" cy="1316736"/>
          </a:xfrm>
          <a:prstGeom prst="rect">
            <a:avLst/>
          </a:prstGeom>
          <a:noFill/>
        </p:spPr>
        <p:txBody>
          <a:bodyPr wrap="square">
            <a:spAutoFit/>
          </a:bodyPr>
          <a:lstStyle/>
          <a:p>
            <a:pPr algn="l"/>
            <a:r>
              <a:rPr sz="950" b="0" i="0">
                <a:solidFill>
                  <a:srgbClr val="6B7396"/>
                </a:solidFill>
              </a:rPr>
              <a:t>Upload a new WAF definitions file (CSV, Excel, JSON, or plain text) at any time. The tool auto-parses categories, colours, and descriptions. Edit definitions inline from the Settings page without re-uploading.</a:t>
            </a:r>
          </a:p>
        </p:txBody>
      </p:sp>
      <p:sp>
        <p:nvSpPr>
          <p:cNvPr id="14" name="Rounded Rectangle 13"/>
          <p:cNvSpPr/>
          <p:nvPr/>
        </p:nvSpPr>
        <p:spPr>
          <a:xfrm>
            <a:off x="6108192" y="1417320"/>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63447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3447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Ground Truth Management</a:t>
            </a:r>
          </a:p>
        </p:txBody>
      </p:sp>
      <p:sp>
        <p:nvSpPr>
          <p:cNvPr id="19" name="TextBox 18"/>
          <p:cNvSpPr txBox="1"/>
          <p:nvPr/>
        </p:nvSpPr>
        <p:spPr>
          <a:xfrm>
            <a:off x="6254496" y="2039112"/>
            <a:ext cx="5148072" cy="1316736"/>
          </a:xfrm>
          <a:prstGeom prst="rect">
            <a:avLst/>
          </a:prstGeom>
          <a:noFill/>
        </p:spPr>
        <p:txBody>
          <a:bodyPr wrap="square">
            <a:spAutoFit/>
          </a:bodyPr>
          <a:lstStyle/>
          <a:p>
            <a:pPr algn="l"/>
            <a:r>
              <a:rPr sz="950" b="0" i="0">
                <a:solidFill>
                  <a:srgbClr val="6B7396"/>
                </a:solidFill>
              </a:rPr>
              <a:t>Upload, add, edit, or delete ground truth examples — the calibration examples sent to the AI in every prompt. Quality of ground truth directly drives classification consistency across all teams and uploads.</a:t>
            </a:r>
          </a:p>
        </p:txBody>
      </p:sp>
      <p:sp>
        <p:nvSpPr>
          <p:cNvPr id="20" name="Rounded Rectangle 19"/>
          <p:cNvSpPr/>
          <p:nvPr/>
        </p:nvSpPr>
        <p:spPr>
          <a:xfrm>
            <a:off x="502920" y="3557016"/>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648456"/>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663188"/>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3941064"/>
            <a:ext cx="5148072" cy="256032"/>
          </a:xfrm>
          <a:prstGeom prst="rect">
            <a:avLst/>
          </a:prstGeom>
          <a:noFill/>
        </p:spPr>
        <p:txBody>
          <a:bodyPr wrap="square">
            <a:spAutoFit/>
          </a:bodyPr>
          <a:lstStyle/>
          <a:p>
            <a:pPr algn="l"/>
            <a:r>
              <a:rPr sz="1100" b="1" i="0">
                <a:solidFill>
                  <a:srgbClr val="0F111A"/>
                </a:solidFill>
              </a:rPr>
              <a:t>Named Versions</a:t>
            </a:r>
          </a:p>
        </p:txBody>
      </p:sp>
      <p:sp>
        <p:nvSpPr>
          <p:cNvPr id="25" name="TextBox 24"/>
          <p:cNvSpPr txBox="1"/>
          <p:nvPr/>
        </p:nvSpPr>
        <p:spPr>
          <a:xfrm>
            <a:off x="649224" y="4178808"/>
            <a:ext cx="5148072" cy="1316736"/>
          </a:xfrm>
          <a:prstGeom prst="rect">
            <a:avLst/>
          </a:prstGeom>
          <a:noFill/>
        </p:spPr>
        <p:txBody>
          <a:bodyPr wrap="square">
            <a:spAutoFit/>
          </a:bodyPr>
          <a:lstStyle/>
          <a:p>
            <a:pPr algn="l"/>
            <a:r>
              <a:rPr sz="950" b="0" i="0">
                <a:solidFill>
                  <a:srgbClr val="6B7396"/>
                </a:solidFill>
              </a:rPr>
              <a:t>Save the current WAF definitions or ground truth as a named, timestamped version (e.g. 'Q3 Baseline'). Switch freely — bulk verify jobs record which version was active, ensuring full reproducibility.</a:t>
            </a:r>
          </a:p>
        </p:txBody>
      </p:sp>
      <p:sp>
        <p:nvSpPr>
          <p:cNvPr id="26" name="Rounded Rectangle 25"/>
          <p:cNvSpPr/>
          <p:nvPr/>
        </p:nvSpPr>
        <p:spPr>
          <a:xfrm>
            <a:off x="6108192" y="3557016"/>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648456"/>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663188"/>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3941064"/>
            <a:ext cx="5148072" cy="256032"/>
          </a:xfrm>
          <a:prstGeom prst="rect">
            <a:avLst/>
          </a:prstGeom>
          <a:noFill/>
        </p:spPr>
        <p:txBody>
          <a:bodyPr wrap="square">
            <a:spAutoFit/>
          </a:bodyPr>
          <a:lstStyle/>
          <a:p>
            <a:pPr algn="l"/>
            <a:r>
              <a:rPr sz="1100" b="1" i="0">
                <a:solidFill>
                  <a:srgbClr val="0F111A"/>
                </a:solidFill>
              </a:rPr>
              <a:t>Baseline Snapshots</a:t>
            </a:r>
          </a:p>
        </p:txBody>
      </p:sp>
      <p:sp>
        <p:nvSpPr>
          <p:cNvPr id="31" name="TextBox 30"/>
          <p:cNvSpPr txBox="1"/>
          <p:nvPr/>
        </p:nvSpPr>
        <p:spPr>
          <a:xfrm>
            <a:off x="6254496" y="4178808"/>
            <a:ext cx="5148072" cy="1316736"/>
          </a:xfrm>
          <a:prstGeom prst="rect">
            <a:avLst/>
          </a:prstGeom>
          <a:noFill/>
        </p:spPr>
        <p:txBody>
          <a:bodyPr wrap="square">
            <a:spAutoFit/>
          </a:bodyPr>
          <a:lstStyle/>
          <a:p>
            <a:pPr algn="l"/>
            <a:r>
              <a:rPr sz="950" b="0" i="0">
                <a:solidFill>
                  <a:srgbClr val="6B7396"/>
                </a:solidFill>
              </a:rPr>
              <a:t>Save a paired snapshot of WAF + ground truth as a named baseline. Restore in one click — ideal for audit trails, rolling back after an experiment, or matching a prior quarter's configuration.</a:t>
            </a:r>
          </a:p>
        </p:txBody>
      </p:sp>
      <p:sp>
        <p:nvSpPr>
          <p:cNvPr id="32" name="Rounded Rectangle 31"/>
          <p:cNvSpPr/>
          <p:nvPr/>
        </p:nvSpPr>
        <p:spPr>
          <a:xfrm>
            <a:off x="502920" y="5687568"/>
            <a:ext cx="11155680" cy="768096"/>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60720"/>
            <a:ext cx="3657600" cy="219456"/>
          </a:xfrm>
          <a:prstGeom prst="rect">
            <a:avLst/>
          </a:prstGeom>
          <a:noFill/>
        </p:spPr>
        <p:txBody>
          <a:bodyPr wrap="square">
            <a:spAutoFit/>
          </a:bodyPr>
          <a:lstStyle/>
          <a:p>
            <a:pPr algn="l"/>
            <a:r>
              <a:rPr sz="850" b="1" i="0">
                <a:solidFill>
                  <a:srgbClr val="6B7396"/>
                </a:solidFill>
              </a:rPr>
              <a:t>SYSTEM CONFIG — NO CODE NEEDED</a:t>
            </a:r>
          </a:p>
        </p:txBody>
      </p:sp>
      <p:sp>
        <p:nvSpPr>
          <p:cNvPr id="34" name="TextBox 33"/>
          <p:cNvSpPr txBox="1"/>
          <p:nvPr/>
        </p:nvSpPr>
        <p:spPr>
          <a:xfrm>
            <a:off x="685800" y="5760720"/>
            <a:ext cx="2560320" cy="237744"/>
          </a:xfrm>
          <a:prstGeom prst="rect">
            <a:avLst/>
          </a:prstGeom>
          <a:noFill/>
        </p:spPr>
        <p:txBody>
          <a:bodyPr wrap="square">
            <a:spAutoFit/>
          </a:bodyPr>
          <a:lstStyle/>
          <a:p>
            <a:pPr algn="l"/>
            <a:r>
              <a:rPr sz="1050" b="1" i="0">
                <a:solidFill>
                  <a:srgbClr val="5B52E8"/>
                </a:solidFill>
              </a:rPr>
              <a:t>Batch size</a:t>
            </a:r>
          </a:p>
        </p:txBody>
      </p:sp>
      <p:sp>
        <p:nvSpPr>
          <p:cNvPr id="35" name="TextBox 34"/>
          <p:cNvSpPr txBox="1"/>
          <p:nvPr/>
        </p:nvSpPr>
        <p:spPr>
          <a:xfrm>
            <a:off x="685800" y="5998464"/>
            <a:ext cx="2560320" cy="237744"/>
          </a:xfrm>
          <a:prstGeom prst="rect">
            <a:avLst/>
          </a:prstGeom>
          <a:noFill/>
        </p:spPr>
        <p:txBody>
          <a:bodyPr wrap="square">
            <a:spAutoFit/>
          </a:bodyPr>
          <a:lstStyle/>
          <a:p>
            <a:pPr algn="l"/>
            <a:r>
              <a:rPr sz="950" b="0" i="0">
                <a:solidFill>
                  <a:srgbClr val="6B7396"/>
                </a:solidFill>
              </a:rPr>
              <a:t>stories per AI call</a:t>
            </a:r>
          </a:p>
        </p:txBody>
      </p:sp>
      <p:sp>
        <p:nvSpPr>
          <p:cNvPr id="36" name="TextBox 35"/>
          <p:cNvSpPr txBox="1"/>
          <p:nvPr/>
        </p:nvSpPr>
        <p:spPr>
          <a:xfrm>
            <a:off x="3429000" y="5760720"/>
            <a:ext cx="2560320" cy="237744"/>
          </a:xfrm>
          <a:prstGeom prst="rect">
            <a:avLst/>
          </a:prstGeom>
          <a:noFill/>
        </p:spPr>
        <p:txBody>
          <a:bodyPr wrap="square">
            <a:spAutoFit/>
          </a:bodyPr>
          <a:lstStyle/>
          <a:p>
            <a:pPr algn="l"/>
            <a:r>
              <a:rPr sz="1050" b="1" i="0">
                <a:solidFill>
                  <a:srgbClr val="5B52E8"/>
                </a:solidFill>
              </a:rPr>
              <a:t>Workers</a:t>
            </a:r>
          </a:p>
        </p:txBody>
      </p:sp>
      <p:sp>
        <p:nvSpPr>
          <p:cNvPr id="37" name="TextBox 36"/>
          <p:cNvSpPr txBox="1"/>
          <p:nvPr/>
        </p:nvSpPr>
        <p:spPr>
          <a:xfrm>
            <a:off x="3429000" y="5998464"/>
            <a:ext cx="2560320" cy="237744"/>
          </a:xfrm>
          <a:prstGeom prst="rect">
            <a:avLst/>
          </a:prstGeom>
          <a:noFill/>
        </p:spPr>
        <p:txBody>
          <a:bodyPr wrap="square">
            <a:spAutoFit/>
          </a:bodyPr>
          <a:lstStyle/>
          <a:p>
            <a:pPr algn="l"/>
            <a:r>
              <a:rPr sz="950" b="0" i="0">
                <a:solidFill>
                  <a:srgbClr val="6B7396"/>
                </a:solidFill>
              </a:rPr>
              <a:t>concurrent AI threads</a:t>
            </a:r>
          </a:p>
        </p:txBody>
      </p:sp>
      <p:sp>
        <p:nvSpPr>
          <p:cNvPr id="38" name="TextBox 37"/>
          <p:cNvSpPr txBox="1"/>
          <p:nvPr/>
        </p:nvSpPr>
        <p:spPr>
          <a:xfrm>
            <a:off x="6172200" y="5760720"/>
            <a:ext cx="2560320" cy="237744"/>
          </a:xfrm>
          <a:prstGeom prst="rect">
            <a:avLst/>
          </a:prstGeom>
          <a:noFill/>
        </p:spPr>
        <p:txBody>
          <a:bodyPr wrap="square">
            <a:spAutoFit/>
          </a:bodyPr>
          <a:lstStyle/>
          <a:p>
            <a:pPr algn="l"/>
            <a:r>
              <a:rPr sz="1050" b="1" i="0">
                <a:solidFill>
                  <a:srgbClr val="5B52E8"/>
                </a:solidFill>
              </a:rPr>
              <a:t>Rate limit</a:t>
            </a:r>
          </a:p>
        </p:txBody>
      </p:sp>
      <p:sp>
        <p:nvSpPr>
          <p:cNvPr id="39" name="TextBox 38"/>
          <p:cNvSpPr txBox="1"/>
          <p:nvPr/>
        </p:nvSpPr>
        <p:spPr>
          <a:xfrm>
            <a:off x="6172200" y="5998464"/>
            <a:ext cx="2560320" cy="237744"/>
          </a:xfrm>
          <a:prstGeom prst="rect">
            <a:avLst/>
          </a:prstGeom>
          <a:noFill/>
        </p:spPr>
        <p:txBody>
          <a:bodyPr wrap="square">
            <a:spAutoFit/>
          </a:bodyPr>
          <a:lstStyle/>
          <a:p>
            <a:pPr algn="l"/>
            <a:r>
              <a:rPr sz="950" b="0" i="0">
                <a:solidFill>
                  <a:srgbClr val="6B7396"/>
                </a:solidFill>
              </a:rPr>
              <a:t>calls per minute</a:t>
            </a:r>
          </a:p>
        </p:txBody>
      </p:sp>
      <p:sp>
        <p:nvSpPr>
          <p:cNvPr id="40" name="TextBox 39"/>
          <p:cNvSpPr txBox="1"/>
          <p:nvPr/>
        </p:nvSpPr>
        <p:spPr>
          <a:xfrm>
            <a:off x="8915400" y="5760720"/>
            <a:ext cx="2560320" cy="237744"/>
          </a:xfrm>
          <a:prstGeom prst="rect">
            <a:avLst/>
          </a:prstGeom>
          <a:noFill/>
        </p:spPr>
        <p:txBody>
          <a:bodyPr wrap="square">
            <a:spAutoFit/>
          </a:bodyPr>
          <a:lstStyle/>
          <a:p>
            <a:pPr algn="l"/>
            <a:r>
              <a:rPr sz="1050" b="1" i="0">
                <a:solidFill>
                  <a:srgbClr val="5B52E8"/>
                </a:solidFill>
              </a:rPr>
              <a:t>Gateway</a:t>
            </a:r>
          </a:p>
        </p:txBody>
      </p:sp>
      <p:sp>
        <p:nvSpPr>
          <p:cNvPr id="41" name="TextBox 40"/>
          <p:cNvSpPr txBox="1"/>
          <p:nvPr/>
        </p:nvSpPr>
        <p:spPr>
          <a:xfrm>
            <a:off x="8915400" y="5998464"/>
            <a:ext cx="2560320" cy="237744"/>
          </a:xfrm>
          <a:prstGeom prst="rect">
            <a:avLst/>
          </a:prstGeom>
          <a:noFill/>
        </p:spPr>
        <p:txBody>
          <a:bodyPr wrap="square">
            <a:spAutoFit/>
          </a:bodyPr>
          <a:lstStyle/>
          <a:p>
            <a:pPr algn="l"/>
            <a:r>
              <a:rPr sz="950" b="0" i="0">
                <a:solidFill>
                  <a:srgbClr val="6B7396"/>
                </a:solidFill>
              </a:rPr>
              <a:t>Anthropic · Bedrock · PortKey · Apigee</a:t>
            </a:r>
          </a:p>
        </p:txBody>
      </p:sp>
      <p:sp>
        <p:nvSpPr>
          <p:cNvPr id="42" name="Rectangle 4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819900"/>
            <a:ext cx="12188952"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5" name="TextBox 4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